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gJgRTsMk8LICrlHTfQDFxcASIU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1</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2</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3</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4</a:t>
            </a:r>
            <a:endParaRPr/>
          </a:p>
        </p:txBody>
      </p:sp>
      <p:sp>
        <p:nvSpPr>
          <p:cNvPr id="74" name="Google Shape;7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5</a:t>
            </a:r>
            <a:endParaRPr/>
          </a:p>
        </p:txBody>
      </p:sp>
      <p:sp>
        <p:nvSpPr>
          <p:cNvPr id="103" name="Google Shape;10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6</a:t>
            </a:r>
            <a:endParaRPr/>
          </a:p>
        </p:txBody>
      </p:sp>
      <p:sp>
        <p:nvSpPr>
          <p:cNvPr id="124" name="Google Shape;12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7</a:t>
            </a:r>
            <a:endParaRPr/>
          </a:p>
        </p:txBody>
      </p:sp>
      <p:sp>
        <p:nvSpPr>
          <p:cNvPr id="146" name="Google Shape;1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8</a:t>
            </a:r>
            <a:endParaRPr/>
          </a:p>
        </p:txBody>
      </p:sp>
      <p:sp>
        <p:nvSpPr>
          <p:cNvPr id="161" name="Google Shape;16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9</a:t>
            </a:r>
            <a:endParaRPr/>
          </a:p>
        </p:txBody>
      </p:sp>
      <p:sp>
        <p:nvSpPr>
          <p:cNvPr id="186" name="Google Shape;18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10</a:t>
            </a:r>
            <a:endParaRPr/>
          </a:p>
        </p:txBody>
      </p:sp>
      <p:sp>
        <p:nvSpPr>
          <p:cNvPr id="206" name="Google Shape;20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11</a:t>
            </a:r>
            <a:endParaRPr/>
          </a:p>
        </p:txBody>
      </p:sp>
      <p:sp>
        <p:nvSpPr>
          <p:cNvPr id="225" name="Google Shape;22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12</a:t>
            </a:r>
            <a:endParaRPr/>
          </a:p>
        </p:txBody>
      </p:sp>
      <p:sp>
        <p:nvSpPr>
          <p:cNvPr id="254" name="Google Shape;25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13</a:t>
            </a:r>
            <a:endParaRPr/>
          </a:p>
        </p:txBody>
      </p:sp>
      <p:sp>
        <p:nvSpPr>
          <p:cNvPr id="276" name="Google Shape;27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14</a:t>
            </a:r>
            <a:endParaRPr/>
          </a:p>
        </p:txBody>
      </p:sp>
      <p:sp>
        <p:nvSpPr>
          <p:cNvPr id="291" name="Google Shape;29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15</a:t>
            </a:r>
            <a:endParaRPr/>
          </a:p>
        </p:txBody>
      </p:sp>
      <p:sp>
        <p:nvSpPr>
          <p:cNvPr id="316" name="Google Shape;31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16</a:t>
            </a:r>
            <a:endParaRPr/>
          </a:p>
        </p:txBody>
      </p:sp>
      <p:sp>
        <p:nvSpPr>
          <p:cNvPr id="337" name="Google Shape;33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17</a:t>
            </a:r>
            <a:endParaRPr/>
          </a:p>
        </p:txBody>
      </p:sp>
      <p:sp>
        <p:nvSpPr>
          <p:cNvPr id="357" name="Google Shape;35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18</a:t>
            </a:r>
            <a:endParaRPr/>
          </a:p>
        </p:txBody>
      </p:sp>
      <p:sp>
        <p:nvSpPr>
          <p:cNvPr id="377" name="Google Shape;37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19</a:t>
            </a:r>
            <a:endParaRPr/>
          </a:p>
        </p:txBody>
      </p:sp>
      <p:sp>
        <p:nvSpPr>
          <p:cNvPr id="398" name="Google Shape;39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20</a:t>
            </a:r>
            <a:endParaRPr/>
          </a:p>
        </p:txBody>
      </p:sp>
      <p:sp>
        <p:nvSpPr>
          <p:cNvPr id="424" name="Google Shape;42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21</a:t>
            </a:r>
            <a:endParaRPr/>
          </a:p>
        </p:txBody>
      </p:sp>
      <p:sp>
        <p:nvSpPr>
          <p:cNvPr id="439" name="Google Shape;43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22</a:t>
            </a:r>
            <a:endParaRPr/>
          </a:p>
        </p:txBody>
      </p:sp>
      <p:sp>
        <p:nvSpPr>
          <p:cNvPr id="464" name="Google Shape;46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23</a:t>
            </a:r>
            <a:endParaRPr/>
          </a:p>
        </p:txBody>
      </p:sp>
      <p:sp>
        <p:nvSpPr>
          <p:cNvPr id="498" name="Google Shape;49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24</a:t>
            </a:r>
            <a:endParaRPr/>
          </a:p>
        </p:txBody>
      </p:sp>
      <p:sp>
        <p:nvSpPr>
          <p:cNvPr id="519" name="Google Shape;51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25</a:t>
            </a:r>
            <a:endParaRPr/>
          </a:p>
        </p:txBody>
      </p:sp>
      <p:sp>
        <p:nvSpPr>
          <p:cNvPr id="538" name="Google Shape;53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26</a:t>
            </a:r>
            <a:endParaRPr/>
          </a:p>
        </p:txBody>
      </p:sp>
      <p:sp>
        <p:nvSpPr>
          <p:cNvPr id="560" name="Google Shape;56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27</a:t>
            </a:r>
            <a:endParaRPr/>
          </a:p>
        </p:txBody>
      </p:sp>
      <p:sp>
        <p:nvSpPr>
          <p:cNvPr id="575" name="Google Shape;57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28</a:t>
            </a:r>
            <a:endParaRPr/>
          </a:p>
        </p:txBody>
      </p:sp>
      <p:sp>
        <p:nvSpPr>
          <p:cNvPr id="600" name="Google Shape;60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29</a:t>
            </a:r>
            <a:endParaRPr/>
          </a:p>
        </p:txBody>
      </p:sp>
      <p:sp>
        <p:nvSpPr>
          <p:cNvPr id="620" name="Google Shape;62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30</a:t>
            </a:r>
            <a:endParaRPr/>
          </a:p>
        </p:txBody>
      </p:sp>
      <p:sp>
        <p:nvSpPr>
          <p:cNvPr id="636" name="Google Shape;63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31</a:t>
            </a:r>
            <a:endParaRPr/>
          </a:p>
        </p:txBody>
      </p:sp>
      <p:sp>
        <p:nvSpPr>
          <p:cNvPr id="655" name="Google Shape;655;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32</a:t>
            </a:r>
            <a:endParaRPr/>
          </a:p>
        </p:txBody>
      </p:sp>
      <p:sp>
        <p:nvSpPr>
          <p:cNvPr id="677" name="Google Shape;67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33</a:t>
            </a:r>
            <a:endParaRPr/>
          </a:p>
        </p:txBody>
      </p:sp>
      <p:sp>
        <p:nvSpPr>
          <p:cNvPr id="692" name="Google Shape;69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34</a:t>
            </a:r>
            <a:endParaRPr/>
          </a:p>
        </p:txBody>
      </p:sp>
      <p:sp>
        <p:nvSpPr>
          <p:cNvPr id="717" name="Google Shape;71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35</a:t>
            </a:r>
            <a:endParaRPr/>
          </a:p>
        </p:txBody>
      </p:sp>
      <p:sp>
        <p:nvSpPr>
          <p:cNvPr id="738" name="Google Shape;738;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36</a:t>
            </a:r>
            <a:endParaRPr/>
          </a:p>
        </p:txBody>
      </p:sp>
      <p:sp>
        <p:nvSpPr>
          <p:cNvPr id="757" name="Google Shape;757;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スライド 37</a:t>
            </a:r>
            <a:endParaRPr/>
          </a:p>
        </p:txBody>
      </p:sp>
      <p:sp>
        <p:nvSpPr>
          <p:cNvPr id="786" name="Google Shape;78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2907792"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274320" y="475488"/>
            <a:ext cx="235915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500"/>
              <a:buFont typeface="Meiryo"/>
              <a:buNone/>
            </a:pPr>
            <a:r>
              <a:rPr b="1" i="0" lang="en-US" sz="1500" u="none" cap="none" strike="noStrike">
                <a:solidFill>
                  <a:srgbClr val="A0B8D8"/>
                </a:solidFill>
                <a:latin typeface="Meiryo"/>
                <a:ea typeface="Meiryo"/>
                <a:cs typeface="Meiryo"/>
                <a:sym typeface="Meiryo"/>
              </a:rPr>
              <a:t>第3章</a:t>
            </a:r>
            <a:endParaRPr b="0" i="0" sz="1500" u="none" cap="none" strike="noStrike">
              <a:solidFill>
                <a:schemeClr val="dk1"/>
              </a:solidFill>
              <a:latin typeface="Calibri"/>
              <a:ea typeface="Calibri"/>
              <a:cs typeface="Calibri"/>
              <a:sym typeface="Calibri"/>
            </a:endParaRPr>
          </a:p>
        </p:txBody>
      </p:sp>
      <p:sp>
        <p:nvSpPr>
          <p:cNvPr id="18" name="Google Shape;18;p1"/>
          <p:cNvSpPr/>
          <p:nvPr/>
        </p:nvSpPr>
        <p:spPr>
          <a:xfrm>
            <a:off x="274320" y="868680"/>
            <a:ext cx="2359152"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5000"/>
              <a:buFont typeface="Meiryo"/>
              <a:buNone/>
            </a:pPr>
            <a:r>
              <a:rPr b="1" i="0" lang="en-US" sz="5000" u="none" cap="none" strike="noStrike">
                <a:solidFill>
                  <a:srgbClr val="FFFFFF"/>
                </a:solidFill>
                <a:latin typeface="Meiryo"/>
                <a:ea typeface="Meiryo"/>
                <a:cs typeface="Meiryo"/>
                <a:sym typeface="Meiryo"/>
              </a:rPr>
              <a:t>動画①</a:t>
            </a:r>
            <a:endParaRPr b="0" i="0" sz="5000" u="none" cap="none" strike="noStrike">
              <a:solidFill>
                <a:schemeClr val="dk1"/>
              </a:solidFill>
              <a:latin typeface="Calibri"/>
              <a:ea typeface="Calibri"/>
              <a:cs typeface="Calibri"/>
              <a:sym typeface="Calibri"/>
            </a:endParaRPr>
          </a:p>
        </p:txBody>
      </p:sp>
      <p:sp>
        <p:nvSpPr>
          <p:cNvPr id="19" name="Google Shape;19;p1"/>
          <p:cNvSpPr/>
          <p:nvPr/>
        </p:nvSpPr>
        <p:spPr>
          <a:xfrm>
            <a:off x="274320" y="2011680"/>
            <a:ext cx="2359152"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300"/>
              <a:buFont typeface="Meiryo"/>
              <a:buNone/>
            </a:pPr>
            <a:r>
              <a:rPr b="0" i="0" lang="en-US" sz="1300" u="none" cap="none" strike="noStrike">
                <a:solidFill>
                  <a:srgbClr val="A0B8D8"/>
                </a:solidFill>
                <a:latin typeface="Meiryo"/>
                <a:ea typeface="Meiryo"/>
                <a:cs typeface="Meiryo"/>
                <a:sym typeface="Meiryo"/>
              </a:rPr>
              <a:t>進行フロー・ビジネス連絡</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274320" y="2816352"/>
            <a:ext cx="1389888" cy="4023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274320" y="2816352"/>
            <a:ext cx="138988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eiryo"/>
              <a:buNone/>
            </a:pPr>
            <a:r>
              <a:rPr b="1" i="0" lang="en-US" sz="1300" u="none" cap="none" strike="noStrike">
                <a:solidFill>
                  <a:srgbClr val="FFFFFF"/>
                </a:solidFill>
                <a:latin typeface="Meiryo"/>
                <a:ea typeface="Meiryo"/>
                <a:cs typeface="Meiryo"/>
                <a:sym typeface="Meiryo"/>
              </a:rPr>
              <a:t>▶  約5分</a:t>
            </a:r>
            <a:endParaRPr b="0" i="0" sz="1300" u="none" cap="none" strike="noStrike">
              <a:solidFill>
                <a:schemeClr val="dk1"/>
              </a:solidFill>
              <a:latin typeface="Calibri"/>
              <a:ea typeface="Calibri"/>
              <a:cs typeface="Calibri"/>
              <a:sym typeface="Calibri"/>
            </a:endParaRPr>
          </a:p>
        </p:txBody>
      </p:sp>
      <p:sp>
        <p:nvSpPr>
          <p:cNvPr id="22" name="Google Shape;22;p1"/>
          <p:cNvSpPr/>
          <p:nvPr/>
        </p:nvSpPr>
        <p:spPr>
          <a:xfrm>
            <a:off x="3127248" y="219456"/>
            <a:ext cx="574243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800"/>
              <a:buFont typeface="Meiryo"/>
              <a:buNone/>
            </a:pPr>
            <a:r>
              <a:rPr b="0" i="0" lang="en-US" sz="800" u="none" cap="none" strike="noStrike">
                <a:solidFill>
                  <a:srgbClr val="1E3068"/>
                </a:solidFill>
                <a:latin typeface="Meiryo"/>
                <a:ea typeface="Meiryo"/>
                <a:cs typeface="Meiryo"/>
                <a:sym typeface="Meiryo"/>
              </a:rPr>
              <a:t>CREATOR NETWORK TRAINING</a:t>
            </a:r>
            <a:endParaRPr b="0" i="0" sz="800" u="none" cap="none" strike="noStrike">
              <a:solidFill>
                <a:schemeClr val="dk1"/>
              </a:solidFill>
              <a:latin typeface="Calibri"/>
              <a:ea typeface="Calibri"/>
              <a:cs typeface="Calibri"/>
              <a:sym typeface="Calibri"/>
            </a:endParaRPr>
          </a:p>
        </p:txBody>
      </p:sp>
      <p:sp>
        <p:nvSpPr>
          <p:cNvPr id="23" name="Google Shape;23;p1"/>
          <p:cNvSpPr/>
          <p:nvPr/>
        </p:nvSpPr>
        <p:spPr>
          <a:xfrm>
            <a:off x="3127248" y="621792"/>
            <a:ext cx="5577840" cy="260604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Clr>
                <a:srgbClr val="1E3068"/>
              </a:buClr>
              <a:buSzPts val="3800"/>
              <a:buFont typeface="Meiryo"/>
              <a:buNone/>
            </a:pPr>
            <a:r>
              <a:rPr b="1" i="0" lang="en-US" sz="3800" u="none" cap="none" strike="noStrike">
                <a:solidFill>
                  <a:srgbClr val="1E3068"/>
                </a:solidFill>
                <a:latin typeface="Meiryo"/>
                <a:ea typeface="Meiryo"/>
                <a:cs typeface="Meiryo"/>
                <a:sym typeface="Meiryo"/>
              </a:rPr>
              <a:t>事務手続きの</a:t>
            </a:r>
            <a:endParaRPr b="0" i="0" sz="38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1E3068"/>
              </a:buClr>
              <a:buSzPts val="3800"/>
              <a:buFont typeface="Meiryo"/>
              <a:buNone/>
            </a:pPr>
            <a:r>
              <a:rPr b="1" i="0" lang="en-US" sz="3800" u="none" cap="none" strike="noStrike">
                <a:solidFill>
                  <a:srgbClr val="1E3068"/>
                </a:solidFill>
                <a:latin typeface="Meiryo"/>
                <a:ea typeface="Meiryo"/>
                <a:cs typeface="Meiryo"/>
                <a:sym typeface="Meiryo"/>
              </a:rPr>
              <a:t>キホン</a:t>
            </a:r>
            <a:endParaRPr b="0" i="0" sz="3800" u="none" cap="none" strike="noStrike">
              <a:solidFill>
                <a:schemeClr val="dk1"/>
              </a:solidFill>
              <a:latin typeface="Calibri"/>
              <a:ea typeface="Calibri"/>
              <a:cs typeface="Calibri"/>
              <a:sym typeface="Calibri"/>
            </a:endParaRPr>
          </a:p>
        </p:txBody>
      </p:sp>
      <p:sp>
        <p:nvSpPr>
          <p:cNvPr id="24" name="Google Shape;24;p1"/>
          <p:cNvSpPr/>
          <p:nvPr/>
        </p:nvSpPr>
        <p:spPr>
          <a:xfrm>
            <a:off x="3127248" y="3364992"/>
            <a:ext cx="1920240"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3127248" y="3529584"/>
            <a:ext cx="5577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400"/>
              <a:buFont typeface="Meiryo"/>
              <a:buNone/>
            </a:pPr>
            <a:r>
              <a:rPr b="0" i="0" lang="en-US" sz="1400" u="none" cap="none" strike="noStrike">
                <a:solidFill>
                  <a:srgbClr val="6B7280"/>
                </a:solidFill>
                <a:latin typeface="Meiryo"/>
                <a:ea typeface="Meiryo"/>
                <a:cs typeface="Meiryo"/>
                <a:sym typeface="Meiryo"/>
              </a:rPr>
              <a:t>クリエイターネットワーク研修</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30" name="Shape 30"/>
        <p:cNvGrpSpPr/>
        <p:nvPr/>
      </p:nvGrpSpPr>
      <p:grpSpPr>
        <a:xfrm>
          <a:off x="0" y="0"/>
          <a:ext cx="0" cy="0"/>
          <a:chOff x="0" y="0"/>
          <a:chExt cx="0" cy="0"/>
        </a:xfrm>
      </p:grpSpPr>
      <p:sp>
        <p:nvSpPr>
          <p:cNvPr id="31" name="Google Shape;31;p2"/>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この動画で学ぶこと</a:t>
            </a:r>
            <a:endParaRPr b="0" i="0" sz="2100" u="none" cap="none" strike="noStrike">
              <a:solidFill>
                <a:schemeClr val="dk1"/>
              </a:solidFill>
              <a:latin typeface="Calibri"/>
              <a:ea typeface="Calibri"/>
              <a:cs typeface="Calibri"/>
              <a:sym typeface="Calibri"/>
            </a:endParaRPr>
          </a:p>
        </p:txBody>
      </p:sp>
      <p:sp>
        <p:nvSpPr>
          <p:cNvPr id="33" name="Google Shape;33;p2"/>
          <p:cNvSpPr/>
          <p:nvPr/>
        </p:nvSpPr>
        <p:spPr>
          <a:xfrm>
            <a:off x="310896"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310896"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2140055" y="884713"/>
            <a:ext cx="859200" cy="480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t/>
            </a:r>
            <a:endParaRPr b="1" sz="2400">
              <a:solidFill>
                <a:srgbClr val="D1D5DB"/>
              </a:solidFill>
              <a:latin typeface="Meiryo"/>
              <a:ea typeface="Meiryo"/>
              <a:cs typeface="Meiryo"/>
              <a:sym typeface="Meiryo"/>
            </a:endParaRPr>
          </a:p>
          <a:p>
            <a:pPr indent="0" lvl="0" marL="0" marR="0" rtl="0" algn="r">
              <a:spcBef>
                <a:spcPts val="0"/>
              </a:spcBef>
              <a:spcAft>
                <a:spcPts val="0"/>
              </a:spcAft>
              <a:buClr>
                <a:srgbClr val="D1D5DB"/>
              </a:buClr>
              <a:buSzPts val="2400"/>
              <a:buFont typeface="Meiryo"/>
              <a:buNone/>
            </a:pPr>
            <a:r>
              <a:rPr b="1" lang="en-US" sz="2400">
                <a:solidFill>
                  <a:srgbClr val="D1D5DB"/>
                </a:solidFill>
                <a:latin typeface="Meiryo"/>
                <a:ea typeface="Meiryo"/>
                <a:cs typeface="Meiryo"/>
                <a:sym typeface="Meiryo"/>
              </a:rPr>
              <a:t>0</a:t>
            </a:r>
            <a:r>
              <a:rPr b="1" i="0" lang="en-US" sz="2400" u="none" cap="none" strike="noStrike">
                <a:solidFill>
                  <a:srgbClr val="D1D5DB"/>
                </a:solidFill>
                <a:latin typeface="Meiryo"/>
                <a:ea typeface="Meiryo"/>
                <a:cs typeface="Meiryo"/>
                <a:sym typeface="Meiryo"/>
              </a:rPr>
              <a:t>1</a:t>
            </a:r>
            <a:endParaRPr b="0" i="0" sz="2400" u="none" cap="none" strike="noStrike">
              <a:solidFill>
                <a:schemeClr val="dk1"/>
              </a:solidFill>
              <a:latin typeface="Calibri"/>
              <a:ea typeface="Calibri"/>
              <a:cs typeface="Calibri"/>
              <a:sym typeface="Calibri"/>
            </a:endParaRPr>
          </a:p>
        </p:txBody>
      </p:sp>
      <p:sp>
        <p:nvSpPr>
          <p:cNvPr id="36" name="Google Shape;36;p2"/>
          <p:cNvSpPr/>
          <p:nvPr/>
        </p:nvSpPr>
        <p:spPr>
          <a:xfrm>
            <a:off x="566928"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37" name="Google Shape;37;p2"/>
          <p:cNvSpPr/>
          <p:nvPr/>
        </p:nvSpPr>
        <p:spPr>
          <a:xfrm>
            <a:off x="512064"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発注書・納品書</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請求書の役割</a:t>
            </a:r>
            <a:endParaRPr b="0" i="0" sz="1550" u="none" cap="none" strike="noStrike">
              <a:solidFill>
                <a:schemeClr val="dk1"/>
              </a:solidFill>
              <a:latin typeface="Calibri"/>
              <a:ea typeface="Calibri"/>
              <a:cs typeface="Calibri"/>
              <a:sym typeface="Calibri"/>
            </a:endParaRPr>
          </a:p>
        </p:txBody>
      </p:sp>
      <p:sp>
        <p:nvSpPr>
          <p:cNvPr id="38" name="Google Shape;38;p2"/>
          <p:cNvSpPr/>
          <p:nvPr/>
        </p:nvSpPr>
        <p:spPr>
          <a:xfrm>
            <a:off x="512064"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3種類の書類が</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それぞれ</a:t>
            </a:r>
            <a:endParaRPr b="0" i="0" sz="1300" u="none" cap="none" strike="noStrike">
              <a:solidFill>
                <a:srgbClr val="6B7280"/>
              </a:solidFill>
              <a:latin typeface="Meiryo"/>
              <a:ea typeface="Meiryo"/>
              <a:cs typeface="Meiryo"/>
              <a:sym typeface="Meiryo"/>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何のためにあるか</a:t>
            </a:r>
            <a:endParaRPr b="0" i="0" sz="1300" u="none" cap="none" strike="noStrike">
              <a:solidFill>
                <a:schemeClr val="dk1"/>
              </a:solidFill>
              <a:latin typeface="Calibri"/>
              <a:ea typeface="Calibri"/>
              <a:cs typeface="Calibri"/>
              <a:sym typeface="Calibri"/>
            </a:endParaRPr>
          </a:p>
        </p:txBody>
      </p:sp>
      <p:sp>
        <p:nvSpPr>
          <p:cNvPr id="39" name="Google Shape;39;p2"/>
          <p:cNvSpPr/>
          <p:nvPr/>
        </p:nvSpPr>
        <p:spPr>
          <a:xfrm>
            <a:off x="3081528"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3081528"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5074926" y="1101862"/>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02</a:t>
            </a:r>
            <a:endParaRPr b="0" i="0" sz="2400" u="none" cap="none" strike="noStrike">
              <a:solidFill>
                <a:schemeClr val="dk1"/>
              </a:solidFill>
              <a:latin typeface="Calibri"/>
              <a:ea typeface="Calibri"/>
              <a:cs typeface="Calibri"/>
              <a:sym typeface="Calibri"/>
            </a:endParaRPr>
          </a:p>
        </p:txBody>
      </p:sp>
      <p:sp>
        <p:nvSpPr>
          <p:cNvPr id="42" name="Google Shape;42;p2"/>
          <p:cNvSpPr/>
          <p:nvPr/>
        </p:nvSpPr>
        <p:spPr>
          <a:xfrm>
            <a:off x="3337560"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43" name="Google Shape;43;p2"/>
          <p:cNvSpPr/>
          <p:nvPr/>
        </p:nvSpPr>
        <p:spPr>
          <a:xfrm>
            <a:off x="3282696"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実施確定連絡で</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確認すべきこと</a:t>
            </a:r>
            <a:endParaRPr b="0" i="0" sz="1550" u="none" cap="none" strike="noStrike">
              <a:solidFill>
                <a:schemeClr val="dk1"/>
              </a:solidFill>
              <a:latin typeface="Calibri"/>
              <a:ea typeface="Calibri"/>
              <a:cs typeface="Calibri"/>
              <a:sym typeface="Calibri"/>
            </a:endParaRPr>
          </a:p>
        </p:txBody>
      </p:sp>
      <p:sp>
        <p:nvSpPr>
          <p:cNvPr id="44" name="Google Shape;44;p2"/>
          <p:cNvSpPr/>
          <p:nvPr/>
        </p:nvSpPr>
        <p:spPr>
          <a:xfrm>
            <a:off x="3282696"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届いたらまず</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何を見るべきか</a:t>
            </a:r>
            <a:endParaRPr b="0" i="0" sz="1300" u="none" cap="none" strike="noStrike">
              <a:solidFill>
                <a:schemeClr val="dk1"/>
              </a:solidFill>
              <a:latin typeface="Calibri"/>
              <a:ea typeface="Calibri"/>
              <a:cs typeface="Calibri"/>
              <a:sym typeface="Calibri"/>
            </a:endParaRPr>
          </a:p>
        </p:txBody>
      </p:sp>
      <p:sp>
        <p:nvSpPr>
          <p:cNvPr id="45" name="Google Shape;45;p2"/>
          <p:cNvSpPr/>
          <p:nvPr/>
        </p:nvSpPr>
        <p:spPr>
          <a:xfrm>
            <a:off x="5852160"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852160"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7845550" y="1101862"/>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03</a:t>
            </a:r>
            <a:endParaRPr b="0" i="0" sz="2400" u="none" cap="none" strike="noStrike">
              <a:solidFill>
                <a:schemeClr val="dk1"/>
              </a:solidFill>
              <a:latin typeface="Calibri"/>
              <a:ea typeface="Calibri"/>
              <a:cs typeface="Calibri"/>
              <a:sym typeface="Calibri"/>
            </a:endParaRPr>
          </a:p>
        </p:txBody>
      </p:sp>
      <p:sp>
        <p:nvSpPr>
          <p:cNvPr id="48" name="Google Shape;48;p2"/>
          <p:cNvSpPr/>
          <p:nvPr/>
        </p:nvSpPr>
        <p:spPr>
          <a:xfrm>
            <a:off x="6108192"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49" name="Google Shape;49;p2"/>
          <p:cNvSpPr/>
          <p:nvPr/>
        </p:nvSpPr>
        <p:spPr>
          <a:xfrm>
            <a:off x="6053328"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書類が遅れると</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何が起きるか</a:t>
            </a:r>
            <a:endParaRPr b="0" i="0" sz="1550" u="none" cap="none" strike="noStrike">
              <a:solidFill>
                <a:schemeClr val="dk1"/>
              </a:solidFill>
              <a:latin typeface="Calibri"/>
              <a:ea typeface="Calibri"/>
              <a:cs typeface="Calibri"/>
              <a:sym typeface="Calibri"/>
            </a:endParaRPr>
          </a:p>
        </p:txBody>
      </p:sp>
      <p:sp>
        <p:nvSpPr>
          <p:cNvPr id="50" name="Google Shape;50;p2"/>
          <p:cNvSpPr/>
          <p:nvPr/>
        </p:nvSpPr>
        <p:spPr>
          <a:xfrm>
            <a:off x="6053328"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報酬や信頼への</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影響を理解する</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55" name="Shape 55"/>
        <p:cNvGrpSpPr/>
        <p:nvPr/>
      </p:nvGrpSpPr>
      <p:grpSpPr>
        <a:xfrm>
          <a:off x="0" y="0"/>
          <a:ext cx="0" cy="0"/>
          <a:chOff x="0" y="0"/>
          <a:chExt cx="0" cy="0"/>
        </a:xfrm>
      </p:grpSpPr>
      <p:sp>
        <p:nvSpPr>
          <p:cNvPr id="56" name="Google Shape;56;p3"/>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3種類の書類、何のためにある？</a:t>
            </a:r>
            <a:endParaRPr b="0" i="0" sz="2100" u="none" cap="none" strike="noStrike">
              <a:solidFill>
                <a:schemeClr val="dk1"/>
              </a:solidFill>
              <a:latin typeface="Calibri"/>
              <a:ea typeface="Calibri"/>
              <a:cs typeface="Calibri"/>
              <a:sym typeface="Calibri"/>
            </a:endParaRPr>
          </a:p>
        </p:txBody>
      </p:sp>
      <p:sp>
        <p:nvSpPr>
          <p:cNvPr id="58" name="Google Shape;58;p3"/>
          <p:cNvSpPr/>
          <p:nvPr/>
        </p:nvSpPr>
        <p:spPr>
          <a:xfrm>
            <a:off x="310896" y="804672"/>
            <a:ext cx="8522208" cy="74980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310896" y="804672"/>
            <a:ext cx="59436" cy="749808"/>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493776" y="804672"/>
            <a:ext cx="82296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450"/>
              <a:buFont typeface="Meiryo"/>
              <a:buNone/>
            </a:pPr>
            <a:r>
              <a:rPr b="1" i="0" lang="en-US" sz="1450" u="none" cap="none" strike="noStrike">
                <a:solidFill>
                  <a:srgbClr val="B45309"/>
                </a:solidFill>
                <a:latin typeface="Meiryo"/>
                <a:ea typeface="Meiryo"/>
                <a:cs typeface="Meiryo"/>
                <a:sym typeface="Meiryo"/>
              </a:rPr>
              <a:t>📌  発注書・納品書・請求書の3点セットで、あなたの報酬が守られる</a:t>
            </a:r>
            <a:endParaRPr b="0" i="0" sz="1450" u="none" cap="none" strike="noStrike">
              <a:solidFill>
                <a:schemeClr val="dk1"/>
              </a:solidFill>
              <a:latin typeface="Calibri"/>
              <a:ea typeface="Calibri"/>
              <a:cs typeface="Calibri"/>
              <a:sym typeface="Calibri"/>
            </a:endParaRPr>
          </a:p>
        </p:txBody>
      </p:sp>
      <p:sp>
        <p:nvSpPr>
          <p:cNvPr id="61" name="Google Shape;61;p3"/>
          <p:cNvSpPr/>
          <p:nvPr/>
        </p:nvSpPr>
        <p:spPr>
          <a:xfrm>
            <a:off x="310896" y="166420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310896" y="166420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93776" y="166420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発注書：「この内容・この金額で仕事をお願いします」という正式な依頼書類</a:t>
            </a:r>
            <a:endParaRPr b="0" i="0" sz="1450" u="none" cap="none" strike="noStrike">
              <a:solidFill>
                <a:schemeClr val="dk1"/>
              </a:solidFill>
              <a:latin typeface="Calibri"/>
              <a:ea typeface="Calibri"/>
              <a:cs typeface="Calibri"/>
              <a:sym typeface="Calibri"/>
            </a:endParaRPr>
          </a:p>
        </p:txBody>
      </p:sp>
      <p:sp>
        <p:nvSpPr>
          <p:cNvPr id="64" name="Google Shape;64;p3"/>
          <p:cNvSpPr/>
          <p:nvPr/>
        </p:nvSpPr>
        <p:spPr>
          <a:xfrm>
            <a:off x="310896" y="239572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310896" y="239572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493776" y="239572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納品書：「仕事を完成させてお渡ししました」という証明書類</a:t>
            </a:r>
            <a:endParaRPr b="0" i="0" sz="1450" u="none" cap="none" strike="noStrike">
              <a:solidFill>
                <a:schemeClr val="dk1"/>
              </a:solidFill>
              <a:latin typeface="Calibri"/>
              <a:ea typeface="Calibri"/>
              <a:cs typeface="Calibri"/>
              <a:sym typeface="Calibri"/>
            </a:endParaRPr>
          </a:p>
        </p:txBody>
      </p:sp>
      <p:sp>
        <p:nvSpPr>
          <p:cNvPr id="67" name="Google Shape;67;p3"/>
          <p:cNvSpPr/>
          <p:nvPr/>
        </p:nvSpPr>
        <p:spPr>
          <a:xfrm>
            <a:off x="310896" y="312724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310896" y="312724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493776" y="312724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請求書：「報酬をお支払いください」という正式な請求書類</a:t>
            </a:r>
            <a:endParaRPr b="0" i="0" sz="1450" u="none" cap="none" strike="noStrike">
              <a:solidFill>
                <a:schemeClr val="dk1"/>
              </a:solidFill>
              <a:latin typeface="Calibri"/>
              <a:ea typeface="Calibri"/>
              <a:cs typeface="Calibri"/>
              <a:sym typeface="Calibri"/>
            </a:endParaRPr>
          </a:p>
        </p:txBody>
      </p:sp>
      <p:sp>
        <p:nvSpPr>
          <p:cNvPr id="70" name="Google Shape;70;p3"/>
          <p:cNvSpPr/>
          <p:nvPr/>
        </p:nvSpPr>
        <p:spPr>
          <a:xfrm>
            <a:off x="310896" y="3931920"/>
            <a:ext cx="8522208"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200"/>
              <a:buFont typeface="Meiryo"/>
              <a:buNone/>
            </a:pPr>
            <a:r>
              <a:rPr b="0" i="1" lang="en-US" sz="1200" u="none" cap="none" strike="noStrike">
                <a:solidFill>
                  <a:srgbClr val="6B7280"/>
                </a:solidFill>
                <a:latin typeface="Meiryo"/>
                <a:ea typeface="Meiryo"/>
                <a:cs typeface="Meiryo"/>
                <a:sym typeface="Meiryo"/>
              </a:rPr>
              <a:t>★  どれか一つ欠けても、支払いが遅れる原因になります</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75" name="Shape 75"/>
        <p:cNvGrpSpPr/>
        <p:nvPr/>
      </p:nvGrpSpPr>
      <p:grpSpPr>
        <a:xfrm>
          <a:off x="0" y="0"/>
          <a:ext cx="0" cy="0"/>
          <a:chOff x="0" y="0"/>
          <a:chExt cx="0" cy="0"/>
        </a:xfrm>
      </p:grpSpPr>
      <p:sp>
        <p:nvSpPr>
          <p:cNvPr id="76" name="Google Shape;76;p4"/>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実施確定連絡が届いたらまず確認！</a:t>
            </a:r>
            <a:endParaRPr b="0" i="0" sz="2100" u="none" cap="none" strike="noStrike">
              <a:solidFill>
                <a:schemeClr val="dk1"/>
              </a:solidFill>
              <a:latin typeface="Calibri"/>
              <a:ea typeface="Calibri"/>
              <a:cs typeface="Calibri"/>
              <a:sym typeface="Calibri"/>
            </a:endParaRPr>
          </a:p>
        </p:txBody>
      </p:sp>
      <p:sp>
        <p:nvSpPr>
          <p:cNvPr id="78" name="Google Shape;78;p4"/>
          <p:cNvSpPr/>
          <p:nvPr/>
        </p:nvSpPr>
        <p:spPr>
          <a:xfrm>
            <a:off x="310896" y="786384"/>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310896" y="786384"/>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493776" y="886968"/>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493776" y="88696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82" name="Google Shape;82;p4"/>
          <p:cNvSpPr/>
          <p:nvPr/>
        </p:nvSpPr>
        <p:spPr>
          <a:xfrm>
            <a:off x="950976" y="786384"/>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案件内容・PR商品に間違いはないか</a:t>
            </a:r>
            <a:endParaRPr b="0" i="0" sz="1450" u="none" cap="none" strike="noStrike">
              <a:solidFill>
                <a:schemeClr val="dk1"/>
              </a:solidFill>
              <a:latin typeface="Calibri"/>
              <a:ea typeface="Calibri"/>
              <a:cs typeface="Calibri"/>
              <a:sym typeface="Calibri"/>
            </a:endParaRPr>
          </a:p>
        </p:txBody>
      </p:sp>
      <p:sp>
        <p:nvSpPr>
          <p:cNvPr id="83" name="Google Shape;83;p4"/>
          <p:cNvSpPr/>
          <p:nvPr/>
        </p:nvSpPr>
        <p:spPr>
          <a:xfrm>
            <a:off x="310896" y="1417320"/>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310896" y="1417320"/>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493776" y="1517904"/>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493776" y="151790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87" name="Google Shape;87;p4"/>
          <p:cNvSpPr/>
          <p:nvPr/>
        </p:nvSpPr>
        <p:spPr>
          <a:xfrm>
            <a:off x="950976" y="1417320"/>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報酬金額は想定通りか</a:t>
            </a:r>
            <a:endParaRPr b="0" i="0" sz="1450" u="none" cap="none" strike="noStrike">
              <a:solidFill>
                <a:schemeClr val="dk1"/>
              </a:solidFill>
              <a:latin typeface="Calibri"/>
              <a:ea typeface="Calibri"/>
              <a:cs typeface="Calibri"/>
              <a:sym typeface="Calibri"/>
            </a:endParaRPr>
          </a:p>
        </p:txBody>
      </p:sp>
      <p:sp>
        <p:nvSpPr>
          <p:cNvPr id="88" name="Google Shape;88;p4"/>
          <p:cNvSpPr/>
          <p:nvPr/>
        </p:nvSpPr>
        <p:spPr>
          <a:xfrm>
            <a:off x="310896" y="2048256"/>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310896" y="2048256"/>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493776" y="2148840"/>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493776" y="214884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92" name="Google Shape;92;p4"/>
          <p:cNvSpPr/>
          <p:nvPr/>
        </p:nvSpPr>
        <p:spPr>
          <a:xfrm>
            <a:off x="950976" y="2048256"/>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納品物（本数・形式）は正しいか（例：TikTok1本、Instagram Reels1本）</a:t>
            </a:r>
            <a:endParaRPr b="0" i="0" sz="1450" u="none" cap="none" strike="noStrike">
              <a:solidFill>
                <a:schemeClr val="dk1"/>
              </a:solidFill>
              <a:latin typeface="Calibri"/>
              <a:ea typeface="Calibri"/>
              <a:cs typeface="Calibri"/>
              <a:sym typeface="Calibri"/>
            </a:endParaRPr>
          </a:p>
        </p:txBody>
      </p:sp>
      <p:sp>
        <p:nvSpPr>
          <p:cNvPr id="93" name="Google Shape;93;p4"/>
          <p:cNvSpPr/>
          <p:nvPr/>
        </p:nvSpPr>
        <p:spPr>
          <a:xfrm>
            <a:off x="310896" y="2679192"/>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310896" y="2679192"/>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493776" y="2779776"/>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493776" y="2779776"/>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97" name="Google Shape;97;p4"/>
          <p:cNvSpPr/>
          <p:nvPr/>
        </p:nvSpPr>
        <p:spPr>
          <a:xfrm>
            <a:off x="950976" y="2679192"/>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納期・スケジュールに無理はないか</a:t>
            </a:r>
            <a:endParaRPr b="0" i="0" sz="1450" u="none" cap="none" strike="noStrike">
              <a:solidFill>
                <a:schemeClr val="dk1"/>
              </a:solidFill>
              <a:latin typeface="Calibri"/>
              <a:ea typeface="Calibri"/>
              <a:cs typeface="Calibri"/>
              <a:sym typeface="Calibri"/>
            </a:endParaRPr>
          </a:p>
        </p:txBody>
      </p:sp>
      <p:sp>
        <p:nvSpPr>
          <p:cNvPr id="98" name="Google Shape;98;p4"/>
          <p:cNvSpPr/>
          <p:nvPr/>
        </p:nvSpPr>
        <p:spPr>
          <a:xfrm>
            <a:off x="310896" y="3401568"/>
            <a:ext cx="8522208" cy="493776"/>
          </a:xfrm>
          <a:prstGeom prst="rect">
            <a:avLst/>
          </a:prstGeom>
          <a:solidFill>
            <a:srgbClr val="FEF3C7"/>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457200" y="3401568"/>
            <a:ext cx="83210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300"/>
              <a:buFont typeface="Meiryo"/>
              <a:buNone/>
            </a:pPr>
            <a:r>
              <a:rPr b="1" i="0" lang="en-US" sz="1300" u="none" cap="none" strike="noStrike">
                <a:solidFill>
                  <a:srgbClr val="92400E"/>
                </a:solidFill>
                <a:latin typeface="Meiryo"/>
                <a:ea typeface="Meiryo"/>
                <a:cs typeface="Meiryo"/>
                <a:sym typeface="Meiryo"/>
              </a:rPr>
              <a:t>⚠️  疑問点はこの段階で必ず確認！撮影が終わってからの「話が違う」は防げません</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04" name="Shape 104"/>
        <p:cNvGrpSpPr/>
        <p:nvPr/>
      </p:nvGrpSpPr>
      <p:grpSpPr>
        <a:xfrm>
          <a:off x="0" y="0"/>
          <a:ext cx="0" cy="0"/>
          <a:chOff x="0" y="0"/>
          <a:chExt cx="0" cy="0"/>
        </a:xfrm>
      </p:grpSpPr>
      <p:sp>
        <p:nvSpPr>
          <p:cNvPr id="105" name="Google Shape;105;p5"/>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書類提出が遅れると…</a:t>
            </a:r>
            <a:endParaRPr b="0" i="0" sz="2100" u="none" cap="none" strike="noStrike">
              <a:solidFill>
                <a:schemeClr val="dk1"/>
              </a:solidFill>
              <a:latin typeface="Calibri"/>
              <a:ea typeface="Calibri"/>
              <a:cs typeface="Calibri"/>
              <a:sym typeface="Calibri"/>
            </a:endParaRPr>
          </a:p>
        </p:txBody>
      </p:sp>
      <p:sp>
        <p:nvSpPr>
          <p:cNvPr id="107" name="Google Shape;107;p5"/>
          <p:cNvSpPr/>
          <p:nvPr/>
        </p:nvSpPr>
        <p:spPr>
          <a:xfrm>
            <a:off x="310896" y="804672"/>
            <a:ext cx="8522208" cy="749808"/>
          </a:xfrm>
          <a:prstGeom prst="rect">
            <a:avLst/>
          </a:prstGeom>
          <a:solidFill>
            <a:srgbClr val="E8EAF6"/>
          </a:solidFill>
          <a:ln cap="flat" cmpd="sng" w="9525">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310896" y="804672"/>
            <a:ext cx="59436" cy="74980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493776" y="804672"/>
            <a:ext cx="82296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  書類はスピードが命。受け取ったらすぐ確認・提出！</a:t>
            </a:r>
            <a:endParaRPr b="0" i="0" sz="1550" u="none" cap="none" strike="noStrike">
              <a:solidFill>
                <a:schemeClr val="dk1"/>
              </a:solidFill>
              <a:latin typeface="Calibri"/>
              <a:ea typeface="Calibri"/>
              <a:cs typeface="Calibri"/>
              <a:sym typeface="Calibri"/>
            </a:endParaRPr>
          </a:p>
        </p:txBody>
      </p:sp>
      <p:sp>
        <p:nvSpPr>
          <p:cNvPr id="110" name="Google Shape;110;p5"/>
          <p:cNvSpPr/>
          <p:nvPr/>
        </p:nvSpPr>
        <p:spPr>
          <a:xfrm>
            <a:off x="310896" y="166420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310896" y="166420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493776" y="166420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報酬の支払い日が後ろ倒しになる（最悪、翌月回しになる）</a:t>
            </a:r>
            <a:endParaRPr b="0" i="0" sz="1450" u="none" cap="none" strike="noStrike">
              <a:solidFill>
                <a:schemeClr val="dk1"/>
              </a:solidFill>
              <a:latin typeface="Calibri"/>
              <a:ea typeface="Calibri"/>
              <a:cs typeface="Calibri"/>
              <a:sym typeface="Calibri"/>
            </a:endParaRPr>
          </a:p>
        </p:txBody>
      </p:sp>
      <p:sp>
        <p:nvSpPr>
          <p:cNvPr id="113" name="Google Shape;113;p5"/>
          <p:cNvSpPr/>
          <p:nvPr/>
        </p:nvSpPr>
        <p:spPr>
          <a:xfrm>
            <a:off x="310896" y="239572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310896" y="239572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493776" y="239572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次の案件オファーの優先度が下がる可能性がある</a:t>
            </a:r>
            <a:endParaRPr b="0" i="0" sz="1450" u="none" cap="none" strike="noStrike">
              <a:solidFill>
                <a:schemeClr val="dk1"/>
              </a:solidFill>
              <a:latin typeface="Calibri"/>
              <a:ea typeface="Calibri"/>
              <a:cs typeface="Calibri"/>
              <a:sym typeface="Calibri"/>
            </a:endParaRPr>
          </a:p>
        </p:txBody>
      </p:sp>
      <p:sp>
        <p:nvSpPr>
          <p:cNvPr id="116" name="Google Shape;116;p5"/>
          <p:cNvSpPr/>
          <p:nvPr/>
        </p:nvSpPr>
        <p:spPr>
          <a:xfrm>
            <a:off x="310896" y="312724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310896" y="312724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493776" y="312724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TORIHADAの経理処理が止まり、会社全体に影響が出る</a:t>
            </a:r>
            <a:endParaRPr b="0" i="0" sz="1450" u="none" cap="none" strike="noStrike">
              <a:solidFill>
                <a:schemeClr val="dk1"/>
              </a:solidFill>
              <a:latin typeface="Calibri"/>
              <a:ea typeface="Calibri"/>
              <a:cs typeface="Calibri"/>
              <a:sym typeface="Calibri"/>
            </a:endParaRPr>
          </a:p>
        </p:txBody>
      </p:sp>
      <p:sp>
        <p:nvSpPr>
          <p:cNvPr id="119" name="Google Shape;119;p5"/>
          <p:cNvSpPr/>
          <p:nvPr/>
        </p:nvSpPr>
        <p:spPr>
          <a:xfrm>
            <a:off x="310896" y="3950208"/>
            <a:ext cx="8522208" cy="47548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457200" y="3950208"/>
            <a:ext cx="8321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250"/>
              <a:buFont typeface="Meiryo"/>
              <a:buNone/>
            </a:pPr>
            <a:r>
              <a:rPr b="0" i="0" lang="en-US" sz="1250" u="none" cap="none" strike="noStrike">
                <a:solidFill>
                  <a:srgbClr val="B45309"/>
                </a:solidFill>
                <a:latin typeface="Meiryo"/>
                <a:ea typeface="Meiryo"/>
                <a:cs typeface="Meiryo"/>
                <a:sym typeface="Meiryo"/>
              </a:rPr>
              <a:t>💡  書類対応のスピードは、あなたの「プロ度」のバロメーターです</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25" name="Shape 125"/>
        <p:cNvGrpSpPr/>
        <p:nvPr/>
      </p:nvGrpSpPr>
      <p:grpSpPr>
        <a:xfrm>
          <a:off x="0" y="0"/>
          <a:ext cx="0" cy="0"/>
          <a:chOff x="0" y="0"/>
          <a:chExt cx="0" cy="0"/>
        </a:xfrm>
      </p:grpSpPr>
      <p:sp>
        <p:nvSpPr>
          <p:cNvPr id="126" name="Google Shape;126;p6"/>
          <p:cNvSpPr/>
          <p:nvPr/>
        </p:nvSpPr>
        <p:spPr>
          <a:xfrm>
            <a:off x="0" y="0"/>
            <a:ext cx="2743200"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237744" y="1005840"/>
            <a:ext cx="2286000" cy="210312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FFFFFF"/>
              </a:buClr>
              <a:buSzPts val="2600"/>
              <a:buFont typeface="Meiryo"/>
              <a:buNone/>
            </a:pPr>
            <a:r>
              <a:rPr b="1" i="0" lang="en-US" sz="2600" u="none" cap="none" strike="noStrike">
                <a:solidFill>
                  <a:srgbClr val="FFFFFF"/>
                </a:solidFill>
                <a:latin typeface="Meiryo"/>
                <a:ea typeface="Meiryo"/>
                <a:cs typeface="Meiryo"/>
                <a:sym typeface="Meiryo"/>
              </a:rPr>
              <a:t>まとめ</a:t>
            </a:r>
            <a:endParaRPr b="0" i="0" sz="2600" u="none" cap="none" strike="noStrike">
              <a:solidFill>
                <a:schemeClr val="dk1"/>
              </a:solidFill>
              <a:latin typeface="Calibri"/>
              <a:ea typeface="Calibri"/>
              <a:cs typeface="Calibri"/>
              <a:sym typeface="Calibri"/>
            </a:endParaRPr>
          </a:p>
        </p:txBody>
      </p:sp>
      <p:sp>
        <p:nvSpPr>
          <p:cNvPr id="128" name="Google Shape;128;p6"/>
          <p:cNvSpPr/>
          <p:nvPr/>
        </p:nvSpPr>
        <p:spPr>
          <a:xfrm>
            <a:off x="237744" y="4114800"/>
            <a:ext cx="22860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100"/>
              <a:buFont typeface="Meiryo"/>
              <a:buNone/>
            </a:pPr>
            <a:r>
              <a:rPr b="0" i="0" lang="en-US" sz="1100" u="none" cap="none" strike="noStrike">
                <a:solidFill>
                  <a:srgbClr val="A0B8D8"/>
                </a:solidFill>
                <a:latin typeface="Meiryo"/>
                <a:ea typeface="Meiryo"/>
                <a:cs typeface="Meiryo"/>
                <a:sym typeface="Meiryo"/>
              </a:rPr>
              <a:t>動画まとめ</a:t>
            </a:r>
            <a:endParaRPr b="0" i="0" sz="1100" u="none" cap="none" strike="noStrike">
              <a:solidFill>
                <a:schemeClr val="dk1"/>
              </a:solidFill>
              <a:latin typeface="Calibri"/>
              <a:ea typeface="Calibri"/>
              <a:cs typeface="Calibri"/>
              <a:sym typeface="Calibri"/>
            </a:endParaRPr>
          </a:p>
        </p:txBody>
      </p:sp>
      <p:sp>
        <p:nvSpPr>
          <p:cNvPr id="129" name="Google Shape;129;p6"/>
          <p:cNvSpPr/>
          <p:nvPr/>
        </p:nvSpPr>
        <p:spPr>
          <a:xfrm>
            <a:off x="2944368" y="329184"/>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3072384" y="329184"/>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01</a:t>
            </a:r>
            <a:endParaRPr b="0" i="0" sz="2000" u="none" cap="none" strike="noStrike">
              <a:solidFill>
                <a:schemeClr val="dk1"/>
              </a:solidFill>
              <a:latin typeface="Calibri"/>
              <a:ea typeface="Calibri"/>
              <a:cs typeface="Calibri"/>
              <a:sym typeface="Calibri"/>
            </a:endParaRPr>
          </a:p>
        </p:txBody>
      </p:sp>
      <p:sp>
        <p:nvSpPr>
          <p:cNvPr id="131" name="Google Shape;131;p6"/>
          <p:cNvSpPr/>
          <p:nvPr/>
        </p:nvSpPr>
        <p:spPr>
          <a:xfrm>
            <a:off x="3749040" y="329184"/>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発注書・納品書・請求書は報酬を守る3点セット</a:t>
            </a:r>
            <a:endParaRPr b="0" i="0" sz="1550" u="none" cap="none" strike="noStrike">
              <a:solidFill>
                <a:schemeClr val="dk1"/>
              </a:solidFill>
              <a:latin typeface="Calibri"/>
              <a:ea typeface="Calibri"/>
              <a:cs typeface="Calibri"/>
              <a:sym typeface="Calibri"/>
            </a:endParaRPr>
          </a:p>
        </p:txBody>
      </p:sp>
      <p:cxnSp>
        <p:nvCxnSpPr>
          <p:cNvPr id="132" name="Google Shape;132;p6"/>
          <p:cNvCxnSpPr/>
          <p:nvPr/>
        </p:nvCxnSpPr>
        <p:spPr>
          <a:xfrm>
            <a:off x="2944368" y="1216152"/>
            <a:ext cx="5925312" cy="0"/>
          </a:xfrm>
          <a:prstGeom prst="straightConnector1">
            <a:avLst/>
          </a:prstGeom>
          <a:noFill/>
          <a:ln cap="flat" cmpd="sng" w="9525">
            <a:solidFill>
              <a:srgbClr val="D1D5DB"/>
            </a:solidFill>
            <a:prstDash val="solid"/>
            <a:round/>
            <a:headEnd len="sm" w="sm" type="none"/>
            <a:tailEnd len="sm" w="sm" type="none"/>
          </a:ln>
        </p:spPr>
      </p:cxnSp>
      <p:sp>
        <p:nvSpPr>
          <p:cNvPr id="133" name="Google Shape;133;p6"/>
          <p:cNvSpPr/>
          <p:nvPr/>
        </p:nvSpPr>
        <p:spPr>
          <a:xfrm>
            <a:off x="2944368" y="1261872"/>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3072384" y="1261872"/>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02</a:t>
            </a:r>
            <a:endParaRPr b="0" i="0" sz="2000" u="none" cap="none" strike="noStrike">
              <a:solidFill>
                <a:schemeClr val="dk1"/>
              </a:solidFill>
              <a:latin typeface="Calibri"/>
              <a:ea typeface="Calibri"/>
              <a:cs typeface="Calibri"/>
              <a:sym typeface="Calibri"/>
            </a:endParaRPr>
          </a:p>
        </p:txBody>
      </p:sp>
      <p:sp>
        <p:nvSpPr>
          <p:cNvPr id="135" name="Google Shape;135;p6"/>
          <p:cNvSpPr/>
          <p:nvPr/>
        </p:nvSpPr>
        <p:spPr>
          <a:xfrm>
            <a:off x="3749040" y="1261872"/>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実施確定連絡は「金額・納品物・スケジュール」を必ず確認</a:t>
            </a:r>
            <a:endParaRPr b="0" i="0" sz="1550" u="none" cap="none" strike="noStrike">
              <a:solidFill>
                <a:schemeClr val="dk1"/>
              </a:solidFill>
              <a:latin typeface="Calibri"/>
              <a:ea typeface="Calibri"/>
              <a:cs typeface="Calibri"/>
              <a:sym typeface="Calibri"/>
            </a:endParaRPr>
          </a:p>
        </p:txBody>
      </p:sp>
      <p:cxnSp>
        <p:nvCxnSpPr>
          <p:cNvPr id="136" name="Google Shape;136;p6"/>
          <p:cNvCxnSpPr/>
          <p:nvPr/>
        </p:nvCxnSpPr>
        <p:spPr>
          <a:xfrm>
            <a:off x="2944368" y="2148840"/>
            <a:ext cx="5925312" cy="0"/>
          </a:xfrm>
          <a:prstGeom prst="straightConnector1">
            <a:avLst/>
          </a:prstGeom>
          <a:noFill/>
          <a:ln cap="flat" cmpd="sng" w="9525">
            <a:solidFill>
              <a:srgbClr val="D1D5DB"/>
            </a:solidFill>
            <a:prstDash val="solid"/>
            <a:round/>
            <a:headEnd len="sm" w="sm" type="none"/>
            <a:tailEnd len="sm" w="sm" type="none"/>
          </a:ln>
        </p:spPr>
      </p:cxnSp>
      <p:sp>
        <p:nvSpPr>
          <p:cNvPr id="137" name="Google Shape;137;p6"/>
          <p:cNvSpPr/>
          <p:nvPr/>
        </p:nvSpPr>
        <p:spPr>
          <a:xfrm>
            <a:off x="2944368" y="2194560"/>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3072384" y="2194560"/>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03</a:t>
            </a:r>
            <a:endParaRPr b="0" i="0" sz="2000" u="none" cap="none" strike="noStrike">
              <a:solidFill>
                <a:schemeClr val="dk1"/>
              </a:solidFill>
              <a:latin typeface="Calibri"/>
              <a:ea typeface="Calibri"/>
              <a:cs typeface="Calibri"/>
              <a:sym typeface="Calibri"/>
            </a:endParaRPr>
          </a:p>
        </p:txBody>
      </p:sp>
      <p:sp>
        <p:nvSpPr>
          <p:cNvPr id="139" name="Google Shape;139;p6"/>
          <p:cNvSpPr/>
          <p:nvPr/>
        </p:nvSpPr>
        <p:spPr>
          <a:xfrm>
            <a:off x="3749040" y="2194560"/>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書類はスピード命！遅れると報酬が遅れる</a:t>
            </a:r>
            <a:endParaRPr b="0" i="0" sz="1550" u="none" cap="none" strike="noStrike">
              <a:solidFill>
                <a:schemeClr val="dk1"/>
              </a:solidFill>
              <a:latin typeface="Calibri"/>
              <a:ea typeface="Calibri"/>
              <a:cs typeface="Calibri"/>
              <a:sym typeface="Calibri"/>
            </a:endParaRPr>
          </a:p>
        </p:txBody>
      </p:sp>
      <p:sp>
        <p:nvSpPr>
          <p:cNvPr id="140" name="Google Shape;140;p6"/>
          <p:cNvSpPr/>
          <p:nvPr/>
        </p:nvSpPr>
        <p:spPr>
          <a:xfrm>
            <a:off x="2944368" y="3273552"/>
            <a:ext cx="5925312" cy="65836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2944368" y="3273552"/>
            <a:ext cx="59436" cy="658368"/>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3108960" y="3273552"/>
            <a:ext cx="5687568"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030"/>
              </a:buClr>
              <a:buSzPts val="1350"/>
              <a:buFont typeface="Meiryo"/>
              <a:buNone/>
            </a:pPr>
            <a:r>
              <a:rPr b="1" i="0" lang="en-US" sz="1350" u="none" cap="none" strike="noStrike">
                <a:solidFill>
                  <a:srgbClr val="E87030"/>
                </a:solidFill>
                <a:latin typeface="Meiryo"/>
                <a:ea typeface="Meiryo"/>
                <a:cs typeface="Meiryo"/>
                <a:sym typeface="Meiryo"/>
              </a:rPr>
              <a:t>▶  Next  |  動画②：企画の設計図「字コンテ」</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7"/>
          <p:cNvSpPr/>
          <p:nvPr/>
        </p:nvSpPr>
        <p:spPr>
          <a:xfrm>
            <a:off x="0" y="0"/>
            <a:ext cx="2907792"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274320" y="475488"/>
            <a:ext cx="235915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500"/>
              <a:buFont typeface="Meiryo"/>
              <a:buNone/>
            </a:pPr>
            <a:r>
              <a:rPr b="1" i="0" lang="en-US" sz="1500" u="none" cap="none" strike="noStrike">
                <a:solidFill>
                  <a:srgbClr val="A0B8D8"/>
                </a:solidFill>
                <a:latin typeface="Meiryo"/>
                <a:ea typeface="Meiryo"/>
                <a:cs typeface="Meiryo"/>
                <a:sym typeface="Meiryo"/>
              </a:rPr>
              <a:t>第3章</a:t>
            </a:r>
            <a:endParaRPr b="0" i="0" sz="1500" u="none" cap="none" strike="noStrike">
              <a:solidFill>
                <a:schemeClr val="dk1"/>
              </a:solidFill>
              <a:latin typeface="Calibri"/>
              <a:ea typeface="Calibri"/>
              <a:cs typeface="Calibri"/>
              <a:sym typeface="Calibri"/>
            </a:endParaRPr>
          </a:p>
        </p:txBody>
      </p:sp>
      <p:sp>
        <p:nvSpPr>
          <p:cNvPr id="150" name="Google Shape;150;p7"/>
          <p:cNvSpPr/>
          <p:nvPr/>
        </p:nvSpPr>
        <p:spPr>
          <a:xfrm>
            <a:off x="274320" y="868680"/>
            <a:ext cx="2359152"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5000"/>
              <a:buFont typeface="Meiryo"/>
              <a:buNone/>
            </a:pPr>
            <a:r>
              <a:rPr b="1" i="0" lang="en-US" sz="5000" u="none" cap="none" strike="noStrike">
                <a:solidFill>
                  <a:srgbClr val="FFFFFF"/>
                </a:solidFill>
                <a:latin typeface="Meiryo"/>
                <a:ea typeface="Meiryo"/>
                <a:cs typeface="Meiryo"/>
                <a:sym typeface="Meiryo"/>
              </a:rPr>
              <a:t>動画②</a:t>
            </a:r>
            <a:endParaRPr b="0" i="0" sz="5000" u="none" cap="none" strike="noStrike">
              <a:solidFill>
                <a:schemeClr val="dk1"/>
              </a:solidFill>
              <a:latin typeface="Calibri"/>
              <a:ea typeface="Calibri"/>
              <a:cs typeface="Calibri"/>
              <a:sym typeface="Calibri"/>
            </a:endParaRPr>
          </a:p>
        </p:txBody>
      </p:sp>
      <p:sp>
        <p:nvSpPr>
          <p:cNvPr id="151" name="Google Shape;151;p7"/>
          <p:cNvSpPr/>
          <p:nvPr/>
        </p:nvSpPr>
        <p:spPr>
          <a:xfrm>
            <a:off x="274320" y="2011680"/>
            <a:ext cx="2359152"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300"/>
              <a:buFont typeface="Meiryo"/>
              <a:buNone/>
            </a:pPr>
            <a:r>
              <a:rPr b="0" i="0" lang="en-US" sz="1300" u="none" cap="none" strike="noStrike">
                <a:solidFill>
                  <a:srgbClr val="A0B8D8"/>
                </a:solidFill>
                <a:latin typeface="Meiryo"/>
                <a:ea typeface="Meiryo"/>
                <a:cs typeface="Meiryo"/>
                <a:sym typeface="Meiryo"/>
              </a:rPr>
              <a:t>進行フロー・ビジネス連絡</a:t>
            </a:r>
            <a:endParaRPr b="0" i="0" sz="1300" u="none" cap="none" strike="noStrike">
              <a:solidFill>
                <a:schemeClr val="dk1"/>
              </a:solidFill>
              <a:latin typeface="Calibri"/>
              <a:ea typeface="Calibri"/>
              <a:cs typeface="Calibri"/>
              <a:sym typeface="Calibri"/>
            </a:endParaRPr>
          </a:p>
        </p:txBody>
      </p:sp>
      <p:sp>
        <p:nvSpPr>
          <p:cNvPr id="152" name="Google Shape;152;p7"/>
          <p:cNvSpPr/>
          <p:nvPr/>
        </p:nvSpPr>
        <p:spPr>
          <a:xfrm>
            <a:off x="274320" y="2816352"/>
            <a:ext cx="1389888" cy="4023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274320" y="2816352"/>
            <a:ext cx="138988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eiryo"/>
              <a:buNone/>
            </a:pPr>
            <a:r>
              <a:rPr b="1" i="0" lang="en-US" sz="1300" u="none" cap="none" strike="noStrike">
                <a:solidFill>
                  <a:srgbClr val="FFFFFF"/>
                </a:solidFill>
                <a:latin typeface="Meiryo"/>
                <a:ea typeface="Meiryo"/>
                <a:cs typeface="Meiryo"/>
                <a:sym typeface="Meiryo"/>
              </a:rPr>
              <a:t>▶  約5分</a:t>
            </a:r>
            <a:endParaRPr b="0" i="0" sz="1300" u="none" cap="none" strike="noStrike">
              <a:solidFill>
                <a:schemeClr val="dk1"/>
              </a:solidFill>
              <a:latin typeface="Calibri"/>
              <a:ea typeface="Calibri"/>
              <a:cs typeface="Calibri"/>
              <a:sym typeface="Calibri"/>
            </a:endParaRPr>
          </a:p>
        </p:txBody>
      </p:sp>
      <p:sp>
        <p:nvSpPr>
          <p:cNvPr id="154" name="Google Shape;154;p7"/>
          <p:cNvSpPr/>
          <p:nvPr/>
        </p:nvSpPr>
        <p:spPr>
          <a:xfrm>
            <a:off x="3127248" y="219456"/>
            <a:ext cx="574243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800"/>
              <a:buFont typeface="Meiryo"/>
              <a:buNone/>
            </a:pPr>
            <a:r>
              <a:rPr b="0" i="0" lang="en-US" sz="800" u="none" cap="none" strike="noStrike">
                <a:solidFill>
                  <a:srgbClr val="1E3068"/>
                </a:solidFill>
                <a:latin typeface="Meiryo"/>
                <a:ea typeface="Meiryo"/>
                <a:cs typeface="Meiryo"/>
                <a:sym typeface="Meiryo"/>
              </a:rPr>
              <a:t>CREATOR NETWORK TRAINING</a:t>
            </a:r>
            <a:endParaRPr b="0" i="0" sz="800" u="none" cap="none" strike="noStrike">
              <a:solidFill>
                <a:schemeClr val="dk1"/>
              </a:solidFill>
              <a:latin typeface="Calibri"/>
              <a:ea typeface="Calibri"/>
              <a:cs typeface="Calibri"/>
              <a:sym typeface="Calibri"/>
            </a:endParaRPr>
          </a:p>
        </p:txBody>
      </p:sp>
      <p:sp>
        <p:nvSpPr>
          <p:cNvPr id="155" name="Google Shape;155;p7"/>
          <p:cNvSpPr/>
          <p:nvPr/>
        </p:nvSpPr>
        <p:spPr>
          <a:xfrm>
            <a:off x="3127248" y="621792"/>
            <a:ext cx="5577840" cy="260604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Clr>
                <a:srgbClr val="1E3068"/>
              </a:buClr>
              <a:buSzPts val="3800"/>
              <a:buFont typeface="Meiryo"/>
              <a:buNone/>
            </a:pPr>
            <a:r>
              <a:rPr b="1" i="0" lang="en-US" sz="3800" u="none" cap="none" strike="noStrike">
                <a:solidFill>
                  <a:srgbClr val="1E3068"/>
                </a:solidFill>
                <a:latin typeface="Meiryo"/>
                <a:ea typeface="Meiryo"/>
                <a:cs typeface="Meiryo"/>
                <a:sym typeface="Meiryo"/>
              </a:rPr>
              <a:t>企画の設計図</a:t>
            </a:r>
            <a:endParaRPr b="0" i="0" sz="38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1E3068"/>
              </a:buClr>
              <a:buSzPts val="3800"/>
              <a:buFont typeface="Meiryo"/>
              <a:buNone/>
            </a:pPr>
            <a:r>
              <a:rPr b="1" i="0" lang="en-US" sz="3800" u="none" cap="none" strike="noStrike">
                <a:solidFill>
                  <a:srgbClr val="1E3068"/>
                </a:solidFill>
                <a:latin typeface="Meiryo"/>
                <a:ea typeface="Meiryo"/>
                <a:cs typeface="Meiryo"/>
                <a:sym typeface="Meiryo"/>
              </a:rPr>
              <a:t>「字コンテ」</a:t>
            </a:r>
            <a:endParaRPr b="0" i="0" sz="3800" u="none" cap="none" strike="noStrike">
              <a:solidFill>
                <a:schemeClr val="dk1"/>
              </a:solidFill>
              <a:latin typeface="Calibri"/>
              <a:ea typeface="Calibri"/>
              <a:cs typeface="Calibri"/>
              <a:sym typeface="Calibri"/>
            </a:endParaRPr>
          </a:p>
        </p:txBody>
      </p:sp>
      <p:sp>
        <p:nvSpPr>
          <p:cNvPr id="156" name="Google Shape;156;p7"/>
          <p:cNvSpPr/>
          <p:nvPr/>
        </p:nvSpPr>
        <p:spPr>
          <a:xfrm>
            <a:off x="3127248" y="3364992"/>
            <a:ext cx="1920240"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3127248" y="3529584"/>
            <a:ext cx="5577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400"/>
              <a:buFont typeface="Meiryo"/>
              <a:buNone/>
            </a:pPr>
            <a:r>
              <a:rPr b="0" i="0" lang="en-US" sz="1400" u="none" cap="none" strike="noStrike">
                <a:solidFill>
                  <a:srgbClr val="6B7280"/>
                </a:solidFill>
                <a:latin typeface="Meiryo"/>
                <a:ea typeface="Meiryo"/>
                <a:cs typeface="Meiryo"/>
                <a:sym typeface="Meiryo"/>
              </a:rPr>
              <a:t>クリエイターネットワーク研修</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62" name="Shape 162"/>
        <p:cNvGrpSpPr/>
        <p:nvPr/>
      </p:nvGrpSpPr>
      <p:grpSpPr>
        <a:xfrm>
          <a:off x="0" y="0"/>
          <a:ext cx="0" cy="0"/>
          <a:chOff x="0" y="0"/>
          <a:chExt cx="0" cy="0"/>
        </a:xfrm>
      </p:grpSpPr>
      <p:sp>
        <p:nvSpPr>
          <p:cNvPr id="163" name="Google Shape;163;p8"/>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この動画で学ぶこと</a:t>
            </a:r>
            <a:endParaRPr b="0" i="0" sz="2100" u="none" cap="none" strike="noStrike">
              <a:solidFill>
                <a:schemeClr val="dk1"/>
              </a:solidFill>
              <a:latin typeface="Calibri"/>
              <a:ea typeface="Calibri"/>
              <a:cs typeface="Calibri"/>
              <a:sym typeface="Calibri"/>
            </a:endParaRPr>
          </a:p>
        </p:txBody>
      </p:sp>
      <p:sp>
        <p:nvSpPr>
          <p:cNvPr id="165" name="Google Shape;165;p8"/>
          <p:cNvSpPr/>
          <p:nvPr/>
        </p:nvSpPr>
        <p:spPr>
          <a:xfrm>
            <a:off x="310896"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310896"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a:off x="566928"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168" name="Google Shape;168;p8"/>
          <p:cNvSpPr/>
          <p:nvPr/>
        </p:nvSpPr>
        <p:spPr>
          <a:xfrm>
            <a:off x="512064"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字コンテとは</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何か</a:t>
            </a:r>
            <a:endParaRPr b="0" i="0" sz="1550" u="none" cap="none" strike="noStrike">
              <a:solidFill>
                <a:schemeClr val="dk1"/>
              </a:solidFill>
              <a:latin typeface="Calibri"/>
              <a:ea typeface="Calibri"/>
              <a:cs typeface="Calibri"/>
              <a:sym typeface="Calibri"/>
            </a:endParaRPr>
          </a:p>
        </p:txBody>
      </p:sp>
      <p:sp>
        <p:nvSpPr>
          <p:cNvPr id="169" name="Google Shape;169;p8"/>
          <p:cNvSpPr/>
          <p:nvPr/>
        </p:nvSpPr>
        <p:spPr>
          <a:xfrm>
            <a:off x="512064"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撮影前に必要な</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設計図の意味を</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理解する</a:t>
            </a:r>
            <a:endParaRPr b="0" i="0" sz="1300" u="none" cap="none" strike="noStrike">
              <a:solidFill>
                <a:schemeClr val="dk1"/>
              </a:solidFill>
              <a:latin typeface="Calibri"/>
              <a:ea typeface="Calibri"/>
              <a:cs typeface="Calibri"/>
              <a:sym typeface="Calibri"/>
            </a:endParaRPr>
          </a:p>
        </p:txBody>
      </p:sp>
      <p:sp>
        <p:nvSpPr>
          <p:cNvPr id="170" name="Google Shape;170;p8"/>
          <p:cNvSpPr/>
          <p:nvPr/>
        </p:nvSpPr>
        <p:spPr>
          <a:xfrm>
            <a:off x="3081528"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3081528"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3337560"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173" name="Google Shape;173;p8"/>
          <p:cNvSpPr/>
          <p:nvPr/>
        </p:nvSpPr>
        <p:spPr>
          <a:xfrm>
            <a:off x="3282696"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なぜ字コンテが</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必要なのか</a:t>
            </a:r>
            <a:endParaRPr b="0" i="0" sz="1550" u="none" cap="none" strike="noStrike">
              <a:solidFill>
                <a:schemeClr val="dk1"/>
              </a:solidFill>
              <a:latin typeface="Calibri"/>
              <a:ea typeface="Calibri"/>
              <a:cs typeface="Calibri"/>
              <a:sym typeface="Calibri"/>
            </a:endParaRPr>
          </a:p>
        </p:txBody>
      </p:sp>
      <p:sp>
        <p:nvSpPr>
          <p:cNvPr id="174" name="Google Shape;174;p8"/>
          <p:cNvSpPr/>
          <p:nvPr/>
        </p:nvSpPr>
        <p:spPr>
          <a:xfrm>
            <a:off x="3282696"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字コンテなしで</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進むリスクを知る</a:t>
            </a:r>
            <a:endParaRPr b="0" i="0" sz="1300" u="none" cap="none" strike="noStrike">
              <a:solidFill>
                <a:schemeClr val="dk1"/>
              </a:solidFill>
              <a:latin typeface="Calibri"/>
              <a:ea typeface="Calibri"/>
              <a:cs typeface="Calibri"/>
              <a:sym typeface="Calibri"/>
            </a:endParaRPr>
          </a:p>
        </p:txBody>
      </p:sp>
      <p:sp>
        <p:nvSpPr>
          <p:cNvPr id="175" name="Google Shape;175;p8"/>
          <p:cNvSpPr/>
          <p:nvPr/>
        </p:nvSpPr>
        <p:spPr>
          <a:xfrm>
            <a:off x="5852160"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5852160"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6108192"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178" name="Google Shape;178;p8"/>
          <p:cNvSpPr/>
          <p:nvPr/>
        </p:nvSpPr>
        <p:spPr>
          <a:xfrm>
            <a:off x="6053328"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字コンテ提出の</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ルール</a:t>
            </a:r>
            <a:endParaRPr b="0" i="0" sz="1550" u="none" cap="none" strike="noStrike">
              <a:solidFill>
                <a:schemeClr val="dk1"/>
              </a:solidFill>
              <a:latin typeface="Calibri"/>
              <a:ea typeface="Calibri"/>
              <a:cs typeface="Calibri"/>
              <a:sym typeface="Calibri"/>
            </a:endParaRPr>
          </a:p>
        </p:txBody>
      </p:sp>
      <p:sp>
        <p:nvSpPr>
          <p:cNvPr id="179" name="Google Shape;179;p8"/>
          <p:cNvSpPr/>
          <p:nvPr/>
        </p:nvSpPr>
        <p:spPr>
          <a:xfrm>
            <a:off x="6053328"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テンプレート・</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期限・具体的な</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書き方のポイント</a:t>
            </a:r>
            <a:endParaRPr b="0" i="0" sz="1300" u="none" cap="none" strike="noStrike">
              <a:solidFill>
                <a:schemeClr val="dk1"/>
              </a:solidFill>
              <a:latin typeface="Calibri"/>
              <a:ea typeface="Calibri"/>
              <a:cs typeface="Calibri"/>
              <a:sym typeface="Calibri"/>
            </a:endParaRPr>
          </a:p>
        </p:txBody>
      </p:sp>
      <p:sp>
        <p:nvSpPr>
          <p:cNvPr id="180" name="Google Shape;180;p8"/>
          <p:cNvSpPr/>
          <p:nvPr/>
        </p:nvSpPr>
        <p:spPr>
          <a:xfrm>
            <a:off x="2140055" y="884713"/>
            <a:ext cx="859200" cy="480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t/>
            </a:r>
            <a:endParaRPr b="1" sz="2400">
              <a:solidFill>
                <a:srgbClr val="D1D5DB"/>
              </a:solidFill>
              <a:latin typeface="Meiryo"/>
              <a:ea typeface="Meiryo"/>
              <a:cs typeface="Meiryo"/>
              <a:sym typeface="Meiryo"/>
            </a:endParaRPr>
          </a:p>
          <a:p>
            <a:pPr indent="0" lvl="0" marL="0" marR="0" rtl="0" algn="r">
              <a:spcBef>
                <a:spcPts val="0"/>
              </a:spcBef>
              <a:spcAft>
                <a:spcPts val="0"/>
              </a:spcAft>
              <a:buClr>
                <a:srgbClr val="D1D5DB"/>
              </a:buClr>
              <a:buSzPts val="2400"/>
              <a:buFont typeface="Meiryo"/>
              <a:buNone/>
            </a:pPr>
            <a:r>
              <a:rPr b="1" lang="en-US" sz="2400">
                <a:solidFill>
                  <a:srgbClr val="D1D5DB"/>
                </a:solidFill>
                <a:latin typeface="Meiryo"/>
                <a:ea typeface="Meiryo"/>
                <a:cs typeface="Meiryo"/>
                <a:sym typeface="Meiryo"/>
              </a:rPr>
              <a:t>0</a:t>
            </a:r>
            <a:r>
              <a:rPr b="1" i="0" lang="en-US" sz="2400" u="none" cap="none" strike="noStrike">
                <a:solidFill>
                  <a:srgbClr val="D1D5DB"/>
                </a:solidFill>
                <a:latin typeface="Meiryo"/>
                <a:ea typeface="Meiryo"/>
                <a:cs typeface="Meiryo"/>
                <a:sym typeface="Meiryo"/>
              </a:rPr>
              <a:t>1</a:t>
            </a:r>
            <a:endParaRPr b="0" i="0" sz="2400" u="none" cap="none" strike="noStrike">
              <a:solidFill>
                <a:schemeClr val="dk1"/>
              </a:solidFill>
              <a:latin typeface="Calibri"/>
              <a:ea typeface="Calibri"/>
              <a:cs typeface="Calibri"/>
              <a:sym typeface="Calibri"/>
            </a:endParaRPr>
          </a:p>
        </p:txBody>
      </p:sp>
      <p:sp>
        <p:nvSpPr>
          <p:cNvPr id="181" name="Google Shape;181;p8"/>
          <p:cNvSpPr/>
          <p:nvPr/>
        </p:nvSpPr>
        <p:spPr>
          <a:xfrm>
            <a:off x="5074926" y="1101862"/>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02</a:t>
            </a:r>
            <a:endParaRPr b="0" i="0" sz="2400" u="none" cap="none" strike="noStrike">
              <a:solidFill>
                <a:schemeClr val="dk1"/>
              </a:solidFill>
              <a:latin typeface="Calibri"/>
              <a:ea typeface="Calibri"/>
              <a:cs typeface="Calibri"/>
              <a:sym typeface="Calibri"/>
            </a:endParaRPr>
          </a:p>
        </p:txBody>
      </p:sp>
      <p:sp>
        <p:nvSpPr>
          <p:cNvPr id="182" name="Google Shape;182;p8"/>
          <p:cNvSpPr/>
          <p:nvPr/>
        </p:nvSpPr>
        <p:spPr>
          <a:xfrm>
            <a:off x="7845550" y="1101862"/>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03</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87" name="Shape 187"/>
        <p:cNvGrpSpPr/>
        <p:nvPr/>
      </p:nvGrpSpPr>
      <p:grpSpPr>
        <a:xfrm>
          <a:off x="0" y="0"/>
          <a:ext cx="0" cy="0"/>
          <a:chOff x="0" y="0"/>
          <a:chExt cx="0" cy="0"/>
        </a:xfrm>
      </p:grpSpPr>
      <p:sp>
        <p:nvSpPr>
          <p:cNvPr id="188" name="Google Shape;188;p9"/>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字コンテとは？</a:t>
            </a:r>
            <a:endParaRPr b="0" i="0" sz="2100" u="none" cap="none" strike="noStrike">
              <a:solidFill>
                <a:schemeClr val="dk1"/>
              </a:solidFill>
              <a:latin typeface="Calibri"/>
              <a:ea typeface="Calibri"/>
              <a:cs typeface="Calibri"/>
              <a:sym typeface="Calibri"/>
            </a:endParaRPr>
          </a:p>
        </p:txBody>
      </p:sp>
      <p:sp>
        <p:nvSpPr>
          <p:cNvPr id="190" name="Google Shape;190;p9"/>
          <p:cNvSpPr/>
          <p:nvPr/>
        </p:nvSpPr>
        <p:spPr>
          <a:xfrm>
            <a:off x="310896" y="804672"/>
            <a:ext cx="8522208" cy="74980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310896" y="804672"/>
            <a:ext cx="59436" cy="749808"/>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493776" y="804672"/>
            <a:ext cx="82296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450"/>
              <a:buFont typeface="Meiryo"/>
              <a:buNone/>
            </a:pPr>
            <a:r>
              <a:rPr b="1" i="0" lang="en-US" sz="1450" u="none" cap="none" strike="noStrike">
                <a:solidFill>
                  <a:srgbClr val="B45309"/>
                </a:solidFill>
                <a:latin typeface="Meiryo"/>
                <a:ea typeface="Meiryo"/>
                <a:cs typeface="Meiryo"/>
                <a:sym typeface="Meiryo"/>
              </a:rPr>
              <a:t>📌  動画を撮る前に「どんなセリフ・どんな動き・どんな流れ」を文字で書いた設計図</a:t>
            </a:r>
            <a:endParaRPr b="0" i="0" sz="1450" u="none" cap="none" strike="noStrike">
              <a:solidFill>
                <a:schemeClr val="dk1"/>
              </a:solidFill>
              <a:latin typeface="Calibri"/>
              <a:ea typeface="Calibri"/>
              <a:cs typeface="Calibri"/>
              <a:sym typeface="Calibri"/>
            </a:endParaRPr>
          </a:p>
        </p:txBody>
      </p:sp>
      <p:sp>
        <p:nvSpPr>
          <p:cNvPr id="193" name="Google Shape;193;p9"/>
          <p:cNvSpPr/>
          <p:nvPr/>
        </p:nvSpPr>
        <p:spPr>
          <a:xfrm>
            <a:off x="310896" y="166420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310896" y="166420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493776" y="166420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話すセリフや内容を文章で書く（「最初に商品を手に取りながら…」）</a:t>
            </a:r>
            <a:endParaRPr b="0" i="0" sz="1450" u="none" cap="none" strike="noStrike">
              <a:solidFill>
                <a:schemeClr val="dk1"/>
              </a:solidFill>
              <a:latin typeface="Calibri"/>
              <a:ea typeface="Calibri"/>
              <a:cs typeface="Calibri"/>
              <a:sym typeface="Calibri"/>
            </a:endParaRPr>
          </a:p>
        </p:txBody>
      </p:sp>
      <p:sp>
        <p:nvSpPr>
          <p:cNvPr id="196" name="Google Shape;196;p9"/>
          <p:cNvSpPr/>
          <p:nvPr/>
        </p:nvSpPr>
        <p:spPr>
          <a:xfrm>
            <a:off x="310896" y="239572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310896" y="239572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493776" y="239572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シーンの流れを整理する（冒頭フック → 本題 → CTA）</a:t>
            </a:r>
            <a:endParaRPr b="0" i="0" sz="1450" u="none" cap="none" strike="noStrike">
              <a:solidFill>
                <a:schemeClr val="dk1"/>
              </a:solidFill>
              <a:latin typeface="Calibri"/>
              <a:ea typeface="Calibri"/>
              <a:cs typeface="Calibri"/>
              <a:sym typeface="Calibri"/>
            </a:endParaRPr>
          </a:p>
        </p:txBody>
      </p:sp>
      <p:sp>
        <p:nvSpPr>
          <p:cNvPr id="199" name="Google Shape;199;p9"/>
          <p:cNvSpPr/>
          <p:nvPr/>
        </p:nvSpPr>
        <p:spPr>
          <a:xfrm>
            <a:off x="310896" y="312724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310896" y="312724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493776" y="312724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テロップや見せ方のイメージを具体的に記載する</a:t>
            </a:r>
            <a:endParaRPr b="0" i="0" sz="1450" u="none" cap="none" strike="noStrike">
              <a:solidFill>
                <a:schemeClr val="dk1"/>
              </a:solidFill>
              <a:latin typeface="Calibri"/>
              <a:ea typeface="Calibri"/>
              <a:cs typeface="Calibri"/>
              <a:sym typeface="Calibri"/>
            </a:endParaRPr>
          </a:p>
        </p:txBody>
      </p:sp>
      <p:sp>
        <p:nvSpPr>
          <p:cNvPr id="202" name="Google Shape;202;p9"/>
          <p:cNvSpPr/>
          <p:nvPr/>
        </p:nvSpPr>
        <p:spPr>
          <a:xfrm>
            <a:off x="310896" y="3931920"/>
            <a:ext cx="8522208"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200"/>
              <a:buFont typeface="Meiryo"/>
              <a:buNone/>
            </a:pPr>
            <a:r>
              <a:rPr b="0" i="1" lang="en-US" sz="1200" u="none" cap="none" strike="noStrike">
                <a:solidFill>
                  <a:srgbClr val="6B7280"/>
                </a:solidFill>
                <a:latin typeface="Meiryo"/>
                <a:ea typeface="Meiryo"/>
                <a:cs typeface="Meiryo"/>
                <a:sym typeface="Meiryo"/>
              </a:rPr>
              <a:t>★  建物の設計図と同じ。設計図なしに工事（撮影）は始められない！</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07" name="Shape 207"/>
        <p:cNvGrpSpPr/>
        <p:nvPr/>
      </p:nvGrpSpPr>
      <p:grpSpPr>
        <a:xfrm>
          <a:off x="0" y="0"/>
          <a:ext cx="0" cy="0"/>
          <a:chOff x="0" y="0"/>
          <a:chExt cx="0" cy="0"/>
        </a:xfrm>
      </p:grpSpPr>
      <p:sp>
        <p:nvSpPr>
          <p:cNvPr id="208" name="Google Shape;208;p10"/>
          <p:cNvSpPr/>
          <p:nvPr/>
        </p:nvSpPr>
        <p:spPr>
          <a:xfrm>
            <a:off x="310896" y="164592"/>
            <a:ext cx="8522208"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500"/>
              <a:buFont typeface="Meiryo"/>
              <a:buNone/>
            </a:pPr>
            <a:r>
              <a:rPr b="1" i="0" lang="en-US" sz="2500" u="none" cap="none" strike="noStrike">
                <a:solidFill>
                  <a:srgbClr val="1E3068"/>
                </a:solidFill>
                <a:latin typeface="Meiryo"/>
                <a:ea typeface="Meiryo"/>
                <a:cs typeface="Meiryo"/>
                <a:sym typeface="Meiryo"/>
              </a:rPr>
              <a:t>字コンテなしで撮ると何が起きる？</a:t>
            </a:r>
            <a:endParaRPr b="0" i="0" sz="2500" u="none" cap="none" strike="noStrike">
              <a:solidFill>
                <a:schemeClr val="dk1"/>
              </a:solidFill>
              <a:latin typeface="Calibri"/>
              <a:ea typeface="Calibri"/>
              <a:cs typeface="Calibri"/>
              <a:sym typeface="Calibri"/>
            </a:endParaRPr>
          </a:p>
        </p:txBody>
      </p:sp>
      <p:sp>
        <p:nvSpPr>
          <p:cNvPr id="209" name="Google Shape;209;p10"/>
          <p:cNvSpPr/>
          <p:nvPr/>
        </p:nvSpPr>
        <p:spPr>
          <a:xfrm>
            <a:off x="310896" y="694944"/>
            <a:ext cx="8522208" cy="59436"/>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310896" y="877824"/>
            <a:ext cx="3895344" cy="3877056"/>
          </a:xfrm>
          <a:prstGeom prst="rect">
            <a:avLst/>
          </a:prstGeom>
          <a:solidFill>
            <a:srgbClr val="FEF2F2"/>
          </a:solidFill>
          <a:ln cap="flat" cmpd="sng" w="12700">
            <a:solidFill>
              <a:srgbClr val="FECAC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p:nvPr/>
        </p:nvSpPr>
        <p:spPr>
          <a:xfrm>
            <a:off x="457200" y="1024128"/>
            <a:ext cx="3602736"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C2626"/>
              </a:buClr>
              <a:buSzPts val="1700"/>
              <a:buFont typeface="Meiryo"/>
              <a:buNone/>
            </a:pPr>
            <a:r>
              <a:rPr b="1" i="0" lang="en-US" sz="1700" u="none" cap="none" strike="noStrike">
                <a:solidFill>
                  <a:srgbClr val="DC2626"/>
                </a:solidFill>
                <a:latin typeface="Meiryo"/>
                <a:ea typeface="Meiryo"/>
                <a:cs typeface="Meiryo"/>
                <a:sym typeface="Meiryo"/>
              </a:rPr>
              <a:t>❌  字コンテなし</a:t>
            </a:r>
            <a:endParaRPr b="0" i="0" sz="1700" u="none" cap="none" strike="noStrike">
              <a:solidFill>
                <a:schemeClr val="dk1"/>
              </a:solidFill>
              <a:latin typeface="Calibri"/>
              <a:ea typeface="Calibri"/>
              <a:cs typeface="Calibri"/>
              <a:sym typeface="Calibri"/>
            </a:endParaRPr>
          </a:p>
        </p:txBody>
      </p:sp>
      <p:sp>
        <p:nvSpPr>
          <p:cNvPr id="212" name="Google Shape;212;p10"/>
          <p:cNvSpPr/>
          <p:nvPr/>
        </p:nvSpPr>
        <p:spPr>
          <a:xfrm>
            <a:off x="457200" y="1627632"/>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撮影後「イメージと違う」と言われる</a:t>
            </a:r>
            <a:endParaRPr b="0" i="0" sz="1400" u="none" cap="none" strike="noStrike">
              <a:solidFill>
                <a:schemeClr val="dk1"/>
              </a:solidFill>
              <a:latin typeface="Calibri"/>
              <a:ea typeface="Calibri"/>
              <a:cs typeface="Calibri"/>
              <a:sym typeface="Calibri"/>
            </a:endParaRPr>
          </a:p>
        </p:txBody>
      </p:sp>
      <p:sp>
        <p:nvSpPr>
          <p:cNvPr id="213" name="Google Shape;213;p10"/>
          <p:cNvSpPr/>
          <p:nvPr/>
        </p:nvSpPr>
        <p:spPr>
          <a:xfrm>
            <a:off x="457200" y="2432304"/>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撮り直しで時間もコストもムダに</a:t>
            </a:r>
            <a:endParaRPr b="0" i="0" sz="1400" u="none" cap="none" strike="noStrike">
              <a:solidFill>
                <a:schemeClr val="dk1"/>
              </a:solidFill>
              <a:latin typeface="Calibri"/>
              <a:ea typeface="Calibri"/>
              <a:cs typeface="Calibri"/>
              <a:sym typeface="Calibri"/>
            </a:endParaRPr>
          </a:p>
        </p:txBody>
      </p:sp>
      <p:sp>
        <p:nvSpPr>
          <p:cNvPr id="214" name="Google Shape;214;p10"/>
          <p:cNvSpPr/>
          <p:nvPr/>
        </p:nvSpPr>
        <p:spPr>
          <a:xfrm>
            <a:off x="457200" y="3236976"/>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期待値が不明なまま作業が進む</a:t>
            </a:r>
            <a:endParaRPr b="0" i="0" sz="1400" u="none" cap="none" strike="noStrike">
              <a:solidFill>
                <a:schemeClr val="dk1"/>
              </a:solidFill>
              <a:latin typeface="Calibri"/>
              <a:ea typeface="Calibri"/>
              <a:cs typeface="Calibri"/>
              <a:sym typeface="Calibri"/>
            </a:endParaRPr>
          </a:p>
        </p:txBody>
      </p:sp>
      <p:sp>
        <p:nvSpPr>
          <p:cNvPr id="215" name="Google Shape;215;p10"/>
          <p:cNvSpPr/>
          <p:nvPr/>
        </p:nvSpPr>
        <p:spPr>
          <a:xfrm>
            <a:off x="4140713" y="2377452"/>
            <a:ext cx="768000" cy="768000"/>
          </a:xfrm>
          <a:prstGeom prst="ellipse">
            <a:avLst/>
          </a:prstGeom>
          <a:solidFill>
            <a:srgbClr val="1E3068"/>
          </a:solidFill>
          <a:ln cap="flat" cmpd="sng" w="15225">
            <a:solidFill>
              <a:srgbClr val="1E3068"/>
            </a:solidFill>
            <a:prstDash val="solid"/>
            <a:round/>
            <a:headEnd len="sm" w="sm" type="none"/>
            <a:tailEnd len="sm" w="sm" type="none"/>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216" name="Google Shape;216;p10"/>
          <p:cNvSpPr/>
          <p:nvPr/>
        </p:nvSpPr>
        <p:spPr>
          <a:xfrm>
            <a:off x="4128042" y="2377452"/>
            <a:ext cx="768000" cy="76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60"/>
              <a:buFont typeface="Meiryo"/>
              <a:buNone/>
            </a:pPr>
            <a:r>
              <a:rPr b="1" i="0" lang="en-US" sz="1560" u="none" cap="none" strike="noStrike">
                <a:solidFill>
                  <a:srgbClr val="FFFFFF"/>
                </a:solidFill>
                <a:latin typeface="Meiryo"/>
                <a:ea typeface="Meiryo"/>
                <a:cs typeface="Meiryo"/>
                <a:sym typeface="Meiryo"/>
              </a:rPr>
              <a:t>VS</a:t>
            </a:r>
            <a:endParaRPr b="0" i="0" sz="1560" u="none" cap="none" strike="noStrike">
              <a:solidFill>
                <a:schemeClr val="dk1"/>
              </a:solidFill>
              <a:latin typeface="Calibri"/>
              <a:ea typeface="Calibri"/>
              <a:cs typeface="Calibri"/>
              <a:sym typeface="Calibri"/>
            </a:endParaRPr>
          </a:p>
        </p:txBody>
      </p:sp>
      <p:sp>
        <p:nvSpPr>
          <p:cNvPr id="217" name="Google Shape;217;p10"/>
          <p:cNvSpPr/>
          <p:nvPr/>
        </p:nvSpPr>
        <p:spPr>
          <a:xfrm>
            <a:off x="4864608" y="877824"/>
            <a:ext cx="3895344" cy="3877056"/>
          </a:xfrm>
          <a:prstGeom prst="rect">
            <a:avLst/>
          </a:prstGeom>
          <a:solidFill>
            <a:srgbClr val="F0FDF4"/>
          </a:solidFill>
          <a:ln cap="flat" cmpd="sng" w="12700">
            <a:solidFill>
              <a:srgbClr val="86EFAC"/>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5010912" y="1024128"/>
            <a:ext cx="3602736"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A34A"/>
              </a:buClr>
              <a:buSzPts val="1700"/>
              <a:buFont typeface="Meiryo"/>
              <a:buNone/>
            </a:pPr>
            <a:r>
              <a:rPr b="1" i="0" lang="en-US" sz="1700" u="none" cap="none" strike="noStrike">
                <a:solidFill>
                  <a:srgbClr val="16A34A"/>
                </a:solidFill>
                <a:latin typeface="Meiryo"/>
                <a:ea typeface="Meiryo"/>
                <a:cs typeface="Meiryo"/>
                <a:sym typeface="Meiryo"/>
              </a:rPr>
              <a:t>✅  字コンテあり</a:t>
            </a:r>
            <a:endParaRPr b="0" i="0" sz="1700" u="none" cap="none" strike="noStrike">
              <a:solidFill>
                <a:schemeClr val="dk1"/>
              </a:solidFill>
              <a:latin typeface="Calibri"/>
              <a:ea typeface="Calibri"/>
              <a:cs typeface="Calibri"/>
              <a:sym typeface="Calibri"/>
            </a:endParaRPr>
          </a:p>
        </p:txBody>
      </p:sp>
      <p:sp>
        <p:nvSpPr>
          <p:cNvPr id="219" name="Google Shape;219;p10"/>
          <p:cNvSpPr/>
          <p:nvPr/>
        </p:nvSpPr>
        <p:spPr>
          <a:xfrm>
            <a:off x="5010912" y="1627632"/>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撮影前にクライアントと合意を取れる</a:t>
            </a:r>
            <a:endParaRPr b="0" i="0" sz="1400" u="none" cap="none" strike="noStrike">
              <a:solidFill>
                <a:schemeClr val="dk1"/>
              </a:solidFill>
              <a:latin typeface="Calibri"/>
              <a:ea typeface="Calibri"/>
              <a:cs typeface="Calibri"/>
              <a:sym typeface="Calibri"/>
            </a:endParaRPr>
          </a:p>
        </p:txBody>
      </p:sp>
      <p:sp>
        <p:nvSpPr>
          <p:cNvPr id="220" name="Google Shape;220;p10"/>
          <p:cNvSpPr/>
          <p:nvPr/>
        </p:nvSpPr>
        <p:spPr>
          <a:xfrm>
            <a:off x="5010912" y="2432304"/>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修正は文字の段階で完結（最小コスト）</a:t>
            </a:r>
            <a:endParaRPr b="0" i="0" sz="1400" u="none" cap="none" strike="noStrike">
              <a:solidFill>
                <a:schemeClr val="dk1"/>
              </a:solidFill>
              <a:latin typeface="Calibri"/>
              <a:ea typeface="Calibri"/>
              <a:cs typeface="Calibri"/>
              <a:sym typeface="Calibri"/>
            </a:endParaRPr>
          </a:p>
        </p:txBody>
      </p:sp>
      <p:sp>
        <p:nvSpPr>
          <p:cNvPr id="221" name="Google Shape;221;p10"/>
          <p:cNvSpPr/>
          <p:nvPr/>
        </p:nvSpPr>
        <p:spPr>
          <a:xfrm>
            <a:off x="5010912" y="3236976"/>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一発OKが狙えて信頼感もアップ</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26" name="Shape 226"/>
        <p:cNvGrpSpPr/>
        <p:nvPr/>
      </p:nvGrpSpPr>
      <p:grpSpPr>
        <a:xfrm>
          <a:off x="0" y="0"/>
          <a:ext cx="0" cy="0"/>
          <a:chOff x="0" y="0"/>
          <a:chExt cx="0" cy="0"/>
        </a:xfrm>
      </p:grpSpPr>
      <p:sp>
        <p:nvSpPr>
          <p:cNvPr id="227" name="Google Shape;227;p11"/>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字コンテ提出のルール</a:t>
            </a:r>
            <a:endParaRPr b="0" i="0" sz="2100" u="none" cap="none" strike="noStrike">
              <a:solidFill>
                <a:schemeClr val="dk1"/>
              </a:solidFill>
              <a:latin typeface="Calibri"/>
              <a:ea typeface="Calibri"/>
              <a:cs typeface="Calibri"/>
              <a:sym typeface="Calibri"/>
            </a:endParaRPr>
          </a:p>
        </p:txBody>
      </p:sp>
      <p:sp>
        <p:nvSpPr>
          <p:cNvPr id="229" name="Google Shape;229;p11"/>
          <p:cNvSpPr/>
          <p:nvPr/>
        </p:nvSpPr>
        <p:spPr>
          <a:xfrm>
            <a:off x="310896" y="786384"/>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310896" y="786384"/>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a:off x="493776" y="886968"/>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493776" y="88696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233" name="Google Shape;233;p11"/>
          <p:cNvSpPr/>
          <p:nvPr/>
        </p:nvSpPr>
        <p:spPr>
          <a:xfrm>
            <a:off x="950976" y="786384"/>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TORIHADAが指定したテンプレートを必ず使用する（★Notionリンク参照）</a:t>
            </a:r>
            <a:endParaRPr b="0" i="0" sz="1450" u="none" cap="none" strike="noStrike">
              <a:solidFill>
                <a:schemeClr val="dk1"/>
              </a:solidFill>
              <a:latin typeface="Calibri"/>
              <a:ea typeface="Calibri"/>
              <a:cs typeface="Calibri"/>
              <a:sym typeface="Calibri"/>
            </a:endParaRPr>
          </a:p>
        </p:txBody>
      </p:sp>
      <p:sp>
        <p:nvSpPr>
          <p:cNvPr id="234" name="Google Shape;234;p11"/>
          <p:cNvSpPr/>
          <p:nvPr/>
        </p:nvSpPr>
        <p:spPr>
          <a:xfrm>
            <a:off x="310896" y="1417320"/>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a:off x="310896" y="1417320"/>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493776" y="1517904"/>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493776" y="151790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238" name="Google Shape;238;p11"/>
          <p:cNvSpPr/>
          <p:nvPr/>
        </p:nvSpPr>
        <p:spPr>
          <a:xfrm>
            <a:off x="950976" y="1417320"/>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冒頭フック・本題・CTA（行動促進）の3構成で書く</a:t>
            </a:r>
            <a:endParaRPr b="0" i="0" sz="1450" u="none" cap="none" strike="noStrike">
              <a:solidFill>
                <a:schemeClr val="dk1"/>
              </a:solidFill>
              <a:latin typeface="Calibri"/>
              <a:ea typeface="Calibri"/>
              <a:cs typeface="Calibri"/>
              <a:sym typeface="Calibri"/>
            </a:endParaRPr>
          </a:p>
        </p:txBody>
      </p:sp>
      <p:sp>
        <p:nvSpPr>
          <p:cNvPr id="239" name="Google Shape;239;p11"/>
          <p:cNvSpPr/>
          <p:nvPr/>
        </p:nvSpPr>
        <p:spPr>
          <a:xfrm>
            <a:off x="310896" y="2048256"/>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310896" y="2048256"/>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493776" y="2148840"/>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493776" y="214884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243" name="Google Shape;243;p11"/>
          <p:cNvSpPr/>
          <p:nvPr/>
        </p:nvSpPr>
        <p:spPr>
          <a:xfrm>
            <a:off x="950976" y="2048256"/>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曖昧な表現を避ける（「楽しい感じで」→「笑顔でテンポよく話す」）</a:t>
            </a:r>
            <a:endParaRPr b="0" i="0" sz="1450" u="none" cap="none" strike="noStrike">
              <a:solidFill>
                <a:schemeClr val="dk1"/>
              </a:solidFill>
              <a:latin typeface="Calibri"/>
              <a:ea typeface="Calibri"/>
              <a:cs typeface="Calibri"/>
              <a:sym typeface="Calibri"/>
            </a:endParaRPr>
          </a:p>
        </p:txBody>
      </p:sp>
      <p:sp>
        <p:nvSpPr>
          <p:cNvPr id="244" name="Google Shape;244;p11"/>
          <p:cNvSpPr/>
          <p:nvPr/>
        </p:nvSpPr>
        <p:spPr>
          <a:xfrm>
            <a:off x="310896" y="2679192"/>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310896" y="2679192"/>
            <a:ext cx="59436" cy="54864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493776" y="2779776"/>
            <a:ext cx="347472" cy="347472"/>
          </a:xfrm>
          <a:prstGeom prst="ellipse">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493776" y="2779776"/>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248" name="Google Shape;248;p11"/>
          <p:cNvSpPr/>
          <p:nvPr/>
        </p:nvSpPr>
        <p:spPr>
          <a:xfrm>
            <a:off x="950976" y="2679192"/>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提出期限を必ず守る（案件ごとにスケジュールを確認）</a:t>
            </a:r>
            <a:endParaRPr b="0" i="0" sz="1450" u="none" cap="none" strike="noStrike">
              <a:solidFill>
                <a:schemeClr val="dk1"/>
              </a:solidFill>
              <a:latin typeface="Calibri"/>
              <a:ea typeface="Calibri"/>
              <a:cs typeface="Calibri"/>
              <a:sym typeface="Calibri"/>
            </a:endParaRPr>
          </a:p>
        </p:txBody>
      </p:sp>
      <p:sp>
        <p:nvSpPr>
          <p:cNvPr id="249" name="Google Shape;249;p11"/>
          <p:cNvSpPr/>
          <p:nvPr/>
        </p:nvSpPr>
        <p:spPr>
          <a:xfrm>
            <a:off x="310896" y="3401568"/>
            <a:ext cx="8522208" cy="493776"/>
          </a:xfrm>
          <a:prstGeom prst="rect">
            <a:avLst/>
          </a:prstGeom>
          <a:solidFill>
            <a:srgbClr val="FEF3C7"/>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p:nvPr/>
        </p:nvSpPr>
        <p:spPr>
          <a:xfrm>
            <a:off x="457200" y="3401568"/>
            <a:ext cx="83210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300"/>
              <a:buFont typeface="Meiryo"/>
              <a:buNone/>
            </a:pPr>
            <a:r>
              <a:rPr b="1" i="0" lang="en-US" sz="1300" u="none" cap="none" strike="noStrike">
                <a:solidFill>
                  <a:srgbClr val="92400E"/>
                </a:solidFill>
                <a:latin typeface="Meiryo"/>
                <a:ea typeface="Meiryo"/>
                <a:cs typeface="Meiryo"/>
                <a:sym typeface="Meiryo"/>
              </a:rPr>
              <a:t>⚠️  字コンテは「合意の証明書」。あいまいなまま提出しないこと！</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55" name="Shape 255"/>
        <p:cNvGrpSpPr/>
        <p:nvPr/>
      </p:nvGrpSpPr>
      <p:grpSpPr>
        <a:xfrm>
          <a:off x="0" y="0"/>
          <a:ext cx="0" cy="0"/>
          <a:chOff x="0" y="0"/>
          <a:chExt cx="0" cy="0"/>
        </a:xfrm>
      </p:grpSpPr>
      <p:sp>
        <p:nvSpPr>
          <p:cNvPr id="256" name="Google Shape;256;p12"/>
          <p:cNvSpPr/>
          <p:nvPr/>
        </p:nvSpPr>
        <p:spPr>
          <a:xfrm>
            <a:off x="0" y="0"/>
            <a:ext cx="2743200"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2"/>
          <p:cNvSpPr/>
          <p:nvPr/>
        </p:nvSpPr>
        <p:spPr>
          <a:xfrm>
            <a:off x="237744" y="1005840"/>
            <a:ext cx="2286000" cy="210312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FFFFFF"/>
              </a:buClr>
              <a:buSzPts val="2600"/>
              <a:buFont typeface="Meiryo"/>
              <a:buNone/>
            </a:pPr>
            <a:r>
              <a:rPr b="1" i="0" lang="en-US" sz="2600" u="none" cap="none" strike="noStrike">
                <a:solidFill>
                  <a:srgbClr val="FFFFFF"/>
                </a:solidFill>
                <a:latin typeface="Meiryo"/>
                <a:ea typeface="Meiryo"/>
                <a:cs typeface="Meiryo"/>
                <a:sym typeface="Meiryo"/>
              </a:rPr>
              <a:t>まとめ</a:t>
            </a:r>
            <a:endParaRPr b="0" i="0" sz="2600" u="none" cap="none" strike="noStrike">
              <a:solidFill>
                <a:schemeClr val="dk1"/>
              </a:solidFill>
              <a:latin typeface="Calibri"/>
              <a:ea typeface="Calibri"/>
              <a:cs typeface="Calibri"/>
              <a:sym typeface="Calibri"/>
            </a:endParaRPr>
          </a:p>
        </p:txBody>
      </p:sp>
      <p:sp>
        <p:nvSpPr>
          <p:cNvPr id="258" name="Google Shape;258;p12"/>
          <p:cNvSpPr/>
          <p:nvPr/>
        </p:nvSpPr>
        <p:spPr>
          <a:xfrm>
            <a:off x="237744" y="4114800"/>
            <a:ext cx="22860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100"/>
              <a:buFont typeface="Meiryo"/>
              <a:buNone/>
            </a:pPr>
            <a:r>
              <a:rPr b="0" i="0" lang="en-US" sz="1100" u="none" cap="none" strike="noStrike">
                <a:solidFill>
                  <a:srgbClr val="A0B8D8"/>
                </a:solidFill>
                <a:latin typeface="Meiryo"/>
                <a:ea typeface="Meiryo"/>
                <a:cs typeface="Meiryo"/>
                <a:sym typeface="Meiryo"/>
              </a:rPr>
              <a:t>動画まとめ</a:t>
            </a:r>
            <a:endParaRPr b="0" i="0" sz="1100" u="none" cap="none" strike="noStrike">
              <a:solidFill>
                <a:schemeClr val="dk1"/>
              </a:solidFill>
              <a:latin typeface="Calibri"/>
              <a:ea typeface="Calibri"/>
              <a:cs typeface="Calibri"/>
              <a:sym typeface="Calibri"/>
            </a:endParaRPr>
          </a:p>
        </p:txBody>
      </p:sp>
      <p:sp>
        <p:nvSpPr>
          <p:cNvPr id="259" name="Google Shape;259;p12"/>
          <p:cNvSpPr/>
          <p:nvPr/>
        </p:nvSpPr>
        <p:spPr>
          <a:xfrm>
            <a:off x="2944368" y="329184"/>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2"/>
          <p:cNvSpPr/>
          <p:nvPr/>
        </p:nvSpPr>
        <p:spPr>
          <a:xfrm>
            <a:off x="3072384" y="329184"/>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01</a:t>
            </a:r>
            <a:endParaRPr b="0" i="0" sz="2000" u="none" cap="none" strike="noStrike">
              <a:solidFill>
                <a:schemeClr val="dk1"/>
              </a:solidFill>
              <a:latin typeface="Calibri"/>
              <a:ea typeface="Calibri"/>
              <a:cs typeface="Calibri"/>
              <a:sym typeface="Calibri"/>
            </a:endParaRPr>
          </a:p>
        </p:txBody>
      </p:sp>
      <p:sp>
        <p:nvSpPr>
          <p:cNvPr id="261" name="Google Shape;261;p12"/>
          <p:cNvSpPr/>
          <p:nvPr/>
        </p:nvSpPr>
        <p:spPr>
          <a:xfrm>
            <a:off x="3749040" y="329184"/>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字コンテ＝撮影前の「設計図」。省略すると撮り直しリスクが上がる</a:t>
            </a:r>
            <a:endParaRPr b="0" i="0" sz="1550" u="none" cap="none" strike="noStrike">
              <a:solidFill>
                <a:schemeClr val="dk1"/>
              </a:solidFill>
              <a:latin typeface="Calibri"/>
              <a:ea typeface="Calibri"/>
              <a:cs typeface="Calibri"/>
              <a:sym typeface="Calibri"/>
            </a:endParaRPr>
          </a:p>
        </p:txBody>
      </p:sp>
      <p:cxnSp>
        <p:nvCxnSpPr>
          <p:cNvPr id="262" name="Google Shape;262;p12"/>
          <p:cNvCxnSpPr/>
          <p:nvPr/>
        </p:nvCxnSpPr>
        <p:spPr>
          <a:xfrm>
            <a:off x="2944368" y="1216152"/>
            <a:ext cx="5925312" cy="0"/>
          </a:xfrm>
          <a:prstGeom prst="straightConnector1">
            <a:avLst/>
          </a:prstGeom>
          <a:noFill/>
          <a:ln cap="flat" cmpd="sng" w="9525">
            <a:solidFill>
              <a:srgbClr val="D1D5DB"/>
            </a:solidFill>
            <a:prstDash val="solid"/>
            <a:round/>
            <a:headEnd len="sm" w="sm" type="none"/>
            <a:tailEnd len="sm" w="sm" type="none"/>
          </a:ln>
        </p:spPr>
      </p:cxnSp>
      <p:sp>
        <p:nvSpPr>
          <p:cNvPr id="263" name="Google Shape;263;p12"/>
          <p:cNvSpPr/>
          <p:nvPr/>
        </p:nvSpPr>
        <p:spPr>
          <a:xfrm>
            <a:off x="2944368" y="1261872"/>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p:nvPr/>
        </p:nvSpPr>
        <p:spPr>
          <a:xfrm>
            <a:off x="3072384" y="1261872"/>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02</a:t>
            </a:r>
            <a:endParaRPr b="0" i="0" sz="2000" u="none" cap="none" strike="noStrike">
              <a:solidFill>
                <a:schemeClr val="dk1"/>
              </a:solidFill>
              <a:latin typeface="Calibri"/>
              <a:ea typeface="Calibri"/>
              <a:cs typeface="Calibri"/>
              <a:sym typeface="Calibri"/>
            </a:endParaRPr>
          </a:p>
        </p:txBody>
      </p:sp>
      <p:sp>
        <p:nvSpPr>
          <p:cNvPr id="265" name="Google Shape;265;p12"/>
          <p:cNvSpPr/>
          <p:nvPr/>
        </p:nvSpPr>
        <p:spPr>
          <a:xfrm>
            <a:off x="3749040" y="1261872"/>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字コンテで合意を取ることが「一発OK」の近道</a:t>
            </a:r>
            <a:endParaRPr b="0" i="0" sz="1550" u="none" cap="none" strike="noStrike">
              <a:solidFill>
                <a:schemeClr val="dk1"/>
              </a:solidFill>
              <a:latin typeface="Calibri"/>
              <a:ea typeface="Calibri"/>
              <a:cs typeface="Calibri"/>
              <a:sym typeface="Calibri"/>
            </a:endParaRPr>
          </a:p>
        </p:txBody>
      </p:sp>
      <p:cxnSp>
        <p:nvCxnSpPr>
          <p:cNvPr id="266" name="Google Shape;266;p12"/>
          <p:cNvCxnSpPr/>
          <p:nvPr/>
        </p:nvCxnSpPr>
        <p:spPr>
          <a:xfrm>
            <a:off x="2944368" y="2148840"/>
            <a:ext cx="5925312" cy="0"/>
          </a:xfrm>
          <a:prstGeom prst="straightConnector1">
            <a:avLst/>
          </a:prstGeom>
          <a:noFill/>
          <a:ln cap="flat" cmpd="sng" w="9525">
            <a:solidFill>
              <a:srgbClr val="D1D5DB"/>
            </a:solidFill>
            <a:prstDash val="solid"/>
            <a:round/>
            <a:headEnd len="sm" w="sm" type="none"/>
            <a:tailEnd len="sm" w="sm" type="none"/>
          </a:ln>
        </p:spPr>
      </p:cxnSp>
      <p:sp>
        <p:nvSpPr>
          <p:cNvPr id="267" name="Google Shape;267;p12"/>
          <p:cNvSpPr/>
          <p:nvPr/>
        </p:nvSpPr>
        <p:spPr>
          <a:xfrm>
            <a:off x="2944368" y="2194560"/>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3072384" y="2194560"/>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03</a:t>
            </a:r>
            <a:endParaRPr b="0" i="0" sz="2000" u="none" cap="none" strike="noStrike">
              <a:solidFill>
                <a:schemeClr val="dk1"/>
              </a:solidFill>
              <a:latin typeface="Calibri"/>
              <a:ea typeface="Calibri"/>
              <a:cs typeface="Calibri"/>
              <a:sym typeface="Calibri"/>
            </a:endParaRPr>
          </a:p>
        </p:txBody>
      </p:sp>
      <p:sp>
        <p:nvSpPr>
          <p:cNvPr id="269" name="Google Shape;269;p12"/>
          <p:cNvSpPr/>
          <p:nvPr/>
        </p:nvSpPr>
        <p:spPr>
          <a:xfrm>
            <a:off x="3749040" y="2194560"/>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テンプレート使用・期限厳守・具体的な表現が提出のルール</a:t>
            </a:r>
            <a:endParaRPr b="0" i="0" sz="1550" u="none" cap="none" strike="noStrike">
              <a:solidFill>
                <a:schemeClr val="dk1"/>
              </a:solidFill>
              <a:latin typeface="Calibri"/>
              <a:ea typeface="Calibri"/>
              <a:cs typeface="Calibri"/>
              <a:sym typeface="Calibri"/>
            </a:endParaRPr>
          </a:p>
        </p:txBody>
      </p:sp>
      <p:sp>
        <p:nvSpPr>
          <p:cNvPr id="270" name="Google Shape;270;p12"/>
          <p:cNvSpPr/>
          <p:nvPr/>
        </p:nvSpPr>
        <p:spPr>
          <a:xfrm>
            <a:off x="2944368" y="3273552"/>
            <a:ext cx="5925312" cy="65836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2"/>
          <p:cNvSpPr/>
          <p:nvPr/>
        </p:nvSpPr>
        <p:spPr>
          <a:xfrm>
            <a:off x="2944368" y="3273552"/>
            <a:ext cx="59436" cy="658368"/>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p:nvPr/>
        </p:nvSpPr>
        <p:spPr>
          <a:xfrm>
            <a:off x="3108960" y="3273552"/>
            <a:ext cx="5687568"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030"/>
              </a:buClr>
              <a:buSzPts val="1350"/>
              <a:buFont typeface="Meiryo"/>
              <a:buNone/>
            </a:pPr>
            <a:r>
              <a:rPr b="1" i="0" lang="en-US" sz="1350" u="none" cap="none" strike="noStrike">
                <a:solidFill>
                  <a:srgbClr val="E87030"/>
                </a:solidFill>
                <a:latin typeface="Meiryo"/>
                <a:ea typeface="Meiryo"/>
                <a:cs typeface="Meiryo"/>
                <a:sym typeface="Meiryo"/>
              </a:rPr>
              <a:t>▶  Next  |  動画③：撮影・編集のルール</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3"/>
          <p:cNvSpPr/>
          <p:nvPr/>
        </p:nvSpPr>
        <p:spPr>
          <a:xfrm>
            <a:off x="0" y="0"/>
            <a:ext cx="2907792"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p:nvPr/>
        </p:nvSpPr>
        <p:spPr>
          <a:xfrm>
            <a:off x="274320" y="475488"/>
            <a:ext cx="235915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500"/>
              <a:buFont typeface="Meiryo"/>
              <a:buNone/>
            </a:pPr>
            <a:r>
              <a:rPr b="1" i="0" lang="en-US" sz="1500" u="none" cap="none" strike="noStrike">
                <a:solidFill>
                  <a:srgbClr val="A0B8D8"/>
                </a:solidFill>
                <a:latin typeface="Meiryo"/>
                <a:ea typeface="Meiryo"/>
                <a:cs typeface="Meiryo"/>
                <a:sym typeface="Meiryo"/>
              </a:rPr>
              <a:t>第3章</a:t>
            </a:r>
            <a:endParaRPr b="0" i="0" sz="1500" u="none" cap="none" strike="noStrike">
              <a:solidFill>
                <a:schemeClr val="dk1"/>
              </a:solidFill>
              <a:latin typeface="Calibri"/>
              <a:ea typeface="Calibri"/>
              <a:cs typeface="Calibri"/>
              <a:sym typeface="Calibri"/>
            </a:endParaRPr>
          </a:p>
        </p:txBody>
      </p:sp>
      <p:sp>
        <p:nvSpPr>
          <p:cNvPr id="280" name="Google Shape;280;p13"/>
          <p:cNvSpPr/>
          <p:nvPr/>
        </p:nvSpPr>
        <p:spPr>
          <a:xfrm>
            <a:off x="274320" y="868680"/>
            <a:ext cx="2359152"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5000"/>
              <a:buFont typeface="Meiryo"/>
              <a:buNone/>
            </a:pPr>
            <a:r>
              <a:rPr b="1" i="0" lang="en-US" sz="5000" u="none" cap="none" strike="noStrike">
                <a:solidFill>
                  <a:srgbClr val="FFFFFF"/>
                </a:solidFill>
                <a:latin typeface="Meiryo"/>
                <a:ea typeface="Meiryo"/>
                <a:cs typeface="Meiryo"/>
                <a:sym typeface="Meiryo"/>
              </a:rPr>
              <a:t>動画③</a:t>
            </a:r>
            <a:endParaRPr b="0" i="0" sz="5000" u="none" cap="none" strike="noStrike">
              <a:solidFill>
                <a:schemeClr val="dk1"/>
              </a:solidFill>
              <a:latin typeface="Calibri"/>
              <a:ea typeface="Calibri"/>
              <a:cs typeface="Calibri"/>
              <a:sym typeface="Calibri"/>
            </a:endParaRPr>
          </a:p>
        </p:txBody>
      </p:sp>
      <p:sp>
        <p:nvSpPr>
          <p:cNvPr id="281" name="Google Shape;281;p13"/>
          <p:cNvSpPr/>
          <p:nvPr/>
        </p:nvSpPr>
        <p:spPr>
          <a:xfrm>
            <a:off x="274320" y="2011680"/>
            <a:ext cx="2359152"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300"/>
              <a:buFont typeface="Meiryo"/>
              <a:buNone/>
            </a:pPr>
            <a:r>
              <a:rPr b="0" i="0" lang="en-US" sz="1300" u="none" cap="none" strike="noStrike">
                <a:solidFill>
                  <a:srgbClr val="A0B8D8"/>
                </a:solidFill>
                <a:latin typeface="Meiryo"/>
                <a:ea typeface="Meiryo"/>
                <a:cs typeface="Meiryo"/>
                <a:sym typeface="Meiryo"/>
              </a:rPr>
              <a:t>進行フロー・ビジネス連絡</a:t>
            </a:r>
            <a:endParaRPr b="0" i="0" sz="1300" u="none" cap="none" strike="noStrike">
              <a:solidFill>
                <a:schemeClr val="dk1"/>
              </a:solidFill>
              <a:latin typeface="Calibri"/>
              <a:ea typeface="Calibri"/>
              <a:cs typeface="Calibri"/>
              <a:sym typeface="Calibri"/>
            </a:endParaRPr>
          </a:p>
        </p:txBody>
      </p:sp>
      <p:sp>
        <p:nvSpPr>
          <p:cNvPr id="282" name="Google Shape;282;p13"/>
          <p:cNvSpPr/>
          <p:nvPr/>
        </p:nvSpPr>
        <p:spPr>
          <a:xfrm>
            <a:off x="274320" y="2816352"/>
            <a:ext cx="1389888" cy="4023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3"/>
          <p:cNvSpPr/>
          <p:nvPr/>
        </p:nvSpPr>
        <p:spPr>
          <a:xfrm>
            <a:off x="274320" y="2816352"/>
            <a:ext cx="138988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eiryo"/>
              <a:buNone/>
            </a:pPr>
            <a:r>
              <a:rPr b="1" i="0" lang="en-US" sz="1300" u="none" cap="none" strike="noStrike">
                <a:solidFill>
                  <a:srgbClr val="FFFFFF"/>
                </a:solidFill>
                <a:latin typeface="Meiryo"/>
                <a:ea typeface="Meiryo"/>
                <a:cs typeface="Meiryo"/>
                <a:sym typeface="Meiryo"/>
              </a:rPr>
              <a:t>▶  約5分</a:t>
            </a:r>
            <a:endParaRPr b="0" i="0" sz="1300" u="none" cap="none" strike="noStrike">
              <a:solidFill>
                <a:schemeClr val="dk1"/>
              </a:solidFill>
              <a:latin typeface="Calibri"/>
              <a:ea typeface="Calibri"/>
              <a:cs typeface="Calibri"/>
              <a:sym typeface="Calibri"/>
            </a:endParaRPr>
          </a:p>
        </p:txBody>
      </p:sp>
      <p:sp>
        <p:nvSpPr>
          <p:cNvPr id="284" name="Google Shape;284;p13"/>
          <p:cNvSpPr/>
          <p:nvPr/>
        </p:nvSpPr>
        <p:spPr>
          <a:xfrm>
            <a:off x="3127248" y="219456"/>
            <a:ext cx="574243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800"/>
              <a:buFont typeface="Meiryo"/>
              <a:buNone/>
            </a:pPr>
            <a:r>
              <a:rPr b="0" i="0" lang="en-US" sz="800" u="none" cap="none" strike="noStrike">
                <a:solidFill>
                  <a:srgbClr val="1E3068"/>
                </a:solidFill>
                <a:latin typeface="Meiryo"/>
                <a:ea typeface="Meiryo"/>
                <a:cs typeface="Meiryo"/>
                <a:sym typeface="Meiryo"/>
              </a:rPr>
              <a:t>CREATOR NETWORK TRAINING</a:t>
            </a:r>
            <a:endParaRPr b="0" i="0" sz="800" u="none" cap="none" strike="noStrike">
              <a:solidFill>
                <a:schemeClr val="dk1"/>
              </a:solidFill>
              <a:latin typeface="Calibri"/>
              <a:ea typeface="Calibri"/>
              <a:cs typeface="Calibri"/>
              <a:sym typeface="Calibri"/>
            </a:endParaRPr>
          </a:p>
        </p:txBody>
      </p:sp>
      <p:sp>
        <p:nvSpPr>
          <p:cNvPr id="285" name="Google Shape;285;p13"/>
          <p:cNvSpPr/>
          <p:nvPr/>
        </p:nvSpPr>
        <p:spPr>
          <a:xfrm>
            <a:off x="3127248" y="621792"/>
            <a:ext cx="5577840" cy="260604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Clr>
                <a:srgbClr val="1E3068"/>
              </a:buClr>
              <a:buSzPts val="3800"/>
              <a:buFont typeface="Meiryo"/>
              <a:buNone/>
            </a:pPr>
            <a:r>
              <a:rPr b="1" i="0" lang="en-US" sz="3800" u="none" cap="none" strike="noStrike">
                <a:solidFill>
                  <a:srgbClr val="1E3068"/>
                </a:solidFill>
                <a:latin typeface="Meiryo"/>
                <a:ea typeface="Meiryo"/>
                <a:cs typeface="Meiryo"/>
                <a:sym typeface="Meiryo"/>
              </a:rPr>
              <a:t>撮影・編集の</a:t>
            </a:r>
            <a:endParaRPr b="0" i="0" sz="38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1E3068"/>
              </a:buClr>
              <a:buSzPts val="3800"/>
              <a:buFont typeface="Meiryo"/>
              <a:buNone/>
            </a:pPr>
            <a:r>
              <a:rPr b="1" i="0" lang="en-US" sz="3800" u="none" cap="none" strike="noStrike">
                <a:solidFill>
                  <a:srgbClr val="1E3068"/>
                </a:solidFill>
                <a:latin typeface="Meiryo"/>
                <a:ea typeface="Meiryo"/>
                <a:cs typeface="Meiryo"/>
                <a:sym typeface="Meiryo"/>
              </a:rPr>
              <a:t>ルール</a:t>
            </a:r>
            <a:endParaRPr b="0" i="0" sz="3800" u="none" cap="none" strike="noStrike">
              <a:solidFill>
                <a:schemeClr val="dk1"/>
              </a:solidFill>
              <a:latin typeface="Calibri"/>
              <a:ea typeface="Calibri"/>
              <a:cs typeface="Calibri"/>
              <a:sym typeface="Calibri"/>
            </a:endParaRPr>
          </a:p>
        </p:txBody>
      </p:sp>
      <p:sp>
        <p:nvSpPr>
          <p:cNvPr id="286" name="Google Shape;286;p13"/>
          <p:cNvSpPr/>
          <p:nvPr/>
        </p:nvSpPr>
        <p:spPr>
          <a:xfrm>
            <a:off x="3127248" y="3364992"/>
            <a:ext cx="1920240"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3"/>
          <p:cNvSpPr/>
          <p:nvPr/>
        </p:nvSpPr>
        <p:spPr>
          <a:xfrm>
            <a:off x="3127248" y="3529584"/>
            <a:ext cx="5577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400"/>
              <a:buFont typeface="Meiryo"/>
              <a:buNone/>
            </a:pPr>
            <a:r>
              <a:rPr b="0" i="0" lang="en-US" sz="1400" u="none" cap="none" strike="noStrike">
                <a:solidFill>
                  <a:srgbClr val="6B7280"/>
                </a:solidFill>
                <a:latin typeface="Meiryo"/>
                <a:ea typeface="Meiryo"/>
                <a:cs typeface="Meiryo"/>
                <a:sym typeface="Meiryo"/>
              </a:rPr>
              <a:t>クリエイターネットワーク研修</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92" name="Shape 292"/>
        <p:cNvGrpSpPr/>
        <p:nvPr/>
      </p:nvGrpSpPr>
      <p:grpSpPr>
        <a:xfrm>
          <a:off x="0" y="0"/>
          <a:ext cx="0" cy="0"/>
          <a:chOff x="0" y="0"/>
          <a:chExt cx="0" cy="0"/>
        </a:xfrm>
      </p:grpSpPr>
      <p:sp>
        <p:nvSpPr>
          <p:cNvPr id="293" name="Google Shape;293;p14"/>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4"/>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この動画で学ぶこと</a:t>
            </a:r>
            <a:endParaRPr b="0" i="0" sz="2100" u="none" cap="none" strike="noStrike">
              <a:solidFill>
                <a:schemeClr val="dk1"/>
              </a:solidFill>
              <a:latin typeface="Calibri"/>
              <a:ea typeface="Calibri"/>
              <a:cs typeface="Calibri"/>
              <a:sym typeface="Calibri"/>
            </a:endParaRPr>
          </a:p>
        </p:txBody>
      </p:sp>
      <p:sp>
        <p:nvSpPr>
          <p:cNvPr id="295" name="Google Shape;295;p14"/>
          <p:cNvSpPr/>
          <p:nvPr/>
        </p:nvSpPr>
        <p:spPr>
          <a:xfrm>
            <a:off x="310896"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4"/>
          <p:cNvSpPr/>
          <p:nvPr/>
        </p:nvSpPr>
        <p:spPr>
          <a:xfrm>
            <a:off x="310896"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4"/>
          <p:cNvSpPr/>
          <p:nvPr/>
        </p:nvSpPr>
        <p:spPr>
          <a:xfrm>
            <a:off x="566928"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298" name="Google Shape;298;p14"/>
          <p:cNvSpPr/>
          <p:nvPr/>
        </p:nvSpPr>
        <p:spPr>
          <a:xfrm>
            <a:off x="512064"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字コンテFIX後の</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鉄則</a:t>
            </a:r>
            <a:endParaRPr b="0" i="0" sz="1550" u="none" cap="none" strike="noStrike">
              <a:solidFill>
                <a:schemeClr val="dk1"/>
              </a:solidFill>
              <a:latin typeface="Calibri"/>
              <a:ea typeface="Calibri"/>
              <a:cs typeface="Calibri"/>
              <a:sym typeface="Calibri"/>
            </a:endParaRPr>
          </a:p>
        </p:txBody>
      </p:sp>
      <p:sp>
        <p:nvSpPr>
          <p:cNvPr id="299" name="Google Shape;299;p14"/>
          <p:cNvSpPr/>
          <p:nvPr/>
        </p:nvSpPr>
        <p:spPr>
          <a:xfrm>
            <a:off x="512064"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FIX＝確定。</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勝手に変えると</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トラブルになる</a:t>
            </a:r>
            <a:endParaRPr b="0" i="0" sz="1300" u="none" cap="none" strike="noStrike">
              <a:solidFill>
                <a:schemeClr val="dk1"/>
              </a:solidFill>
              <a:latin typeface="Calibri"/>
              <a:ea typeface="Calibri"/>
              <a:cs typeface="Calibri"/>
              <a:sym typeface="Calibri"/>
            </a:endParaRPr>
          </a:p>
        </p:txBody>
      </p:sp>
      <p:sp>
        <p:nvSpPr>
          <p:cNvPr id="300" name="Google Shape;300;p14"/>
          <p:cNvSpPr/>
          <p:nvPr/>
        </p:nvSpPr>
        <p:spPr>
          <a:xfrm>
            <a:off x="3081528"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4"/>
          <p:cNvSpPr/>
          <p:nvPr/>
        </p:nvSpPr>
        <p:spPr>
          <a:xfrm>
            <a:off x="3081528"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4"/>
          <p:cNvSpPr/>
          <p:nvPr/>
        </p:nvSpPr>
        <p:spPr>
          <a:xfrm>
            <a:off x="3337560"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303" name="Google Shape;303;p14"/>
          <p:cNvSpPr/>
          <p:nvPr/>
        </p:nvSpPr>
        <p:spPr>
          <a:xfrm>
            <a:off x="3282696"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セーフティーゾーン</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とは</a:t>
            </a:r>
            <a:endParaRPr b="0" i="0" sz="1550" u="none" cap="none" strike="noStrike">
              <a:solidFill>
                <a:schemeClr val="dk1"/>
              </a:solidFill>
              <a:latin typeface="Calibri"/>
              <a:ea typeface="Calibri"/>
              <a:cs typeface="Calibri"/>
              <a:sym typeface="Calibri"/>
            </a:endParaRPr>
          </a:p>
        </p:txBody>
      </p:sp>
      <p:sp>
        <p:nvSpPr>
          <p:cNvPr id="304" name="Google Shape;304;p14"/>
          <p:cNvSpPr/>
          <p:nvPr/>
        </p:nvSpPr>
        <p:spPr>
          <a:xfrm>
            <a:off x="3282696"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UIに隠れない</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安全なテキスト</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表示エリア</a:t>
            </a:r>
            <a:endParaRPr b="0" i="0" sz="1300" u="none" cap="none" strike="noStrike">
              <a:solidFill>
                <a:schemeClr val="dk1"/>
              </a:solidFill>
              <a:latin typeface="Calibri"/>
              <a:ea typeface="Calibri"/>
              <a:cs typeface="Calibri"/>
              <a:sym typeface="Calibri"/>
            </a:endParaRPr>
          </a:p>
        </p:txBody>
      </p:sp>
      <p:sp>
        <p:nvSpPr>
          <p:cNvPr id="305" name="Google Shape;305;p14"/>
          <p:cNvSpPr/>
          <p:nvPr/>
        </p:nvSpPr>
        <p:spPr>
          <a:xfrm>
            <a:off x="5852160"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
          <p:cNvSpPr/>
          <p:nvPr/>
        </p:nvSpPr>
        <p:spPr>
          <a:xfrm>
            <a:off x="5852160"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a:off x="6108192"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308" name="Google Shape;308;p14"/>
          <p:cNvSpPr/>
          <p:nvPr/>
        </p:nvSpPr>
        <p:spPr>
          <a:xfrm>
            <a:off x="6053328"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下書き画面録画</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とカバー画像</a:t>
            </a:r>
            <a:endParaRPr b="0" i="0" sz="1550" u="none" cap="none" strike="noStrike">
              <a:solidFill>
                <a:schemeClr val="dk1"/>
              </a:solidFill>
              <a:latin typeface="Calibri"/>
              <a:ea typeface="Calibri"/>
              <a:cs typeface="Calibri"/>
              <a:sym typeface="Calibri"/>
            </a:endParaRPr>
          </a:p>
        </p:txBody>
      </p:sp>
      <p:sp>
        <p:nvSpPr>
          <p:cNvPr id="309" name="Google Shape;309;p14"/>
          <p:cNvSpPr/>
          <p:nvPr/>
        </p:nvSpPr>
        <p:spPr>
          <a:xfrm>
            <a:off x="6053328"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提出前の最終確認</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とサムネイルの</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ルール</a:t>
            </a:r>
            <a:endParaRPr b="0" i="0" sz="1300" u="none" cap="none" strike="noStrike">
              <a:solidFill>
                <a:schemeClr val="dk1"/>
              </a:solidFill>
              <a:latin typeface="Calibri"/>
              <a:ea typeface="Calibri"/>
              <a:cs typeface="Calibri"/>
              <a:sym typeface="Calibri"/>
            </a:endParaRPr>
          </a:p>
        </p:txBody>
      </p:sp>
      <p:sp>
        <p:nvSpPr>
          <p:cNvPr id="310" name="Google Shape;310;p14"/>
          <p:cNvSpPr/>
          <p:nvPr/>
        </p:nvSpPr>
        <p:spPr>
          <a:xfrm>
            <a:off x="2140055" y="884713"/>
            <a:ext cx="859200" cy="480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t/>
            </a:r>
            <a:endParaRPr b="1" sz="2400">
              <a:solidFill>
                <a:srgbClr val="D1D5DB"/>
              </a:solidFill>
              <a:latin typeface="Meiryo"/>
              <a:ea typeface="Meiryo"/>
              <a:cs typeface="Meiryo"/>
              <a:sym typeface="Meiryo"/>
            </a:endParaRPr>
          </a:p>
          <a:p>
            <a:pPr indent="0" lvl="0" marL="0" marR="0" rtl="0" algn="r">
              <a:spcBef>
                <a:spcPts val="0"/>
              </a:spcBef>
              <a:spcAft>
                <a:spcPts val="0"/>
              </a:spcAft>
              <a:buClr>
                <a:srgbClr val="D1D5DB"/>
              </a:buClr>
              <a:buSzPts val="2400"/>
              <a:buFont typeface="Meiryo"/>
              <a:buNone/>
            </a:pPr>
            <a:r>
              <a:rPr b="1" lang="en-US" sz="2400">
                <a:solidFill>
                  <a:srgbClr val="D1D5DB"/>
                </a:solidFill>
                <a:latin typeface="Meiryo"/>
                <a:ea typeface="Meiryo"/>
                <a:cs typeface="Meiryo"/>
                <a:sym typeface="Meiryo"/>
              </a:rPr>
              <a:t>0</a:t>
            </a:r>
            <a:r>
              <a:rPr b="1" i="0" lang="en-US" sz="2400" u="none" cap="none" strike="noStrike">
                <a:solidFill>
                  <a:srgbClr val="D1D5DB"/>
                </a:solidFill>
                <a:latin typeface="Meiryo"/>
                <a:ea typeface="Meiryo"/>
                <a:cs typeface="Meiryo"/>
                <a:sym typeface="Meiryo"/>
              </a:rPr>
              <a:t>1</a:t>
            </a:r>
            <a:endParaRPr b="0" i="0" sz="2400" u="none" cap="none" strike="noStrike">
              <a:solidFill>
                <a:schemeClr val="dk1"/>
              </a:solidFill>
              <a:latin typeface="Calibri"/>
              <a:ea typeface="Calibri"/>
              <a:cs typeface="Calibri"/>
              <a:sym typeface="Calibri"/>
            </a:endParaRPr>
          </a:p>
        </p:txBody>
      </p:sp>
      <p:sp>
        <p:nvSpPr>
          <p:cNvPr id="311" name="Google Shape;311;p14"/>
          <p:cNvSpPr/>
          <p:nvPr/>
        </p:nvSpPr>
        <p:spPr>
          <a:xfrm>
            <a:off x="5074926" y="1101862"/>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02</a:t>
            </a:r>
            <a:endParaRPr b="0" i="0" sz="2400" u="none" cap="none" strike="noStrike">
              <a:solidFill>
                <a:schemeClr val="dk1"/>
              </a:solidFill>
              <a:latin typeface="Calibri"/>
              <a:ea typeface="Calibri"/>
              <a:cs typeface="Calibri"/>
              <a:sym typeface="Calibri"/>
            </a:endParaRPr>
          </a:p>
        </p:txBody>
      </p:sp>
      <p:sp>
        <p:nvSpPr>
          <p:cNvPr id="312" name="Google Shape;312;p14"/>
          <p:cNvSpPr/>
          <p:nvPr/>
        </p:nvSpPr>
        <p:spPr>
          <a:xfrm>
            <a:off x="7845550" y="1101862"/>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03</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317" name="Shape 317"/>
        <p:cNvGrpSpPr/>
        <p:nvPr/>
      </p:nvGrpSpPr>
      <p:grpSpPr>
        <a:xfrm>
          <a:off x="0" y="0"/>
          <a:ext cx="0" cy="0"/>
          <a:chOff x="0" y="0"/>
          <a:chExt cx="0" cy="0"/>
        </a:xfrm>
      </p:grpSpPr>
      <p:sp>
        <p:nvSpPr>
          <p:cNvPr id="318" name="Google Shape;318;p15"/>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FIXした字コンテ通りに作る</a:t>
            </a:r>
            <a:endParaRPr b="0" i="0" sz="2100" u="none" cap="none" strike="noStrike">
              <a:solidFill>
                <a:schemeClr val="dk1"/>
              </a:solidFill>
              <a:latin typeface="Calibri"/>
              <a:ea typeface="Calibri"/>
              <a:cs typeface="Calibri"/>
              <a:sym typeface="Calibri"/>
            </a:endParaRPr>
          </a:p>
        </p:txBody>
      </p:sp>
      <p:sp>
        <p:nvSpPr>
          <p:cNvPr id="320" name="Google Shape;320;p15"/>
          <p:cNvSpPr/>
          <p:nvPr/>
        </p:nvSpPr>
        <p:spPr>
          <a:xfrm>
            <a:off x="310896" y="804672"/>
            <a:ext cx="8522208" cy="749808"/>
          </a:xfrm>
          <a:prstGeom prst="rect">
            <a:avLst/>
          </a:prstGeom>
          <a:solidFill>
            <a:srgbClr val="E8EAF6"/>
          </a:solidFill>
          <a:ln cap="flat" cmpd="sng" w="9525">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310896" y="804672"/>
            <a:ext cx="59436" cy="74980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5"/>
          <p:cNvSpPr/>
          <p:nvPr/>
        </p:nvSpPr>
        <p:spPr>
          <a:xfrm>
            <a:off x="493776" y="804672"/>
            <a:ext cx="82296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  「FIX」＝確定。変更したい場合は必ず事前に担当者へ確認！</a:t>
            </a:r>
            <a:endParaRPr b="0" i="0" sz="1550" u="none" cap="none" strike="noStrike">
              <a:solidFill>
                <a:schemeClr val="dk1"/>
              </a:solidFill>
              <a:latin typeface="Calibri"/>
              <a:ea typeface="Calibri"/>
              <a:cs typeface="Calibri"/>
              <a:sym typeface="Calibri"/>
            </a:endParaRPr>
          </a:p>
        </p:txBody>
      </p:sp>
      <p:sp>
        <p:nvSpPr>
          <p:cNvPr id="323" name="Google Shape;323;p15"/>
          <p:cNvSpPr/>
          <p:nvPr/>
        </p:nvSpPr>
        <p:spPr>
          <a:xfrm>
            <a:off x="310896" y="166420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p:nvPr/>
        </p:nvSpPr>
        <p:spPr>
          <a:xfrm>
            <a:off x="310896" y="166420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493776" y="166420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NG：「自分がよいと思ったから」と勝手に内容を変える</a:t>
            </a:r>
            <a:endParaRPr b="0" i="0" sz="1450" u="none" cap="none" strike="noStrike">
              <a:solidFill>
                <a:schemeClr val="dk1"/>
              </a:solidFill>
              <a:latin typeface="Calibri"/>
              <a:ea typeface="Calibri"/>
              <a:cs typeface="Calibri"/>
              <a:sym typeface="Calibri"/>
            </a:endParaRPr>
          </a:p>
        </p:txBody>
      </p:sp>
      <p:sp>
        <p:nvSpPr>
          <p:cNvPr id="326" name="Google Shape;326;p15"/>
          <p:cNvSpPr/>
          <p:nvPr/>
        </p:nvSpPr>
        <p:spPr>
          <a:xfrm>
            <a:off x="310896" y="239572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310896" y="239572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a:off x="493776" y="239572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NG：「このシーンいらないかな」と勝手に省略する</a:t>
            </a:r>
            <a:endParaRPr b="0" i="0" sz="1450" u="none" cap="none" strike="noStrike">
              <a:solidFill>
                <a:schemeClr val="dk1"/>
              </a:solidFill>
              <a:latin typeface="Calibri"/>
              <a:ea typeface="Calibri"/>
              <a:cs typeface="Calibri"/>
              <a:sym typeface="Calibri"/>
            </a:endParaRPr>
          </a:p>
        </p:txBody>
      </p:sp>
      <p:sp>
        <p:nvSpPr>
          <p:cNvPr id="329" name="Google Shape;329;p15"/>
          <p:cNvSpPr/>
          <p:nvPr/>
        </p:nvSpPr>
        <p:spPr>
          <a:xfrm>
            <a:off x="310896" y="312724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a:off x="310896" y="312724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5"/>
          <p:cNvSpPr/>
          <p:nvPr/>
        </p:nvSpPr>
        <p:spPr>
          <a:xfrm>
            <a:off x="493776" y="312724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OK：変更したい場合は撮影前に担当者に相談・合意を取る</a:t>
            </a:r>
            <a:endParaRPr b="0" i="0" sz="1450" u="none" cap="none" strike="noStrike">
              <a:solidFill>
                <a:schemeClr val="dk1"/>
              </a:solidFill>
              <a:latin typeface="Calibri"/>
              <a:ea typeface="Calibri"/>
              <a:cs typeface="Calibri"/>
              <a:sym typeface="Calibri"/>
            </a:endParaRPr>
          </a:p>
        </p:txBody>
      </p:sp>
      <p:sp>
        <p:nvSpPr>
          <p:cNvPr id="332" name="Google Shape;332;p15"/>
          <p:cNvSpPr/>
          <p:nvPr/>
        </p:nvSpPr>
        <p:spPr>
          <a:xfrm>
            <a:off x="310896" y="3950208"/>
            <a:ext cx="8522208" cy="47548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
          <p:cNvSpPr/>
          <p:nvPr/>
        </p:nvSpPr>
        <p:spPr>
          <a:xfrm>
            <a:off x="457200" y="3950208"/>
            <a:ext cx="8321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250"/>
              <a:buFont typeface="Meiryo"/>
              <a:buNone/>
            </a:pPr>
            <a:r>
              <a:rPr b="0" i="0" lang="en-US" sz="1250" u="none" cap="none" strike="noStrike">
                <a:solidFill>
                  <a:srgbClr val="B45309"/>
                </a:solidFill>
                <a:latin typeface="Meiryo"/>
                <a:ea typeface="Meiryo"/>
                <a:cs typeface="Meiryo"/>
                <a:sym typeface="Meiryo"/>
              </a:rPr>
              <a:t>💡  FIX（Fix）＝固定・確定の意味。業界でよく使われる言葉です</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338" name="Shape 338"/>
        <p:cNvGrpSpPr/>
        <p:nvPr/>
      </p:nvGrpSpPr>
      <p:grpSpPr>
        <a:xfrm>
          <a:off x="0" y="0"/>
          <a:ext cx="0" cy="0"/>
          <a:chOff x="0" y="0"/>
          <a:chExt cx="0" cy="0"/>
        </a:xfrm>
      </p:grpSpPr>
      <p:sp>
        <p:nvSpPr>
          <p:cNvPr id="339" name="Google Shape;339;p16"/>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6"/>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セーフティーゾーンって何？</a:t>
            </a:r>
            <a:endParaRPr b="0" i="0" sz="2100" u="none" cap="none" strike="noStrike">
              <a:solidFill>
                <a:schemeClr val="dk1"/>
              </a:solidFill>
              <a:latin typeface="Calibri"/>
              <a:ea typeface="Calibri"/>
              <a:cs typeface="Calibri"/>
              <a:sym typeface="Calibri"/>
            </a:endParaRPr>
          </a:p>
        </p:txBody>
      </p:sp>
      <p:sp>
        <p:nvSpPr>
          <p:cNvPr id="341" name="Google Shape;341;p16"/>
          <p:cNvSpPr/>
          <p:nvPr/>
        </p:nvSpPr>
        <p:spPr>
          <a:xfrm>
            <a:off x="310896" y="804672"/>
            <a:ext cx="8522208" cy="74980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6"/>
          <p:cNvSpPr/>
          <p:nvPr/>
        </p:nvSpPr>
        <p:spPr>
          <a:xfrm>
            <a:off x="310896" y="804672"/>
            <a:ext cx="59436" cy="749808"/>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6"/>
          <p:cNvSpPr/>
          <p:nvPr/>
        </p:nvSpPr>
        <p:spPr>
          <a:xfrm>
            <a:off x="493776" y="804672"/>
            <a:ext cx="82296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450"/>
              <a:buFont typeface="Meiryo"/>
              <a:buNone/>
            </a:pPr>
            <a:r>
              <a:rPr b="1" i="0" lang="en-US" sz="1450" u="none" cap="none" strike="noStrike">
                <a:solidFill>
                  <a:srgbClr val="B45309"/>
                </a:solidFill>
                <a:latin typeface="Meiryo"/>
                <a:ea typeface="Meiryo"/>
                <a:cs typeface="Meiryo"/>
                <a:sym typeface="Meiryo"/>
              </a:rPr>
              <a:t>📌  投稿したときに「いいね・コメント・フォロー」等のUIに隠れない、安全なテキスト表示エリア</a:t>
            </a:r>
            <a:endParaRPr b="0" i="0" sz="1450" u="none" cap="none" strike="noStrike">
              <a:solidFill>
                <a:schemeClr val="dk1"/>
              </a:solidFill>
              <a:latin typeface="Calibri"/>
              <a:ea typeface="Calibri"/>
              <a:cs typeface="Calibri"/>
              <a:sym typeface="Calibri"/>
            </a:endParaRPr>
          </a:p>
        </p:txBody>
      </p:sp>
      <p:sp>
        <p:nvSpPr>
          <p:cNvPr id="344" name="Google Shape;344;p16"/>
          <p:cNvSpPr/>
          <p:nvPr/>
        </p:nvSpPr>
        <p:spPr>
          <a:xfrm>
            <a:off x="310896" y="166420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6"/>
          <p:cNvSpPr/>
          <p:nvPr/>
        </p:nvSpPr>
        <p:spPr>
          <a:xfrm>
            <a:off x="310896" y="166420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6"/>
          <p:cNvSpPr/>
          <p:nvPr/>
        </p:nvSpPr>
        <p:spPr>
          <a:xfrm>
            <a:off x="493776" y="166420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TikTok：画面の上下左右に一定のマージンが必要（★Notionで詳細確認）</a:t>
            </a:r>
            <a:endParaRPr b="0" i="0" sz="1450" u="none" cap="none" strike="noStrike">
              <a:solidFill>
                <a:schemeClr val="dk1"/>
              </a:solidFill>
              <a:latin typeface="Calibri"/>
              <a:ea typeface="Calibri"/>
              <a:cs typeface="Calibri"/>
              <a:sym typeface="Calibri"/>
            </a:endParaRPr>
          </a:p>
        </p:txBody>
      </p:sp>
      <p:sp>
        <p:nvSpPr>
          <p:cNvPr id="347" name="Google Shape;347;p16"/>
          <p:cNvSpPr/>
          <p:nvPr/>
        </p:nvSpPr>
        <p:spPr>
          <a:xfrm>
            <a:off x="310896" y="239572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6"/>
          <p:cNvSpPr/>
          <p:nvPr/>
        </p:nvSpPr>
        <p:spPr>
          <a:xfrm>
            <a:off x="310896" y="239572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6"/>
          <p:cNvSpPr/>
          <p:nvPr/>
        </p:nvSpPr>
        <p:spPr>
          <a:xfrm>
            <a:off x="493776" y="239572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Instagram Reels：フィード表示時のトリミング範囲に注意</a:t>
            </a:r>
            <a:endParaRPr b="0" i="0" sz="1450" u="none" cap="none" strike="noStrike">
              <a:solidFill>
                <a:schemeClr val="dk1"/>
              </a:solidFill>
              <a:latin typeface="Calibri"/>
              <a:ea typeface="Calibri"/>
              <a:cs typeface="Calibri"/>
              <a:sym typeface="Calibri"/>
            </a:endParaRPr>
          </a:p>
        </p:txBody>
      </p:sp>
      <p:sp>
        <p:nvSpPr>
          <p:cNvPr id="350" name="Google Shape;350;p16"/>
          <p:cNvSpPr/>
          <p:nvPr/>
        </p:nvSpPr>
        <p:spPr>
          <a:xfrm>
            <a:off x="310896" y="312724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6"/>
          <p:cNvSpPr/>
          <p:nvPr/>
        </p:nvSpPr>
        <p:spPr>
          <a:xfrm>
            <a:off x="310896" y="312724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6"/>
          <p:cNvSpPr/>
          <p:nvPr/>
        </p:nvSpPr>
        <p:spPr>
          <a:xfrm>
            <a:off x="493776" y="312724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テロップ・ブランドロゴ・重要テキストは必ずセーフティーゾーン内に配置</a:t>
            </a:r>
            <a:endParaRPr b="0" i="0" sz="1450" u="none" cap="none" strike="noStrike">
              <a:solidFill>
                <a:schemeClr val="dk1"/>
              </a:solidFill>
              <a:latin typeface="Calibri"/>
              <a:ea typeface="Calibri"/>
              <a:cs typeface="Calibri"/>
              <a:sym typeface="Calibri"/>
            </a:endParaRPr>
          </a:p>
        </p:txBody>
      </p:sp>
      <p:sp>
        <p:nvSpPr>
          <p:cNvPr id="353" name="Google Shape;353;p16"/>
          <p:cNvSpPr/>
          <p:nvPr/>
        </p:nvSpPr>
        <p:spPr>
          <a:xfrm>
            <a:off x="310896" y="3931920"/>
            <a:ext cx="8522208"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200"/>
              <a:buFont typeface="Meiryo"/>
              <a:buNone/>
            </a:pPr>
            <a:r>
              <a:rPr b="0" i="1" lang="en-US" sz="1200" u="none" cap="none" strike="noStrike">
                <a:solidFill>
                  <a:srgbClr val="6B7280"/>
                </a:solidFill>
                <a:latin typeface="Meiryo"/>
                <a:ea typeface="Meiryo"/>
                <a:cs typeface="Meiryo"/>
                <a:sym typeface="Meiryo"/>
              </a:rPr>
              <a:t>★  はみ出した状態で提出するとやり直しになります。Notionのルールページを必ず確認！</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358" name="Shape 358"/>
        <p:cNvGrpSpPr/>
        <p:nvPr/>
      </p:nvGrpSpPr>
      <p:grpSpPr>
        <a:xfrm>
          <a:off x="0" y="0"/>
          <a:ext cx="0" cy="0"/>
          <a:chOff x="0" y="0"/>
          <a:chExt cx="0" cy="0"/>
        </a:xfrm>
      </p:grpSpPr>
      <p:sp>
        <p:nvSpPr>
          <p:cNvPr id="359" name="Google Shape;359;p17"/>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7"/>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下書き画面録画＝「実際の投稿イメージ」確認</a:t>
            </a:r>
            <a:endParaRPr b="0" i="0" sz="2100" u="none" cap="none" strike="noStrike">
              <a:solidFill>
                <a:schemeClr val="dk1"/>
              </a:solidFill>
              <a:latin typeface="Calibri"/>
              <a:ea typeface="Calibri"/>
              <a:cs typeface="Calibri"/>
              <a:sym typeface="Calibri"/>
            </a:endParaRPr>
          </a:p>
        </p:txBody>
      </p:sp>
      <p:sp>
        <p:nvSpPr>
          <p:cNvPr id="361" name="Google Shape;361;p17"/>
          <p:cNvSpPr/>
          <p:nvPr/>
        </p:nvSpPr>
        <p:spPr>
          <a:xfrm>
            <a:off x="310896" y="804672"/>
            <a:ext cx="8522208" cy="74980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7"/>
          <p:cNvSpPr/>
          <p:nvPr/>
        </p:nvSpPr>
        <p:spPr>
          <a:xfrm>
            <a:off x="310896" y="804672"/>
            <a:ext cx="59436" cy="749808"/>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7"/>
          <p:cNvSpPr/>
          <p:nvPr/>
        </p:nvSpPr>
        <p:spPr>
          <a:xfrm>
            <a:off x="493776" y="804672"/>
            <a:ext cx="82296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450"/>
              <a:buFont typeface="Meiryo"/>
              <a:buNone/>
            </a:pPr>
            <a:r>
              <a:rPr b="1" i="0" lang="en-US" sz="1450" u="none" cap="none" strike="noStrike">
                <a:solidFill>
                  <a:srgbClr val="B45309"/>
                </a:solidFill>
                <a:latin typeface="Meiryo"/>
                <a:ea typeface="Meiryo"/>
                <a:cs typeface="Meiryo"/>
                <a:sym typeface="Meiryo"/>
              </a:rPr>
              <a:t>📌  TikTok・Instagramのアプリ内で下書き状態にし、その画面をスマホで録画したもの</a:t>
            </a:r>
            <a:endParaRPr b="0" i="0" sz="1450" u="none" cap="none" strike="noStrike">
              <a:solidFill>
                <a:schemeClr val="dk1"/>
              </a:solidFill>
              <a:latin typeface="Calibri"/>
              <a:ea typeface="Calibri"/>
              <a:cs typeface="Calibri"/>
              <a:sym typeface="Calibri"/>
            </a:endParaRPr>
          </a:p>
        </p:txBody>
      </p:sp>
      <p:sp>
        <p:nvSpPr>
          <p:cNvPr id="364" name="Google Shape;364;p17"/>
          <p:cNvSpPr/>
          <p:nvPr/>
        </p:nvSpPr>
        <p:spPr>
          <a:xfrm>
            <a:off x="310896" y="166420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7"/>
          <p:cNvSpPr/>
          <p:nvPr/>
        </p:nvSpPr>
        <p:spPr>
          <a:xfrm>
            <a:off x="310896" y="166420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7"/>
          <p:cNvSpPr/>
          <p:nvPr/>
        </p:nvSpPr>
        <p:spPr>
          <a:xfrm>
            <a:off x="493776" y="166420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編集ソフトの書き出し動画とアプリ内の見え方が異なる場合がある</a:t>
            </a:r>
            <a:endParaRPr b="0" i="0" sz="1450" u="none" cap="none" strike="noStrike">
              <a:solidFill>
                <a:schemeClr val="dk1"/>
              </a:solidFill>
              <a:latin typeface="Calibri"/>
              <a:ea typeface="Calibri"/>
              <a:cs typeface="Calibri"/>
              <a:sym typeface="Calibri"/>
            </a:endParaRPr>
          </a:p>
        </p:txBody>
      </p:sp>
      <p:sp>
        <p:nvSpPr>
          <p:cNvPr id="367" name="Google Shape;367;p17"/>
          <p:cNvSpPr/>
          <p:nvPr/>
        </p:nvSpPr>
        <p:spPr>
          <a:xfrm>
            <a:off x="310896" y="239572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310896" y="239572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7"/>
          <p:cNvSpPr/>
          <p:nvPr/>
        </p:nvSpPr>
        <p:spPr>
          <a:xfrm>
            <a:off x="493776" y="239572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テロップ位置・フォント・BGM・エフェクトをアプリ上で確認</a:t>
            </a:r>
            <a:endParaRPr b="0" i="0" sz="1450" u="none" cap="none" strike="noStrike">
              <a:solidFill>
                <a:schemeClr val="dk1"/>
              </a:solidFill>
              <a:latin typeface="Calibri"/>
              <a:ea typeface="Calibri"/>
              <a:cs typeface="Calibri"/>
              <a:sym typeface="Calibri"/>
            </a:endParaRPr>
          </a:p>
        </p:txBody>
      </p:sp>
      <p:sp>
        <p:nvSpPr>
          <p:cNvPr id="370" name="Google Shape;370;p17"/>
          <p:cNvSpPr/>
          <p:nvPr/>
        </p:nvSpPr>
        <p:spPr>
          <a:xfrm>
            <a:off x="310896" y="312724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310896" y="312724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7"/>
          <p:cNvSpPr/>
          <p:nvPr/>
        </p:nvSpPr>
        <p:spPr>
          <a:xfrm>
            <a:off x="493776" y="312724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下書き画面録画でクライアントが「実際の投稿と同じ状態」を確認できる</a:t>
            </a:r>
            <a:endParaRPr b="0" i="0" sz="1450" u="none" cap="none" strike="noStrike">
              <a:solidFill>
                <a:schemeClr val="dk1"/>
              </a:solidFill>
              <a:latin typeface="Calibri"/>
              <a:ea typeface="Calibri"/>
              <a:cs typeface="Calibri"/>
              <a:sym typeface="Calibri"/>
            </a:endParaRPr>
          </a:p>
        </p:txBody>
      </p:sp>
      <p:sp>
        <p:nvSpPr>
          <p:cNvPr id="373" name="Google Shape;373;p17"/>
          <p:cNvSpPr/>
          <p:nvPr/>
        </p:nvSpPr>
        <p:spPr>
          <a:xfrm>
            <a:off x="310896" y="3931920"/>
            <a:ext cx="8522208"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200"/>
              <a:buFont typeface="Meiryo"/>
              <a:buNone/>
            </a:pPr>
            <a:r>
              <a:rPr b="0" i="1" lang="en-US" sz="1200" u="none" cap="none" strike="noStrike">
                <a:solidFill>
                  <a:srgbClr val="6B7280"/>
                </a:solidFill>
                <a:latin typeface="Meiryo"/>
                <a:ea typeface="Meiryo"/>
                <a:cs typeface="Meiryo"/>
                <a:sym typeface="Meiryo"/>
              </a:rPr>
              <a:t>★  詳しい録画手順はNotionの「TikTok下書き画面録画」ページを確認</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378" name="Shape 378"/>
        <p:cNvGrpSpPr/>
        <p:nvPr/>
      </p:nvGrpSpPr>
      <p:grpSpPr>
        <a:xfrm>
          <a:off x="0" y="0"/>
          <a:ext cx="0" cy="0"/>
          <a:chOff x="0" y="0"/>
          <a:chExt cx="0" cy="0"/>
        </a:xfrm>
      </p:grpSpPr>
      <p:sp>
        <p:nvSpPr>
          <p:cNvPr id="379" name="Google Shape;379;p18"/>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8"/>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カバー画像（サムネイル）は動画の顔</a:t>
            </a:r>
            <a:endParaRPr b="0" i="0" sz="2100" u="none" cap="none" strike="noStrike">
              <a:solidFill>
                <a:schemeClr val="dk1"/>
              </a:solidFill>
              <a:latin typeface="Calibri"/>
              <a:ea typeface="Calibri"/>
              <a:cs typeface="Calibri"/>
              <a:sym typeface="Calibri"/>
            </a:endParaRPr>
          </a:p>
        </p:txBody>
      </p:sp>
      <p:sp>
        <p:nvSpPr>
          <p:cNvPr id="381" name="Google Shape;381;p18"/>
          <p:cNvSpPr/>
          <p:nvPr/>
        </p:nvSpPr>
        <p:spPr>
          <a:xfrm>
            <a:off x="310896" y="804672"/>
            <a:ext cx="8522208" cy="749808"/>
          </a:xfrm>
          <a:prstGeom prst="rect">
            <a:avLst/>
          </a:prstGeom>
          <a:solidFill>
            <a:srgbClr val="E8EAF6"/>
          </a:solidFill>
          <a:ln cap="flat" cmpd="sng" w="9525">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8"/>
          <p:cNvSpPr/>
          <p:nvPr/>
        </p:nvSpPr>
        <p:spPr>
          <a:xfrm>
            <a:off x="310896" y="804672"/>
            <a:ext cx="59436" cy="74980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8"/>
          <p:cNvSpPr/>
          <p:nvPr/>
        </p:nvSpPr>
        <p:spPr>
          <a:xfrm>
            <a:off x="493776" y="804672"/>
            <a:ext cx="82296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  どれだけいい動画でも、カバー画像が地味だとタップしてもらえない</a:t>
            </a:r>
            <a:endParaRPr b="0" i="0" sz="1550" u="none" cap="none" strike="noStrike">
              <a:solidFill>
                <a:schemeClr val="dk1"/>
              </a:solidFill>
              <a:latin typeface="Calibri"/>
              <a:ea typeface="Calibri"/>
              <a:cs typeface="Calibri"/>
              <a:sym typeface="Calibri"/>
            </a:endParaRPr>
          </a:p>
        </p:txBody>
      </p:sp>
      <p:sp>
        <p:nvSpPr>
          <p:cNvPr id="384" name="Google Shape;384;p18"/>
          <p:cNvSpPr/>
          <p:nvPr/>
        </p:nvSpPr>
        <p:spPr>
          <a:xfrm>
            <a:off x="310896" y="166420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8"/>
          <p:cNvSpPr/>
          <p:nvPr/>
        </p:nvSpPr>
        <p:spPr>
          <a:xfrm>
            <a:off x="310896" y="166420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p:nvPr/>
        </p:nvSpPr>
        <p:spPr>
          <a:xfrm>
            <a:off x="493776" y="166420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文字は大きく・はっきり・読みやすく（セーフティーゾーン内に収める）</a:t>
            </a:r>
            <a:endParaRPr b="0" i="0" sz="1450" u="none" cap="none" strike="noStrike">
              <a:solidFill>
                <a:schemeClr val="dk1"/>
              </a:solidFill>
              <a:latin typeface="Calibri"/>
              <a:ea typeface="Calibri"/>
              <a:cs typeface="Calibri"/>
              <a:sym typeface="Calibri"/>
            </a:endParaRPr>
          </a:p>
        </p:txBody>
      </p:sp>
      <p:sp>
        <p:nvSpPr>
          <p:cNvPr id="387" name="Google Shape;387;p18"/>
          <p:cNvSpPr/>
          <p:nvPr/>
        </p:nvSpPr>
        <p:spPr>
          <a:xfrm>
            <a:off x="310896" y="239572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8"/>
          <p:cNvSpPr/>
          <p:nvPr/>
        </p:nvSpPr>
        <p:spPr>
          <a:xfrm>
            <a:off x="310896" y="239572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8"/>
          <p:cNvSpPr/>
          <p:nvPr/>
        </p:nvSpPr>
        <p:spPr>
          <a:xfrm>
            <a:off x="493776" y="239572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表情やビジュアルでクリックしたくなるものを選ぶ</a:t>
            </a:r>
            <a:endParaRPr b="0" i="0" sz="1450" u="none" cap="none" strike="noStrike">
              <a:solidFill>
                <a:schemeClr val="dk1"/>
              </a:solidFill>
              <a:latin typeface="Calibri"/>
              <a:ea typeface="Calibri"/>
              <a:cs typeface="Calibri"/>
              <a:sym typeface="Calibri"/>
            </a:endParaRPr>
          </a:p>
        </p:txBody>
      </p:sp>
      <p:sp>
        <p:nvSpPr>
          <p:cNvPr id="390" name="Google Shape;390;p18"/>
          <p:cNvSpPr/>
          <p:nvPr/>
        </p:nvSpPr>
        <p:spPr>
          <a:xfrm>
            <a:off x="310896" y="312724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8"/>
          <p:cNvSpPr/>
          <p:nvPr/>
        </p:nvSpPr>
        <p:spPr>
          <a:xfrm>
            <a:off x="310896" y="312724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8"/>
          <p:cNvSpPr/>
          <p:nvPr/>
        </p:nvSpPr>
        <p:spPr>
          <a:xfrm>
            <a:off x="493776" y="312724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TikTokとInstagramで最適な縦横比が異なる点に注意</a:t>
            </a:r>
            <a:endParaRPr b="0" i="0" sz="1450" u="none" cap="none" strike="noStrike">
              <a:solidFill>
                <a:schemeClr val="dk1"/>
              </a:solidFill>
              <a:latin typeface="Calibri"/>
              <a:ea typeface="Calibri"/>
              <a:cs typeface="Calibri"/>
              <a:sym typeface="Calibri"/>
            </a:endParaRPr>
          </a:p>
        </p:txBody>
      </p:sp>
      <p:sp>
        <p:nvSpPr>
          <p:cNvPr id="393" name="Google Shape;393;p18"/>
          <p:cNvSpPr/>
          <p:nvPr/>
        </p:nvSpPr>
        <p:spPr>
          <a:xfrm>
            <a:off x="310896" y="3950208"/>
            <a:ext cx="8522208" cy="47548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8"/>
          <p:cNvSpPr/>
          <p:nvPr/>
        </p:nvSpPr>
        <p:spPr>
          <a:xfrm>
            <a:off x="457200" y="3950208"/>
            <a:ext cx="8321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250"/>
              <a:buFont typeface="Meiryo"/>
              <a:buNone/>
            </a:pPr>
            <a:r>
              <a:rPr b="0" i="0" lang="en-US" sz="1250" u="none" cap="none" strike="noStrike">
                <a:solidFill>
                  <a:srgbClr val="B45309"/>
                </a:solidFill>
                <a:latin typeface="Meiryo"/>
                <a:ea typeface="Meiryo"/>
                <a:cs typeface="Meiryo"/>
                <a:sym typeface="Meiryo"/>
              </a:rPr>
              <a:t>💡  TORIHADAの担当者から指定がある場合は、その指示に従ってください</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399" name="Shape 399"/>
        <p:cNvGrpSpPr/>
        <p:nvPr/>
      </p:nvGrpSpPr>
      <p:grpSpPr>
        <a:xfrm>
          <a:off x="0" y="0"/>
          <a:ext cx="0" cy="0"/>
          <a:chOff x="0" y="0"/>
          <a:chExt cx="0" cy="0"/>
        </a:xfrm>
      </p:grpSpPr>
      <p:sp>
        <p:nvSpPr>
          <p:cNvPr id="400" name="Google Shape;400;p19"/>
          <p:cNvSpPr/>
          <p:nvPr/>
        </p:nvSpPr>
        <p:spPr>
          <a:xfrm>
            <a:off x="0" y="0"/>
            <a:ext cx="2743200"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p:nvPr/>
        </p:nvSpPr>
        <p:spPr>
          <a:xfrm>
            <a:off x="237744" y="1005840"/>
            <a:ext cx="2286000" cy="210312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FFFFFF"/>
              </a:buClr>
              <a:buSzPts val="2600"/>
              <a:buFont typeface="Meiryo"/>
              <a:buNone/>
            </a:pPr>
            <a:r>
              <a:rPr b="1" i="0" lang="en-US" sz="2600" u="none" cap="none" strike="noStrike">
                <a:solidFill>
                  <a:srgbClr val="FFFFFF"/>
                </a:solidFill>
                <a:latin typeface="Meiryo"/>
                <a:ea typeface="Meiryo"/>
                <a:cs typeface="Meiryo"/>
                <a:sym typeface="Meiryo"/>
              </a:rPr>
              <a:t>まとめ</a:t>
            </a:r>
            <a:endParaRPr b="0" i="0" sz="2600" u="none" cap="none" strike="noStrike">
              <a:solidFill>
                <a:schemeClr val="dk1"/>
              </a:solidFill>
              <a:latin typeface="Calibri"/>
              <a:ea typeface="Calibri"/>
              <a:cs typeface="Calibri"/>
              <a:sym typeface="Calibri"/>
            </a:endParaRPr>
          </a:p>
        </p:txBody>
      </p:sp>
      <p:sp>
        <p:nvSpPr>
          <p:cNvPr id="402" name="Google Shape;402;p19"/>
          <p:cNvSpPr/>
          <p:nvPr/>
        </p:nvSpPr>
        <p:spPr>
          <a:xfrm>
            <a:off x="237744" y="4114800"/>
            <a:ext cx="22860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100"/>
              <a:buFont typeface="Meiryo"/>
              <a:buNone/>
            </a:pPr>
            <a:r>
              <a:rPr b="0" i="0" lang="en-US" sz="1100" u="none" cap="none" strike="noStrike">
                <a:solidFill>
                  <a:srgbClr val="A0B8D8"/>
                </a:solidFill>
                <a:latin typeface="Meiryo"/>
                <a:ea typeface="Meiryo"/>
                <a:cs typeface="Meiryo"/>
                <a:sym typeface="Meiryo"/>
              </a:rPr>
              <a:t>動画まとめ</a:t>
            </a:r>
            <a:endParaRPr b="0" i="0" sz="1100" u="none" cap="none" strike="noStrike">
              <a:solidFill>
                <a:schemeClr val="dk1"/>
              </a:solidFill>
              <a:latin typeface="Calibri"/>
              <a:ea typeface="Calibri"/>
              <a:cs typeface="Calibri"/>
              <a:sym typeface="Calibri"/>
            </a:endParaRPr>
          </a:p>
        </p:txBody>
      </p:sp>
      <p:sp>
        <p:nvSpPr>
          <p:cNvPr id="403" name="Google Shape;403;p19"/>
          <p:cNvSpPr/>
          <p:nvPr/>
        </p:nvSpPr>
        <p:spPr>
          <a:xfrm>
            <a:off x="2944368" y="329184"/>
            <a:ext cx="65837" cy="781812"/>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9"/>
          <p:cNvSpPr/>
          <p:nvPr/>
        </p:nvSpPr>
        <p:spPr>
          <a:xfrm>
            <a:off x="3072384" y="329184"/>
            <a:ext cx="585216"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01</a:t>
            </a:r>
            <a:endParaRPr b="0" i="0" sz="2000" u="none" cap="none" strike="noStrike">
              <a:solidFill>
                <a:schemeClr val="dk1"/>
              </a:solidFill>
              <a:latin typeface="Calibri"/>
              <a:ea typeface="Calibri"/>
              <a:cs typeface="Calibri"/>
              <a:sym typeface="Calibri"/>
            </a:endParaRPr>
          </a:p>
        </p:txBody>
      </p:sp>
      <p:sp>
        <p:nvSpPr>
          <p:cNvPr id="405" name="Google Shape;405;p19"/>
          <p:cNvSpPr/>
          <p:nvPr/>
        </p:nvSpPr>
        <p:spPr>
          <a:xfrm>
            <a:off x="3749040" y="329184"/>
            <a:ext cx="5120640"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FIXした字コンテは忠実に再現する（勝手に変えない）</a:t>
            </a:r>
            <a:endParaRPr b="0" i="0" sz="1550" u="none" cap="none" strike="noStrike">
              <a:solidFill>
                <a:schemeClr val="dk1"/>
              </a:solidFill>
              <a:latin typeface="Calibri"/>
              <a:ea typeface="Calibri"/>
              <a:cs typeface="Calibri"/>
              <a:sym typeface="Calibri"/>
            </a:endParaRPr>
          </a:p>
        </p:txBody>
      </p:sp>
      <p:cxnSp>
        <p:nvCxnSpPr>
          <p:cNvPr id="406" name="Google Shape;406;p19"/>
          <p:cNvCxnSpPr/>
          <p:nvPr/>
        </p:nvCxnSpPr>
        <p:spPr>
          <a:xfrm>
            <a:off x="2944368" y="1156716"/>
            <a:ext cx="5925312" cy="0"/>
          </a:xfrm>
          <a:prstGeom prst="straightConnector1">
            <a:avLst/>
          </a:prstGeom>
          <a:noFill/>
          <a:ln cap="flat" cmpd="sng" w="9525">
            <a:solidFill>
              <a:srgbClr val="D1D5DB"/>
            </a:solidFill>
            <a:prstDash val="solid"/>
            <a:round/>
            <a:headEnd len="sm" w="sm" type="none"/>
            <a:tailEnd len="sm" w="sm" type="none"/>
          </a:ln>
        </p:spPr>
      </p:cxnSp>
      <p:sp>
        <p:nvSpPr>
          <p:cNvPr id="407" name="Google Shape;407;p19"/>
          <p:cNvSpPr/>
          <p:nvPr/>
        </p:nvSpPr>
        <p:spPr>
          <a:xfrm>
            <a:off x="2944368" y="1202436"/>
            <a:ext cx="65837" cy="781812"/>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p:nvPr/>
        </p:nvSpPr>
        <p:spPr>
          <a:xfrm>
            <a:off x="3072384" y="1202436"/>
            <a:ext cx="585216"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02</a:t>
            </a:r>
            <a:endParaRPr b="0" i="0" sz="2000" u="none" cap="none" strike="noStrike">
              <a:solidFill>
                <a:schemeClr val="dk1"/>
              </a:solidFill>
              <a:latin typeface="Calibri"/>
              <a:ea typeface="Calibri"/>
              <a:cs typeface="Calibri"/>
              <a:sym typeface="Calibri"/>
            </a:endParaRPr>
          </a:p>
        </p:txBody>
      </p:sp>
      <p:sp>
        <p:nvSpPr>
          <p:cNvPr id="409" name="Google Shape;409;p19"/>
          <p:cNvSpPr/>
          <p:nvPr/>
        </p:nvSpPr>
        <p:spPr>
          <a:xfrm>
            <a:off x="3749040" y="1202436"/>
            <a:ext cx="5120640"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セーフティーゾーン内に重要テキストを配置する</a:t>
            </a:r>
            <a:endParaRPr b="0" i="0" sz="1550" u="none" cap="none" strike="noStrike">
              <a:solidFill>
                <a:schemeClr val="dk1"/>
              </a:solidFill>
              <a:latin typeface="Calibri"/>
              <a:ea typeface="Calibri"/>
              <a:cs typeface="Calibri"/>
              <a:sym typeface="Calibri"/>
            </a:endParaRPr>
          </a:p>
        </p:txBody>
      </p:sp>
      <p:cxnSp>
        <p:nvCxnSpPr>
          <p:cNvPr id="410" name="Google Shape;410;p19"/>
          <p:cNvCxnSpPr/>
          <p:nvPr/>
        </p:nvCxnSpPr>
        <p:spPr>
          <a:xfrm>
            <a:off x="2944368" y="2029968"/>
            <a:ext cx="5925312" cy="0"/>
          </a:xfrm>
          <a:prstGeom prst="straightConnector1">
            <a:avLst/>
          </a:prstGeom>
          <a:noFill/>
          <a:ln cap="flat" cmpd="sng" w="9525">
            <a:solidFill>
              <a:srgbClr val="D1D5DB"/>
            </a:solidFill>
            <a:prstDash val="solid"/>
            <a:round/>
            <a:headEnd len="sm" w="sm" type="none"/>
            <a:tailEnd len="sm" w="sm" type="none"/>
          </a:ln>
        </p:spPr>
      </p:cxnSp>
      <p:sp>
        <p:nvSpPr>
          <p:cNvPr id="411" name="Google Shape;411;p19"/>
          <p:cNvSpPr/>
          <p:nvPr/>
        </p:nvSpPr>
        <p:spPr>
          <a:xfrm>
            <a:off x="2944368" y="2075688"/>
            <a:ext cx="65837" cy="781812"/>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9"/>
          <p:cNvSpPr/>
          <p:nvPr/>
        </p:nvSpPr>
        <p:spPr>
          <a:xfrm>
            <a:off x="3072384" y="2075688"/>
            <a:ext cx="585216"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03</a:t>
            </a:r>
            <a:endParaRPr b="0" i="0" sz="2000" u="none" cap="none" strike="noStrike">
              <a:solidFill>
                <a:schemeClr val="dk1"/>
              </a:solidFill>
              <a:latin typeface="Calibri"/>
              <a:ea typeface="Calibri"/>
              <a:cs typeface="Calibri"/>
              <a:sym typeface="Calibri"/>
            </a:endParaRPr>
          </a:p>
        </p:txBody>
      </p:sp>
      <p:sp>
        <p:nvSpPr>
          <p:cNvPr id="413" name="Google Shape;413;p19"/>
          <p:cNvSpPr/>
          <p:nvPr/>
        </p:nvSpPr>
        <p:spPr>
          <a:xfrm>
            <a:off x="3749040" y="2075688"/>
            <a:ext cx="5120640"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下書き画面録画で「実際の見え方」を確認してから提出</a:t>
            </a:r>
            <a:endParaRPr b="0" i="0" sz="1550" u="none" cap="none" strike="noStrike">
              <a:solidFill>
                <a:schemeClr val="dk1"/>
              </a:solidFill>
              <a:latin typeface="Calibri"/>
              <a:ea typeface="Calibri"/>
              <a:cs typeface="Calibri"/>
              <a:sym typeface="Calibri"/>
            </a:endParaRPr>
          </a:p>
        </p:txBody>
      </p:sp>
      <p:cxnSp>
        <p:nvCxnSpPr>
          <p:cNvPr id="414" name="Google Shape;414;p19"/>
          <p:cNvCxnSpPr/>
          <p:nvPr/>
        </p:nvCxnSpPr>
        <p:spPr>
          <a:xfrm>
            <a:off x="2944368" y="2903220"/>
            <a:ext cx="5925312" cy="0"/>
          </a:xfrm>
          <a:prstGeom prst="straightConnector1">
            <a:avLst/>
          </a:prstGeom>
          <a:noFill/>
          <a:ln cap="flat" cmpd="sng" w="9525">
            <a:solidFill>
              <a:srgbClr val="D1D5DB"/>
            </a:solidFill>
            <a:prstDash val="solid"/>
            <a:round/>
            <a:headEnd len="sm" w="sm" type="none"/>
            <a:tailEnd len="sm" w="sm" type="none"/>
          </a:ln>
        </p:spPr>
      </p:cxnSp>
      <p:sp>
        <p:nvSpPr>
          <p:cNvPr id="415" name="Google Shape;415;p19"/>
          <p:cNvSpPr/>
          <p:nvPr/>
        </p:nvSpPr>
        <p:spPr>
          <a:xfrm>
            <a:off x="2944368" y="2948940"/>
            <a:ext cx="65837" cy="781812"/>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9"/>
          <p:cNvSpPr/>
          <p:nvPr/>
        </p:nvSpPr>
        <p:spPr>
          <a:xfrm>
            <a:off x="3072384" y="2948940"/>
            <a:ext cx="585216"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04</a:t>
            </a:r>
            <a:endParaRPr b="0" i="0" sz="2000" u="none" cap="none" strike="noStrike">
              <a:solidFill>
                <a:schemeClr val="dk1"/>
              </a:solidFill>
              <a:latin typeface="Calibri"/>
              <a:ea typeface="Calibri"/>
              <a:cs typeface="Calibri"/>
              <a:sym typeface="Calibri"/>
            </a:endParaRPr>
          </a:p>
        </p:txBody>
      </p:sp>
      <p:sp>
        <p:nvSpPr>
          <p:cNvPr id="417" name="Google Shape;417;p19"/>
          <p:cNvSpPr/>
          <p:nvPr/>
        </p:nvSpPr>
        <p:spPr>
          <a:xfrm>
            <a:off x="3749040" y="2948940"/>
            <a:ext cx="5120640"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カバー画像は文字の読みやすさとビジュアルで選ぶ</a:t>
            </a:r>
            <a:endParaRPr b="0" i="0" sz="1550" u="none" cap="none" strike="noStrike">
              <a:solidFill>
                <a:schemeClr val="dk1"/>
              </a:solidFill>
              <a:latin typeface="Calibri"/>
              <a:ea typeface="Calibri"/>
              <a:cs typeface="Calibri"/>
              <a:sym typeface="Calibri"/>
            </a:endParaRPr>
          </a:p>
        </p:txBody>
      </p:sp>
      <p:sp>
        <p:nvSpPr>
          <p:cNvPr id="418" name="Google Shape;418;p19"/>
          <p:cNvSpPr/>
          <p:nvPr/>
        </p:nvSpPr>
        <p:spPr>
          <a:xfrm>
            <a:off x="2944368" y="3968496"/>
            <a:ext cx="5925312" cy="65836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9"/>
          <p:cNvSpPr/>
          <p:nvPr/>
        </p:nvSpPr>
        <p:spPr>
          <a:xfrm>
            <a:off x="2944368" y="3968496"/>
            <a:ext cx="59436" cy="658368"/>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
          <p:cNvSpPr/>
          <p:nvPr/>
        </p:nvSpPr>
        <p:spPr>
          <a:xfrm>
            <a:off x="3108960" y="3968496"/>
            <a:ext cx="5687568"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030"/>
              </a:buClr>
              <a:buSzPts val="1350"/>
              <a:buFont typeface="Meiryo"/>
              <a:buNone/>
            </a:pPr>
            <a:r>
              <a:rPr b="1" i="0" lang="en-US" sz="1350" u="none" cap="none" strike="noStrike">
                <a:solidFill>
                  <a:srgbClr val="E87030"/>
                </a:solidFill>
                <a:latin typeface="Meiryo"/>
                <a:ea typeface="Meiryo"/>
                <a:cs typeface="Meiryo"/>
                <a:sym typeface="Meiryo"/>
              </a:rPr>
              <a:t>▶  Next  |  動画④：投稿と納品</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 name="Shape 425"/>
        <p:cNvGrpSpPr/>
        <p:nvPr/>
      </p:nvGrpSpPr>
      <p:grpSpPr>
        <a:xfrm>
          <a:off x="0" y="0"/>
          <a:ext cx="0" cy="0"/>
          <a:chOff x="0" y="0"/>
          <a:chExt cx="0" cy="0"/>
        </a:xfrm>
      </p:grpSpPr>
      <p:sp>
        <p:nvSpPr>
          <p:cNvPr id="426" name="Google Shape;426;p20"/>
          <p:cNvSpPr/>
          <p:nvPr/>
        </p:nvSpPr>
        <p:spPr>
          <a:xfrm>
            <a:off x="0" y="0"/>
            <a:ext cx="2907792"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0"/>
          <p:cNvSpPr/>
          <p:nvPr/>
        </p:nvSpPr>
        <p:spPr>
          <a:xfrm>
            <a:off x="274320" y="475488"/>
            <a:ext cx="235915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500"/>
              <a:buFont typeface="Meiryo"/>
              <a:buNone/>
            </a:pPr>
            <a:r>
              <a:rPr b="1" i="0" lang="en-US" sz="1500" u="none" cap="none" strike="noStrike">
                <a:solidFill>
                  <a:srgbClr val="A0B8D8"/>
                </a:solidFill>
                <a:latin typeface="Meiryo"/>
                <a:ea typeface="Meiryo"/>
                <a:cs typeface="Meiryo"/>
                <a:sym typeface="Meiryo"/>
              </a:rPr>
              <a:t>第3章</a:t>
            </a:r>
            <a:endParaRPr b="0" i="0" sz="1500" u="none" cap="none" strike="noStrike">
              <a:solidFill>
                <a:schemeClr val="dk1"/>
              </a:solidFill>
              <a:latin typeface="Calibri"/>
              <a:ea typeface="Calibri"/>
              <a:cs typeface="Calibri"/>
              <a:sym typeface="Calibri"/>
            </a:endParaRPr>
          </a:p>
        </p:txBody>
      </p:sp>
      <p:sp>
        <p:nvSpPr>
          <p:cNvPr id="428" name="Google Shape;428;p20"/>
          <p:cNvSpPr/>
          <p:nvPr/>
        </p:nvSpPr>
        <p:spPr>
          <a:xfrm>
            <a:off x="274320" y="868680"/>
            <a:ext cx="2359152"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5000"/>
              <a:buFont typeface="Meiryo"/>
              <a:buNone/>
            </a:pPr>
            <a:r>
              <a:rPr b="1" i="0" lang="en-US" sz="5000" u="none" cap="none" strike="noStrike">
                <a:solidFill>
                  <a:srgbClr val="FFFFFF"/>
                </a:solidFill>
                <a:latin typeface="Meiryo"/>
                <a:ea typeface="Meiryo"/>
                <a:cs typeface="Meiryo"/>
                <a:sym typeface="Meiryo"/>
              </a:rPr>
              <a:t>動画④</a:t>
            </a:r>
            <a:endParaRPr b="0" i="0" sz="5000" u="none" cap="none" strike="noStrike">
              <a:solidFill>
                <a:schemeClr val="dk1"/>
              </a:solidFill>
              <a:latin typeface="Calibri"/>
              <a:ea typeface="Calibri"/>
              <a:cs typeface="Calibri"/>
              <a:sym typeface="Calibri"/>
            </a:endParaRPr>
          </a:p>
        </p:txBody>
      </p:sp>
      <p:sp>
        <p:nvSpPr>
          <p:cNvPr id="429" name="Google Shape;429;p20"/>
          <p:cNvSpPr/>
          <p:nvPr/>
        </p:nvSpPr>
        <p:spPr>
          <a:xfrm>
            <a:off x="274320" y="2011680"/>
            <a:ext cx="2359152"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300"/>
              <a:buFont typeface="Meiryo"/>
              <a:buNone/>
            </a:pPr>
            <a:r>
              <a:rPr b="0" i="0" lang="en-US" sz="1300" u="none" cap="none" strike="noStrike">
                <a:solidFill>
                  <a:srgbClr val="A0B8D8"/>
                </a:solidFill>
                <a:latin typeface="Meiryo"/>
                <a:ea typeface="Meiryo"/>
                <a:cs typeface="Meiryo"/>
                <a:sym typeface="Meiryo"/>
              </a:rPr>
              <a:t>進行フロー・ビジネス連絡</a:t>
            </a:r>
            <a:endParaRPr b="0" i="0" sz="1300" u="none" cap="none" strike="noStrike">
              <a:solidFill>
                <a:schemeClr val="dk1"/>
              </a:solidFill>
              <a:latin typeface="Calibri"/>
              <a:ea typeface="Calibri"/>
              <a:cs typeface="Calibri"/>
              <a:sym typeface="Calibri"/>
            </a:endParaRPr>
          </a:p>
        </p:txBody>
      </p:sp>
      <p:sp>
        <p:nvSpPr>
          <p:cNvPr id="430" name="Google Shape;430;p20"/>
          <p:cNvSpPr/>
          <p:nvPr/>
        </p:nvSpPr>
        <p:spPr>
          <a:xfrm>
            <a:off x="274320" y="2816352"/>
            <a:ext cx="1389888" cy="4023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0"/>
          <p:cNvSpPr/>
          <p:nvPr/>
        </p:nvSpPr>
        <p:spPr>
          <a:xfrm>
            <a:off x="274320" y="2816352"/>
            <a:ext cx="138988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eiryo"/>
              <a:buNone/>
            </a:pPr>
            <a:r>
              <a:rPr b="1" i="0" lang="en-US" sz="1300" u="none" cap="none" strike="noStrike">
                <a:solidFill>
                  <a:srgbClr val="FFFFFF"/>
                </a:solidFill>
                <a:latin typeface="Meiryo"/>
                <a:ea typeface="Meiryo"/>
                <a:cs typeface="Meiryo"/>
                <a:sym typeface="Meiryo"/>
              </a:rPr>
              <a:t>▶  約5分</a:t>
            </a:r>
            <a:endParaRPr b="0" i="0" sz="1300" u="none" cap="none" strike="noStrike">
              <a:solidFill>
                <a:schemeClr val="dk1"/>
              </a:solidFill>
              <a:latin typeface="Calibri"/>
              <a:ea typeface="Calibri"/>
              <a:cs typeface="Calibri"/>
              <a:sym typeface="Calibri"/>
            </a:endParaRPr>
          </a:p>
        </p:txBody>
      </p:sp>
      <p:sp>
        <p:nvSpPr>
          <p:cNvPr id="432" name="Google Shape;432;p20"/>
          <p:cNvSpPr/>
          <p:nvPr/>
        </p:nvSpPr>
        <p:spPr>
          <a:xfrm>
            <a:off x="3127248" y="219456"/>
            <a:ext cx="574243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800"/>
              <a:buFont typeface="Meiryo"/>
              <a:buNone/>
            </a:pPr>
            <a:r>
              <a:rPr b="0" i="0" lang="en-US" sz="800" u="none" cap="none" strike="noStrike">
                <a:solidFill>
                  <a:srgbClr val="1E3068"/>
                </a:solidFill>
                <a:latin typeface="Meiryo"/>
                <a:ea typeface="Meiryo"/>
                <a:cs typeface="Meiryo"/>
                <a:sym typeface="Meiryo"/>
              </a:rPr>
              <a:t>CREATOR NETWORK TRAINING</a:t>
            </a:r>
            <a:endParaRPr b="0" i="0" sz="800" u="none" cap="none" strike="noStrike">
              <a:solidFill>
                <a:schemeClr val="dk1"/>
              </a:solidFill>
              <a:latin typeface="Calibri"/>
              <a:ea typeface="Calibri"/>
              <a:cs typeface="Calibri"/>
              <a:sym typeface="Calibri"/>
            </a:endParaRPr>
          </a:p>
        </p:txBody>
      </p:sp>
      <p:sp>
        <p:nvSpPr>
          <p:cNvPr id="433" name="Google Shape;433;p20"/>
          <p:cNvSpPr/>
          <p:nvPr/>
        </p:nvSpPr>
        <p:spPr>
          <a:xfrm>
            <a:off x="3127248" y="621792"/>
            <a:ext cx="5577840" cy="260604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Clr>
                <a:srgbClr val="1E3068"/>
              </a:buClr>
              <a:buSzPts val="3800"/>
              <a:buFont typeface="Meiryo"/>
              <a:buNone/>
            </a:pPr>
            <a:r>
              <a:rPr b="1" i="0" lang="en-US" sz="3800" u="none" cap="none" strike="noStrike">
                <a:solidFill>
                  <a:srgbClr val="1E3068"/>
                </a:solidFill>
                <a:latin typeface="Meiryo"/>
                <a:ea typeface="Meiryo"/>
                <a:cs typeface="Meiryo"/>
                <a:sym typeface="Meiryo"/>
              </a:rPr>
              <a:t>投稿と納品</a:t>
            </a:r>
            <a:endParaRPr b="0" i="0" sz="3800" u="none" cap="none" strike="noStrike">
              <a:solidFill>
                <a:schemeClr val="dk1"/>
              </a:solidFill>
              <a:latin typeface="Calibri"/>
              <a:ea typeface="Calibri"/>
              <a:cs typeface="Calibri"/>
              <a:sym typeface="Calibri"/>
            </a:endParaRPr>
          </a:p>
        </p:txBody>
      </p:sp>
      <p:sp>
        <p:nvSpPr>
          <p:cNvPr id="434" name="Google Shape;434;p20"/>
          <p:cNvSpPr/>
          <p:nvPr/>
        </p:nvSpPr>
        <p:spPr>
          <a:xfrm>
            <a:off x="3127248" y="3364992"/>
            <a:ext cx="1920240"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0"/>
          <p:cNvSpPr/>
          <p:nvPr/>
        </p:nvSpPr>
        <p:spPr>
          <a:xfrm>
            <a:off x="3127248" y="3529584"/>
            <a:ext cx="5577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400"/>
              <a:buFont typeface="Meiryo"/>
              <a:buNone/>
            </a:pPr>
            <a:r>
              <a:rPr b="0" i="0" lang="en-US" sz="1400" u="none" cap="none" strike="noStrike">
                <a:solidFill>
                  <a:srgbClr val="6B7280"/>
                </a:solidFill>
                <a:latin typeface="Meiryo"/>
                <a:ea typeface="Meiryo"/>
                <a:cs typeface="Meiryo"/>
                <a:sym typeface="Meiryo"/>
              </a:rPr>
              <a:t>クリエイターネットワーク研修</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440" name="Shape 440"/>
        <p:cNvGrpSpPr/>
        <p:nvPr/>
      </p:nvGrpSpPr>
      <p:grpSpPr>
        <a:xfrm>
          <a:off x="0" y="0"/>
          <a:ext cx="0" cy="0"/>
          <a:chOff x="0" y="0"/>
          <a:chExt cx="0" cy="0"/>
        </a:xfrm>
      </p:grpSpPr>
      <p:sp>
        <p:nvSpPr>
          <p:cNvPr id="441" name="Google Shape;441;p21"/>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1"/>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この動画で学ぶこと</a:t>
            </a:r>
            <a:endParaRPr b="0" i="0" sz="2100" u="none" cap="none" strike="noStrike">
              <a:solidFill>
                <a:schemeClr val="dk1"/>
              </a:solidFill>
              <a:latin typeface="Calibri"/>
              <a:ea typeface="Calibri"/>
              <a:cs typeface="Calibri"/>
              <a:sym typeface="Calibri"/>
            </a:endParaRPr>
          </a:p>
        </p:txBody>
      </p:sp>
      <p:sp>
        <p:nvSpPr>
          <p:cNvPr id="443" name="Google Shape;443;p21"/>
          <p:cNvSpPr/>
          <p:nvPr/>
        </p:nvSpPr>
        <p:spPr>
          <a:xfrm>
            <a:off x="310896"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1"/>
          <p:cNvSpPr/>
          <p:nvPr/>
        </p:nvSpPr>
        <p:spPr>
          <a:xfrm>
            <a:off x="310896"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1"/>
          <p:cNvSpPr/>
          <p:nvPr/>
        </p:nvSpPr>
        <p:spPr>
          <a:xfrm>
            <a:off x="566928"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446" name="Google Shape;446;p21"/>
          <p:cNvSpPr/>
          <p:nvPr/>
        </p:nvSpPr>
        <p:spPr>
          <a:xfrm>
            <a:off x="512064"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投稿前に</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確認すべきこと</a:t>
            </a:r>
            <a:endParaRPr b="0" i="0" sz="1550" u="none" cap="none" strike="noStrike">
              <a:solidFill>
                <a:schemeClr val="dk1"/>
              </a:solidFill>
              <a:latin typeface="Calibri"/>
              <a:ea typeface="Calibri"/>
              <a:cs typeface="Calibri"/>
              <a:sym typeface="Calibri"/>
            </a:endParaRPr>
          </a:p>
        </p:txBody>
      </p:sp>
      <p:sp>
        <p:nvSpPr>
          <p:cNvPr id="447" name="Google Shape;447;p21"/>
          <p:cNvSpPr/>
          <p:nvPr/>
        </p:nvSpPr>
        <p:spPr>
          <a:xfrm>
            <a:off x="512064"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見落としが法律</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違反につながる</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チェックポイント</a:t>
            </a:r>
            <a:endParaRPr b="0" i="0" sz="1300" u="none" cap="none" strike="noStrike">
              <a:solidFill>
                <a:schemeClr val="dk1"/>
              </a:solidFill>
              <a:latin typeface="Calibri"/>
              <a:ea typeface="Calibri"/>
              <a:cs typeface="Calibri"/>
              <a:sym typeface="Calibri"/>
            </a:endParaRPr>
          </a:p>
        </p:txBody>
      </p:sp>
      <p:sp>
        <p:nvSpPr>
          <p:cNvPr id="448" name="Google Shape;448;p21"/>
          <p:cNvSpPr/>
          <p:nvPr/>
        </p:nvSpPr>
        <p:spPr>
          <a:xfrm>
            <a:off x="3081528"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1"/>
          <p:cNvSpPr/>
          <p:nvPr/>
        </p:nvSpPr>
        <p:spPr>
          <a:xfrm>
            <a:off x="3081528"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1"/>
          <p:cNvSpPr/>
          <p:nvPr/>
        </p:nvSpPr>
        <p:spPr>
          <a:xfrm>
            <a:off x="3337560"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451" name="Google Shape;451;p21"/>
          <p:cNvSpPr/>
          <p:nvPr/>
        </p:nvSpPr>
        <p:spPr>
          <a:xfrm>
            <a:off x="3282696"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投稿後に</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すぐやること</a:t>
            </a:r>
            <a:endParaRPr b="0" i="0" sz="1550" u="none" cap="none" strike="noStrike">
              <a:solidFill>
                <a:schemeClr val="dk1"/>
              </a:solidFill>
              <a:latin typeface="Calibri"/>
              <a:ea typeface="Calibri"/>
              <a:cs typeface="Calibri"/>
              <a:sym typeface="Calibri"/>
            </a:endParaRPr>
          </a:p>
        </p:txBody>
      </p:sp>
      <p:sp>
        <p:nvSpPr>
          <p:cNvPr id="452" name="Google Shape;452;p21"/>
          <p:cNvSpPr/>
          <p:nvPr/>
        </p:nvSpPr>
        <p:spPr>
          <a:xfrm>
            <a:off x="3282696"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URLシェアまでが</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仕事の一部</a:t>
            </a:r>
            <a:endParaRPr b="0" i="0" sz="1300" u="none" cap="none" strike="noStrike">
              <a:solidFill>
                <a:schemeClr val="dk1"/>
              </a:solidFill>
              <a:latin typeface="Calibri"/>
              <a:ea typeface="Calibri"/>
              <a:cs typeface="Calibri"/>
              <a:sym typeface="Calibri"/>
            </a:endParaRPr>
          </a:p>
        </p:txBody>
      </p:sp>
      <p:sp>
        <p:nvSpPr>
          <p:cNvPr id="453" name="Google Shape;453;p21"/>
          <p:cNvSpPr/>
          <p:nvPr/>
        </p:nvSpPr>
        <p:spPr>
          <a:xfrm>
            <a:off x="5852160"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1"/>
          <p:cNvSpPr/>
          <p:nvPr/>
        </p:nvSpPr>
        <p:spPr>
          <a:xfrm>
            <a:off x="5852160"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1"/>
          <p:cNvSpPr/>
          <p:nvPr/>
        </p:nvSpPr>
        <p:spPr>
          <a:xfrm>
            <a:off x="6108192"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456" name="Google Shape;456;p21"/>
          <p:cNvSpPr/>
          <p:nvPr/>
        </p:nvSpPr>
        <p:spPr>
          <a:xfrm>
            <a:off x="6053328"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完パケ動画と</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広告コードとは</a:t>
            </a:r>
            <a:endParaRPr b="0" i="0" sz="1550" u="none" cap="none" strike="noStrike">
              <a:solidFill>
                <a:schemeClr val="dk1"/>
              </a:solidFill>
              <a:latin typeface="Calibri"/>
              <a:ea typeface="Calibri"/>
              <a:cs typeface="Calibri"/>
              <a:sym typeface="Calibri"/>
            </a:endParaRPr>
          </a:p>
        </p:txBody>
      </p:sp>
      <p:sp>
        <p:nvSpPr>
          <p:cNvPr id="457" name="Google Shape;457;p21"/>
          <p:cNvSpPr/>
          <p:nvPr/>
        </p:nvSpPr>
        <p:spPr>
          <a:xfrm>
            <a:off x="6053328"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二次利用がある</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場合の追加対応</a:t>
            </a:r>
            <a:endParaRPr b="0" i="0" sz="1300" u="none" cap="none" strike="noStrike">
              <a:solidFill>
                <a:schemeClr val="dk1"/>
              </a:solidFill>
              <a:latin typeface="Calibri"/>
              <a:ea typeface="Calibri"/>
              <a:cs typeface="Calibri"/>
              <a:sym typeface="Calibri"/>
            </a:endParaRPr>
          </a:p>
        </p:txBody>
      </p:sp>
      <p:sp>
        <p:nvSpPr>
          <p:cNvPr id="458" name="Google Shape;458;p21"/>
          <p:cNvSpPr/>
          <p:nvPr/>
        </p:nvSpPr>
        <p:spPr>
          <a:xfrm>
            <a:off x="2140055" y="884713"/>
            <a:ext cx="859200" cy="480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t/>
            </a:r>
            <a:endParaRPr b="1" sz="2400">
              <a:solidFill>
                <a:srgbClr val="D1D5DB"/>
              </a:solidFill>
              <a:latin typeface="Meiryo"/>
              <a:ea typeface="Meiryo"/>
              <a:cs typeface="Meiryo"/>
              <a:sym typeface="Meiryo"/>
            </a:endParaRPr>
          </a:p>
          <a:p>
            <a:pPr indent="0" lvl="0" marL="0" marR="0" rtl="0" algn="r">
              <a:spcBef>
                <a:spcPts val="0"/>
              </a:spcBef>
              <a:spcAft>
                <a:spcPts val="0"/>
              </a:spcAft>
              <a:buClr>
                <a:srgbClr val="D1D5DB"/>
              </a:buClr>
              <a:buSzPts val="2400"/>
              <a:buFont typeface="Meiryo"/>
              <a:buNone/>
            </a:pPr>
            <a:r>
              <a:rPr b="1" lang="en-US" sz="2400">
                <a:solidFill>
                  <a:srgbClr val="D1D5DB"/>
                </a:solidFill>
                <a:latin typeface="Meiryo"/>
                <a:ea typeface="Meiryo"/>
                <a:cs typeface="Meiryo"/>
                <a:sym typeface="Meiryo"/>
              </a:rPr>
              <a:t>0</a:t>
            </a:r>
            <a:r>
              <a:rPr b="1" i="0" lang="en-US" sz="2400" u="none" cap="none" strike="noStrike">
                <a:solidFill>
                  <a:srgbClr val="D1D5DB"/>
                </a:solidFill>
                <a:latin typeface="Meiryo"/>
                <a:ea typeface="Meiryo"/>
                <a:cs typeface="Meiryo"/>
                <a:sym typeface="Meiryo"/>
              </a:rPr>
              <a:t>1</a:t>
            </a:r>
            <a:endParaRPr b="0" i="0" sz="2400" u="none" cap="none" strike="noStrike">
              <a:solidFill>
                <a:schemeClr val="dk1"/>
              </a:solidFill>
              <a:latin typeface="Calibri"/>
              <a:ea typeface="Calibri"/>
              <a:cs typeface="Calibri"/>
              <a:sym typeface="Calibri"/>
            </a:endParaRPr>
          </a:p>
        </p:txBody>
      </p:sp>
      <p:sp>
        <p:nvSpPr>
          <p:cNvPr id="459" name="Google Shape;459;p21"/>
          <p:cNvSpPr/>
          <p:nvPr/>
        </p:nvSpPr>
        <p:spPr>
          <a:xfrm>
            <a:off x="5074926" y="1101862"/>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02</a:t>
            </a:r>
            <a:endParaRPr b="0" i="0" sz="2400" u="none" cap="none" strike="noStrike">
              <a:solidFill>
                <a:schemeClr val="dk1"/>
              </a:solidFill>
              <a:latin typeface="Calibri"/>
              <a:ea typeface="Calibri"/>
              <a:cs typeface="Calibri"/>
              <a:sym typeface="Calibri"/>
            </a:endParaRPr>
          </a:p>
        </p:txBody>
      </p:sp>
      <p:sp>
        <p:nvSpPr>
          <p:cNvPr id="460" name="Google Shape;460;p21"/>
          <p:cNvSpPr/>
          <p:nvPr/>
        </p:nvSpPr>
        <p:spPr>
          <a:xfrm>
            <a:off x="7845550" y="1101862"/>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03</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465" name="Shape 465"/>
        <p:cNvGrpSpPr/>
        <p:nvPr/>
      </p:nvGrpSpPr>
      <p:grpSpPr>
        <a:xfrm>
          <a:off x="0" y="0"/>
          <a:ext cx="0" cy="0"/>
          <a:chOff x="0" y="0"/>
          <a:chExt cx="0" cy="0"/>
        </a:xfrm>
      </p:grpSpPr>
      <p:sp>
        <p:nvSpPr>
          <p:cNvPr id="466" name="Google Shape;466;p22"/>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2"/>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投稿前 セルフチェックリスト</a:t>
            </a:r>
            <a:endParaRPr b="0" i="0" sz="2100" u="none" cap="none" strike="noStrike">
              <a:solidFill>
                <a:schemeClr val="dk1"/>
              </a:solidFill>
              <a:latin typeface="Calibri"/>
              <a:ea typeface="Calibri"/>
              <a:cs typeface="Calibri"/>
              <a:sym typeface="Calibri"/>
            </a:endParaRPr>
          </a:p>
        </p:txBody>
      </p:sp>
      <p:sp>
        <p:nvSpPr>
          <p:cNvPr id="468" name="Google Shape;468;p22"/>
          <p:cNvSpPr/>
          <p:nvPr/>
        </p:nvSpPr>
        <p:spPr>
          <a:xfrm>
            <a:off x="310896" y="786384"/>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2"/>
          <p:cNvSpPr/>
          <p:nvPr/>
        </p:nvSpPr>
        <p:spPr>
          <a:xfrm>
            <a:off x="310896" y="786384"/>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2"/>
          <p:cNvSpPr/>
          <p:nvPr/>
        </p:nvSpPr>
        <p:spPr>
          <a:xfrm>
            <a:off x="493776" y="886968"/>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2"/>
          <p:cNvSpPr/>
          <p:nvPr/>
        </p:nvSpPr>
        <p:spPr>
          <a:xfrm>
            <a:off x="493776" y="88696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472" name="Google Shape;472;p22"/>
          <p:cNvSpPr/>
          <p:nvPr/>
        </p:nvSpPr>
        <p:spPr>
          <a:xfrm>
            <a:off x="950976" y="786384"/>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#PR・#広告 等のステマ表記がされているか（法律上の義務！）</a:t>
            </a:r>
            <a:endParaRPr b="0" i="0" sz="1450" u="none" cap="none" strike="noStrike">
              <a:solidFill>
                <a:schemeClr val="dk1"/>
              </a:solidFill>
              <a:latin typeface="Calibri"/>
              <a:ea typeface="Calibri"/>
              <a:cs typeface="Calibri"/>
              <a:sym typeface="Calibri"/>
            </a:endParaRPr>
          </a:p>
        </p:txBody>
      </p:sp>
      <p:sp>
        <p:nvSpPr>
          <p:cNvPr id="473" name="Google Shape;473;p22"/>
          <p:cNvSpPr/>
          <p:nvPr/>
        </p:nvSpPr>
        <p:spPr>
          <a:xfrm>
            <a:off x="310896" y="1417320"/>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2"/>
          <p:cNvSpPr/>
          <p:nvPr/>
        </p:nvSpPr>
        <p:spPr>
          <a:xfrm>
            <a:off x="310896" y="1417320"/>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2"/>
          <p:cNvSpPr/>
          <p:nvPr/>
        </p:nvSpPr>
        <p:spPr>
          <a:xfrm>
            <a:off x="493776" y="1517904"/>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2"/>
          <p:cNvSpPr/>
          <p:nvPr/>
        </p:nvSpPr>
        <p:spPr>
          <a:xfrm>
            <a:off x="493776" y="151790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477" name="Google Shape;477;p22"/>
          <p:cNvSpPr/>
          <p:nvPr/>
        </p:nvSpPr>
        <p:spPr>
          <a:xfrm>
            <a:off x="950976" y="1417320"/>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商品名・ブランド名のスペルに間違いはないか</a:t>
            </a:r>
            <a:endParaRPr b="0" i="0" sz="1450" u="none" cap="none" strike="noStrike">
              <a:solidFill>
                <a:schemeClr val="dk1"/>
              </a:solidFill>
              <a:latin typeface="Calibri"/>
              <a:ea typeface="Calibri"/>
              <a:cs typeface="Calibri"/>
              <a:sym typeface="Calibri"/>
            </a:endParaRPr>
          </a:p>
        </p:txBody>
      </p:sp>
      <p:sp>
        <p:nvSpPr>
          <p:cNvPr id="478" name="Google Shape;478;p22"/>
          <p:cNvSpPr/>
          <p:nvPr/>
        </p:nvSpPr>
        <p:spPr>
          <a:xfrm>
            <a:off x="310896" y="2048256"/>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2"/>
          <p:cNvSpPr/>
          <p:nvPr/>
        </p:nvSpPr>
        <p:spPr>
          <a:xfrm>
            <a:off x="310896" y="2048256"/>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2"/>
          <p:cNvSpPr/>
          <p:nvPr/>
        </p:nvSpPr>
        <p:spPr>
          <a:xfrm>
            <a:off x="493776" y="2148840"/>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2"/>
          <p:cNvSpPr/>
          <p:nvPr/>
        </p:nvSpPr>
        <p:spPr>
          <a:xfrm>
            <a:off x="493776" y="214884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482" name="Google Shape;482;p22"/>
          <p:cNvSpPr/>
          <p:nvPr/>
        </p:nvSpPr>
        <p:spPr>
          <a:xfrm>
            <a:off x="950976" y="2048256"/>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テロップに誤字脱字はないか</a:t>
            </a:r>
            <a:endParaRPr b="0" i="0" sz="1450" u="none" cap="none" strike="noStrike">
              <a:solidFill>
                <a:schemeClr val="dk1"/>
              </a:solidFill>
              <a:latin typeface="Calibri"/>
              <a:ea typeface="Calibri"/>
              <a:cs typeface="Calibri"/>
              <a:sym typeface="Calibri"/>
            </a:endParaRPr>
          </a:p>
        </p:txBody>
      </p:sp>
      <p:sp>
        <p:nvSpPr>
          <p:cNvPr id="483" name="Google Shape;483;p22"/>
          <p:cNvSpPr/>
          <p:nvPr/>
        </p:nvSpPr>
        <p:spPr>
          <a:xfrm>
            <a:off x="310896" y="2679192"/>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2"/>
          <p:cNvSpPr/>
          <p:nvPr/>
        </p:nvSpPr>
        <p:spPr>
          <a:xfrm>
            <a:off x="310896" y="2679192"/>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2"/>
          <p:cNvSpPr/>
          <p:nvPr/>
        </p:nvSpPr>
        <p:spPr>
          <a:xfrm>
            <a:off x="493776" y="2779776"/>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2"/>
          <p:cNvSpPr/>
          <p:nvPr/>
        </p:nvSpPr>
        <p:spPr>
          <a:xfrm>
            <a:off x="493776" y="2779776"/>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487" name="Google Shape;487;p22"/>
          <p:cNvSpPr/>
          <p:nvPr/>
        </p:nvSpPr>
        <p:spPr>
          <a:xfrm>
            <a:off x="950976" y="2679192"/>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音声・BGMのボリュームバランスはOKか</a:t>
            </a:r>
            <a:endParaRPr b="0" i="0" sz="1450" u="none" cap="none" strike="noStrike">
              <a:solidFill>
                <a:schemeClr val="dk1"/>
              </a:solidFill>
              <a:latin typeface="Calibri"/>
              <a:ea typeface="Calibri"/>
              <a:cs typeface="Calibri"/>
              <a:sym typeface="Calibri"/>
            </a:endParaRPr>
          </a:p>
        </p:txBody>
      </p:sp>
      <p:sp>
        <p:nvSpPr>
          <p:cNvPr id="488" name="Google Shape;488;p22"/>
          <p:cNvSpPr/>
          <p:nvPr/>
        </p:nvSpPr>
        <p:spPr>
          <a:xfrm>
            <a:off x="310896" y="3310128"/>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2"/>
          <p:cNvSpPr/>
          <p:nvPr/>
        </p:nvSpPr>
        <p:spPr>
          <a:xfrm>
            <a:off x="310896" y="3310128"/>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2"/>
          <p:cNvSpPr/>
          <p:nvPr/>
        </p:nvSpPr>
        <p:spPr>
          <a:xfrm>
            <a:off x="493776" y="3410712"/>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2"/>
          <p:cNvSpPr/>
          <p:nvPr/>
        </p:nvSpPr>
        <p:spPr>
          <a:xfrm>
            <a:off x="493776" y="341071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492" name="Google Shape;492;p22"/>
          <p:cNvSpPr/>
          <p:nvPr/>
        </p:nvSpPr>
        <p:spPr>
          <a:xfrm>
            <a:off x="950976" y="3310128"/>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TORIHADAから「投稿OK」のGoサインが来ているか</a:t>
            </a:r>
            <a:endParaRPr b="0" i="0" sz="1450" u="none" cap="none" strike="noStrike">
              <a:solidFill>
                <a:schemeClr val="dk1"/>
              </a:solidFill>
              <a:latin typeface="Calibri"/>
              <a:ea typeface="Calibri"/>
              <a:cs typeface="Calibri"/>
              <a:sym typeface="Calibri"/>
            </a:endParaRPr>
          </a:p>
        </p:txBody>
      </p:sp>
      <p:sp>
        <p:nvSpPr>
          <p:cNvPr id="493" name="Google Shape;493;p22"/>
          <p:cNvSpPr/>
          <p:nvPr/>
        </p:nvSpPr>
        <p:spPr>
          <a:xfrm>
            <a:off x="310896" y="4032504"/>
            <a:ext cx="8522208" cy="493776"/>
          </a:xfrm>
          <a:prstGeom prst="rect">
            <a:avLst/>
          </a:prstGeom>
          <a:solidFill>
            <a:srgbClr val="FEF3C7"/>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2"/>
          <p:cNvSpPr/>
          <p:nvPr/>
        </p:nvSpPr>
        <p:spPr>
          <a:xfrm>
            <a:off x="457200" y="4032504"/>
            <a:ext cx="83210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300"/>
              <a:buFont typeface="Meiryo"/>
              <a:buNone/>
            </a:pPr>
            <a:r>
              <a:rPr b="1" i="0" lang="en-US" sz="1300" u="none" cap="none" strike="noStrike">
                <a:solidFill>
                  <a:srgbClr val="92400E"/>
                </a:solidFill>
                <a:latin typeface="Meiryo"/>
                <a:ea typeface="Meiryo"/>
                <a:cs typeface="Meiryo"/>
                <a:sym typeface="Meiryo"/>
              </a:rPr>
              <a:t>⚠️  Goサインなしに投稿するのは厳禁！必ず確認を待ってから投稿してください</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499" name="Shape 499"/>
        <p:cNvGrpSpPr/>
        <p:nvPr/>
      </p:nvGrpSpPr>
      <p:grpSpPr>
        <a:xfrm>
          <a:off x="0" y="0"/>
          <a:ext cx="0" cy="0"/>
          <a:chOff x="0" y="0"/>
          <a:chExt cx="0" cy="0"/>
        </a:xfrm>
      </p:grpSpPr>
      <p:sp>
        <p:nvSpPr>
          <p:cNvPr id="500" name="Google Shape;500;p23"/>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3"/>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投稿したら「即」URLを共有！</a:t>
            </a:r>
            <a:endParaRPr b="0" i="0" sz="2100" u="none" cap="none" strike="noStrike">
              <a:solidFill>
                <a:schemeClr val="dk1"/>
              </a:solidFill>
              <a:latin typeface="Calibri"/>
              <a:ea typeface="Calibri"/>
              <a:cs typeface="Calibri"/>
              <a:sym typeface="Calibri"/>
            </a:endParaRPr>
          </a:p>
        </p:txBody>
      </p:sp>
      <p:sp>
        <p:nvSpPr>
          <p:cNvPr id="502" name="Google Shape;502;p23"/>
          <p:cNvSpPr/>
          <p:nvPr/>
        </p:nvSpPr>
        <p:spPr>
          <a:xfrm>
            <a:off x="310896" y="804672"/>
            <a:ext cx="8522208" cy="749808"/>
          </a:xfrm>
          <a:prstGeom prst="rect">
            <a:avLst/>
          </a:prstGeom>
          <a:solidFill>
            <a:srgbClr val="E8EAF6"/>
          </a:solidFill>
          <a:ln cap="flat" cmpd="sng" w="9525">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3"/>
          <p:cNvSpPr/>
          <p:nvPr/>
        </p:nvSpPr>
        <p:spPr>
          <a:xfrm>
            <a:off x="310896" y="804672"/>
            <a:ext cx="59436" cy="74980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3"/>
          <p:cNvSpPr/>
          <p:nvPr/>
        </p:nvSpPr>
        <p:spPr>
          <a:xfrm>
            <a:off x="493776" y="804672"/>
            <a:ext cx="82296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  投稿＝終わりではない。URLを共有するまでが仕事！</a:t>
            </a:r>
            <a:endParaRPr b="0" i="0" sz="1550" u="none" cap="none" strike="noStrike">
              <a:solidFill>
                <a:schemeClr val="dk1"/>
              </a:solidFill>
              <a:latin typeface="Calibri"/>
              <a:ea typeface="Calibri"/>
              <a:cs typeface="Calibri"/>
              <a:sym typeface="Calibri"/>
            </a:endParaRPr>
          </a:p>
        </p:txBody>
      </p:sp>
      <p:sp>
        <p:nvSpPr>
          <p:cNvPr id="505" name="Google Shape;505;p23"/>
          <p:cNvSpPr/>
          <p:nvPr/>
        </p:nvSpPr>
        <p:spPr>
          <a:xfrm>
            <a:off x="310896" y="166420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3"/>
          <p:cNvSpPr/>
          <p:nvPr/>
        </p:nvSpPr>
        <p:spPr>
          <a:xfrm>
            <a:off x="310896" y="166420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3"/>
          <p:cNvSpPr/>
          <p:nvPr/>
        </p:nvSpPr>
        <p:spPr>
          <a:xfrm>
            <a:off x="493776" y="166420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投稿完了したら、すぐに投稿URLをTORIHADA担当者にシェア</a:t>
            </a:r>
            <a:endParaRPr b="0" i="0" sz="1450" u="none" cap="none" strike="noStrike">
              <a:solidFill>
                <a:schemeClr val="dk1"/>
              </a:solidFill>
              <a:latin typeface="Calibri"/>
              <a:ea typeface="Calibri"/>
              <a:cs typeface="Calibri"/>
              <a:sym typeface="Calibri"/>
            </a:endParaRPr>
          </a:p>
        </p:txBody>
      </p:sp>
      <p:sp>
        <p:nvSpPr>
          <p:cNvPr id="508" name="Google Shape;508;p23"/>
          <p:cNvSpPr/>
          <p:nvPr/>
        </p:nvSpPr>
        <p:spPr>
          <a:xfrm>
            <a:off x="310896" y="239572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3"/>
          <p:cNvSpPr/>
          <p:nvPr/>
        </p:nvSpPr>
        <p:spPr>
          <a:xfrm>
            <a:off x="310896" y="239572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3"/>
          <p:cNvSpPr/>
          <p:nvPr/>
        </p:nvSpPr>
        <p:spPr>
          <a:xfrm>
            <a:off x="493776" y="239572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メッセージ例：「投稿しました！URL：https://...」</a:t>
            </a:r>
            <a:endParaRPr b="0" i="0" sz="1450" u="none" cap="none" strike="noStrike">
              <a:solidFill>
                <a:schemeClr val="dk1"/>
              </a:solidFill>
              <a:latin typeface="Calibri"/>
              <a:ea typeface="Calibri"/>
              <a:cs typeface="Calibri"/>
              <a:sym typeface="Calibri"/>
            </a:endParaRPr>
          </a:p>
        </p:txBody>
      </p:sp>
      <p:sp>
        <p:nvSpPr>
          <p:cNvPr id="511" name="Google Shape;511;p23"/>
          <p:cNvSpPr/>
          <p:nvPr/>
        </p:nvSpPr>
        <p:spPr>
          <a:xfrm>
            <a:off x="310896" y="312724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3"/>
          <p:cNvSpPr/>
          <p:nvPr/>
        </p:nvSpPr>
        <p:spPr>
          <a:xfrm>
            <a:off x="310896" y="312724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3"/>
          <p:cNvSpPr/>
          <p:nvPr/>
        </p:nvSpPr>
        <p:spPr>
          <a:xfrm>
            <a:off x="493776" y="312724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報告が遅れると「投稿確認ができない」「広告配信が遅れる」などの問題が発生</a:t>
            </a:r>
            <a:endParaRPr b="0" i="0" sz="1450" u="none" cap="none" strike="noStrike">
              <a:solidFill>
                <a:schemeClr val="dk1"/>
              </a:solidFill>
              <a:latin typeface="Calibri"/>
              <a:ea typeface="Calibri"/>
              <a:cs typeface="Calibri"/>
              <a:sym typeface="Calibri"/>
            </a:endParaRPr>
          </a:p>
        </p:txBody>
      </p:sp>
      <p:sp>
        <p:nvSpPr>
          <p:cNvPr id="514" name="Google Shape;514;p23"/>
          <p:cNvSpPr/>
          <p:nvPr/>
        </p:nvSpPr>
        <p:spPr>
          <a:xfrm>
            <a:off x="310896" y="3950208"/>
            <a:ext cx="8522208" cy="47548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3"/>
          <p:cNvSpPr/>
          <p:nvPr/>
        </p:nvSpPr>
        <p:spPr>
          <a:xfrm>
            <a:off x="457200" y="3950208"/>
            <a:ext cx="8321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250"/>
              <a:buFont typeface="Meiryo"/>
              <a:buNone/>
            </a:pPr>
            <a:r>
              <a:rPr b="0" i="0" lang="en-US" sz="1250" u="none" cap="none" strike="noStrike">
                <a:solidFill>
                  <a:srgbClr val="B45309"/>
                </a:solidFill>
                <a:latin typeface="Meiryo"/>
                <a:ea typeface="Meiryo"/>
                <a:cs typeface="Meiryo"/>
                <a:sym typeface="Meiryo"/>
              </a:rPr>
              <a:t>💡  「すぐに」の目安は投稿後</a:t>
            </a:r>
            <a:r>
              <a:rPr lang="en-US" sz="1250">
                <a:solidFill>
                  <a:srgbClr val="B45309"/>
                </a:solidFill>
                <a:latin typeface="Meiryo"/>
                <a:ea typeface="Meiryo"/>
                <a:cs typeface="Meiryo"/>
                <a:sym typeface="Meiryo"/>
              </a:rPr>
              <a:t>15</a:t>
            </a:r>
            <a:r>
              <a:rPr b="0" i="0" lang="en-US" sz="1250" u="none" cap="none" strike="noStrike">
                <a:solidFill>
                  <a:srgbClr val="B45309"/>
                </a:solidFill>
                <a:latin typeface="Meiryo"/>
                <a:ea typeface="Meiryo"/>
                <a:cs typeface="Meiryo"/>
                <a:sym typeface="Meiryo"/>
              </a:rPr>
              <a:t>分以内。スピードが信頼につながります</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520" name="Shape 520"/>
        <p:cNvGrpSpPr/>
        <p:nvPr/>
      </p:nvGrpSpPr>
      <p:grpSpPr>
        <a:xfrm>
          <a:off x="0" y="0"/>
          <a:ext cx="0" cy="0"/>
          <a:chOff x="0" y="0"/>
          <a:chExt cx="0" cy="0"/>
        </a:xfrm>
      </p:grpSpPr>
      <p:sp>
        <p:nvSpPr>
          <p:cNvPr id="521" name="Google Shape;521;p24"/>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4"/>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二次利用がある場合の追加作業</a:t>
            </a:r>
            <a:endParaRPr b="0" i="0" sz="2100" u="none" cap="none" strike="noStrike">
              <a:solidFill>
                <a:schemeClr val="dk1"/>
              </a:solidFill>
              <a:latin typeface="Calibri"/>
              <a:ea typeface="Calibri"/>
              <a:cs typeface="Calibri"/>
              <a:sym typeface="Calibri"/>
            </a:endParaRPr>
          </a:p>
        </p:txBody>
      </p:sp>
      <p:sp>
        <p:nvSpPr>
          <p:cNvPr id="523" name="Google Shape;523;p24"/>
          <p:cNvSpPr/>
          <p:nvPr/>
        </p:nvSpPr>
        <p:spPr>
          <a:xfrm>
            <a:off x="310896" y="804672"/>
            <a:ext cx="4133088" cy="3950208"/>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4"/>
          <p:cNvSpPr/>
          <p:nvPr/>
        </p:nvSpPr>
        <p:spPr>
          <a:xfrm>
            <a:off x="310896" y="804672"/>
            <a:ext cx="4133088"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4"/>
          <p:cNvSpPr/>
          <p:nvPr/>
        </p:nvSpPr>
        <p:spPr>
          <a:xfrm>
            <a:off x="493776" y="914400"/>
            <a:ext cx="3803904"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600"/>
              <a:buFont typeface="Meiryo"/>
              <a:buNone/>
            </a:pPr>
            <a:r>
              <a:rPr b="1" i="0" lang="en-US" sz="1600" u="none" cap="none" strike="noStrike">
                <a:solidFill>
                  <a:srgbClr val="1E3068"/>
                </a:solidFill>
                <a:latin typeface="Meiryo"/>
                <a:ea typeface="Meiryo"/>
                <a:cs typeface="Meiryo"/>
                <a:sym typeface="Meiryo"/>
              </a:rPr>
              <a:t>広告コード</a:t>
            </a:r>
            <a:endParaRPr b="0" i="0" sz="1600" u="none" cap="none" strike="noStrike">
              <a:solidFill>
                <a:schemeClr val="dk1"/>
              </a:solidFill>
              <a:latin typeface="Calibri"/>
              <a:ea typeface="Calibri"/>
              <a:cs typeface="Calibri"/>
              <a:sym typeface="Calibri"/>
            </a:endParaRPr>
          </a:p>
        </p:txBody>
      </p:sp>
      <p:sp>
        <p:nvSpPr>
          <p:cNvPr id="526" name="Google Shape;526;p24"/>
          <p:cNvSpPr/>
          <p:nvPr/>
        </p:nvSpPr>
        <p:spPr>
          <a:xfrm>
            <a:off x="493776" y="1499616"/>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「この動画を広告配信してOK」</a:t>
            </a:r>
            <a:endParaRPr b="0" i="0" sz="13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という許可コード</a:t>
            </a:r>
            <a:endParaRPr b="0" i="0" sz="1350" u="none" cap="none" strike="noStrike">
              <a:solidFill>
                <a:schemeClr val="dk1"/>
              </a:solidFill>
              <a:latin typeface="Calibri"/>
              <a:ea typeface="Calibri"/>
              <a:cs typeface="Calibri"/>
              <a:sym typeface="Calibri"/>
            </a:endParaRPr>
          </a:p>
        </p:txBody>
      </p:sp>
      <p:sp>
        <p:nvSpPr>
          <p:cNvPr id="527" name="Google Shape;527;p24"/>
          <p:cNvSpPr/>
          <p:nvPr/>
        </p:nvSpPr>
        <p:spPr>
          <a:xfrm>
            <a:off x="493776" y="2267712"/>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TikTokダッシュボードから発行</a:t>
            </a:r>
            <a:endParaRPr b="0" i="0" sz="1350" u="none" cap="none" strike="noStrike">
              <a:solidFill>
                <a:schemeClr val="dk1"/>
              </a:solidFill>
              <a:latin typeface="Calibri"/>
              <a:ea typeface="Calibri"/>
              <a:cs typeface="Calibri"/>
              <a:sym typeface="Calibri"/>
            </a:endParaRPr>
          </a:p>
        </p:txBody>
      </p:sp>
      <p:sp>
        <p:nvSpPr>
          <p:cNvPr id="528" name="Google Shape;528;p24"/>
          <p:cNvSpPr/>
          <p:nvPr/>
        </p:nvSpPr>
        <p:spPr>
          <a:xfrm>
            <a:off x="493776" y="3035808"/>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案件に「二次利用（広告配信）」の</a:t>
            </a:r>
            <a:endParaRPr b="0" i="0" sz="13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記載がある場合に提出</a:t>
            </a:r>
            <a:endParaRPr b="0" i="0" sz="1350" u="none" cap="none" strike="noStrike">
              <a:solidFill>
                <a:schemeClr val="dk1"/>
              </a:solidFill>
              <a:latin typeface="Calibri"/>
              <a:ea typeface="Calibri"/>
              <a:cs typeface="Calibri"/>
              <a:sym typeface="Calibri"/>
            </a:endParaRPr>
          </a:p>
        </p:txBody>
      </p:sp>
      <p:sp>
        <p:nvSpPr>
          <p:cNvPr id="529" name="Google Shape;529;p24"/>
          <p:cNvSpPr/>
          <p:nvPr/>
        </p:nvSpPr>
        <p:spPr>
          <a:xfrm>
            <a:off x="4553712" y="804672"/>
            <a:ext cx="4133088" cy="3950208"/>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4"/>
          <p:cNvSpPr/>
          <p:nvPr/>
        </p:nvSpPr>
        <p:spPr>
          <a:xfrm>
            <a:off x="4553712" y="804672"/>
            <a:ext cx="4133088" cy="59436"/>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4"/>
          <p:cNvSpPr/>
          <p:nvPr/>
        </p:nvSpPr>
        <p:spPr>
          <a:xfrm>
            <a:off x="4736592" y="914400"/>
            <a:ext cx="3803904"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600"/>
              <a:buFont typeface="Meiryo"/>
              <a:buNone/>
            </a:pPr>
            <a:r>
              <a:rPr b="1" i="0" lang="en-US" sz="1600" u="none" cap="none" strike="noStrike">
                <a:solidFill>
                  <a:srgbClr val="1E3068"/>
                </a:solidFill>
                <a:latin typeface="Meiryo"/>
                <a:ea typeface="Meiryo"/>
                <a:cs typeface="Meiryo"/>
                <a:sym typeface="Meiryo"/>
              </a:rPr>
              <a:t>完パケ動画</a:t>
            </a:r>
            <a:endParaRPr b="0" i="0" sz="1600" u="none" cap="none" strike="noStrike">
              <a:solidFill>
                <a:schemeClr val="dk1"/>
              </a:solidFill>
              <a:latin typeface="Calibri"/>
              <a:ea typeface="Calibri"/>
              <a:cs typeface="Calibri"/>
              <a:sym typeface="Calibri"/>
            </a:endParaRPr>
          </a:p>
        </p:txBody>
      </p:sp>
      <p:sp>
        <p:nvSpPr>
          <p:cNvPr id="532" name="Google Shape;532;p24"/>
          <p:cNvSpPr/>
          <p:nvPr/>
        </p:nvSpPr>
        <p:spPr>
          <a:xfrm>
            <a:off x="4736592" y="1499616"/>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完全パッケージ（完パケ）の略</a:t>
            </a:r>
            <a:endParaRPr b="0" i="0" sz="1350" u="none" cap="none" strike="noStrike">
              <a:solidFill>
                <a:schemeClr val="dk1"/>
              </a:solidFill>
              <a:latin typeface="Calibri"/>
              <a:ea typeface="Calibri"/>
              <a:cs typeface="Calibri"/>
              <a:sym typeface="Calibri"/>
            </a:endParaRPr>
          </a:p>
        </p:txBody>
      </p:sp>
      <p:sp>
        <p:nvSpPr>
          <p:cNvPr id="533" name="Google Shape;533;p24"/>
          <p:cNvSpPr/>
          <p:nvPr/>
        </p:nvSpPr>
        <p:spPr>
          <a:xfrm>
            <a:off x="4736592" y="2267712"/>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テロップ・音声・BGMが</a:t>
            </a:r>
            <a:endParaRPr b="0" i="0" sz="13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すべて入った最終完成データ</a:t>
            </a:r>
            <a:endParaRPr b="0" i="0" sz="1350" u="none" cap="none" strike="noStrike">
              <a:solidFill>
                <a:schemeClr val="dk1"/>
              </a:solidFill>
              <a:latin typeface="Calibri"/>
              <a:ea typeface="Calibri"/>
              <a:cs typeface="Calibri"/>
              <a:sym typeface="Calibri"/>
            </a:endParaRPr>
          </a:p>
        </p:txBody>
      </p:sp>
      <p:sp>
        <p:nvSpPr>
          <p:cNvPr id="534" name="Google Shape;534;p24"/>
          <p:cNvSpPr/>
          <p:nvPr/>
        </p:nvSpPr>
        <p:spPr>
          <a:xfrm>
            <a:off x="4736592" y="3035808"/>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案件によって提出先・方法が</a:t>
            </a:r>
            <a:endParaRPr b="0" i="0" sz="13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異なるので事前に確認</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539" name="Shape 539"/>
        <p:cNvGrpSpPr/>
        <p:nvPr/>
      </p:nvGrpSpPr>
      <p:grpSpPr>
        <a:xfrm>
          <a:off x="0" y="0"/>
          <a:ext cx="0" cy="0"/>
          <a:chOff x="0" y="0"/>
          <a:chExt cx="0" cy="0"/>
        </a:xfrm>
      </p:grpSpPr>
      <p:sp>
        <p:nvSpPr>
          <p:cNvPr id="540" name="Google Shape;540;p25"/>
          <p:cNvSpPr/>
          <p:nvPr/>
        </p:nvSpPr>
        <p:spPr>
          <a:xfrm>
            <a:off x="0" y="0"/>
            <a:ext cx="2743200"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5"/>
          <p:cNvSpPr/>
          <p:nvPr/>
        </p:nvSpPr>
        <p:spPr>
          <a:xfrm>
            <a:off x="237744" y="1005840"/>
            <a:ext cx="2286000" cy="210312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FFFFFF"/>
              </a:buClr>
              <a:buSzPts val="2600"/>
              <a:buFont typeface="Meiryo"/>
              <a:buNone/>
            </a:pPr>
            <a:r>
              <a:rPr b="1" i="0" lang="en-US" sz="2600" u="none" cap="none" strike="noStrike">
                <a:solidFill>
                  <a:srgbClr val="FFFFFF"/>
                </a:solidFill>
                <a:latin typeface="Meiryo"/>
                <a:ea typeface="Meiryo"/>
                <a:cs typeface="Meiryo"/>
                <a:sym typeface="Meiryo"/>
              </a:rPr>
              <a:t>まとめ</a:t>
            </a:r>
            <a:endParaRPr b="0" i="0" sz="2600" u="none" cap="none" strike="noStrike">
              <a:solidFill>
                <a:schemeClr val="dk1"/>
              </a:solidFill>
              <a:latin typeface="Calibri"/>
              <a:ea typeface="Calibri"/>
              <a:cs typeface="Calibri"/>
              <a:sym typeface="Calibri"/>
            </a:endParaRPr>
          </a:p>
        </p:txBody>
      </p:sp>
      <p:sp>
        <p:nvSpPr>
          <p:cNvPr id="542" name="Google Shape;542;p25"/>
          <p:cNvSpPr/>
          <p:nvPr/>
        </p:nvSpPr>
        <p:spPr>
          <a:xfrm>
            <a:off x="237744" y="4114800"/>
            <a:ext cx="22860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100"/>
              <a:buFont typeface="Meiryo"/>
              <a:buNone/>
            </a:pPr>
            <a:r>
              <a:rPr b="0" i="0" lang="en-US" sz="1100" u="none" cap="none" strike="noStrike">
                <a:solidFill>
                  <a:srgbClr val="A0B8D8"/>
                </a:solidFill>
                <a:latin typeface="Meiryo"/>
                <a:ea typeface="Meiryo"/>
                <a:cs typeface="Meiryo"/>
                <a:sym typeface="Meiryo"/>
              </a:rPr>
              <a:t>動画まとめ</a:t>
            </a:r>
            <a:endParaRPr b="0" i="0" sz="1100" u="none" cap="none" strike="noStrike">
              <a:solidFill>
                <a:schemeClr val="dk1"/>
              </a:solidFill>
              <a:latin typeface="Calibri"/>
              <a:ea typeface="Calibri"/>
              <a:cs typeface="Calibri"/>
              <a:sym typeface="Calibri"/>
            </a:endParaRPr>
          </a:p>
        </p:txBody>
      </p:sp>
      <p:sp>
        <p:nvSpPr>
          <p:cNvPr id="543" name="Google Shape;543;p25"/>
          <p:cNvSpPr/>
          <p:nvPr/>
        </p:nvSpPr>
        <p:spPr>
          <a:xfrm>
            <a:off x="2944368" y="329184"/>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5"/>
          <p:cNvSpPr/>
          <p:nvPr/>
        </p:nvSpPr>
        <p:spPr>
          <a:xfrm>
            <a:off x="3072384" y="329184"/>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01</a:t>
            </a:r>
            <a:endParaRPr b="0" i="0" sz="2000" u="none" cap="none" strike="noStrike">
              <a:solidFill>
                <a:schemeClr val="dk1"/>
              </a:solidFill>
              <a:latin typeface="Calibri"/>
              <a:ea typeface="Calibri"/>
              <a:cs typeface="Calibri"/>
              <a:sym typeface="Calibri"/>
            </a:endParaRPr>
          </a:p>
        </p:txBody>
      </p:sp>
      <p:sp>
        <p:nvSpPr>
          <p:cNvPr id="545" name="Google Shape;545;p25"/>
          <p:cNvSpPr/>
          <p:nvPr/>
        </p:nvSpPr>
        <p:spPr>
          <a:xfrm>
            <a:off x="3749040" y="329184"/>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投稿前は5項目のセルフチェック（特にステマ表記とGoサイン確認）</a:t>
            </a:r>
            <a:endParaRPr b="0" i="0" sz="1550" u="none" cap="none" strike="noStrike">
              <a:solidFill>
                <a:schemeClr val="dk1"/>
              </a:solidFill>
              <a:latin typeface="Calibri"/>
              <a:ea typeface="Calibri"/>
              <a:cs typeface="Calibri"/>
              <a:sym typeface="Calibri"/>
            </a:endParaRPr>
          </a:p>
        </p:txBody>
      </p:sp>
      <p:cxnSp>
        <p:nvCxnSpPr>
          <p:cNvPr id="546" name="Google Shape;546;p25"/>
          <p:cNvCxnSpPr/>
          <p:nvPr/>
        </p:nvCxnSpPr>
        <p:spPr>
          <a:xfrm>
            <a:off x="2944368" y="1216152"/>
            <a:ext cx="5925312" cy="0"/>
          </a:xfrm>
          <a:prstGeom prst="straightConnector1">
            <a:avLst/>
          </a:prstGeom>
          <a:noFill/>
          <a:ln cap="flat" cmpd="sng" w="9525">
            <a:solidFill>
              <a:srgbClr val="D1D5DB"/>
            </a:solidFill>
            <a:prstDash val="solid"/>
            <a:round/>
            <a:headEnd len="sm" w="sm" type="none"/>
            <a:tailEnd len="sm" w="sm" type="none"/>
          </a:ln>
        </p:spPr>
      </p:cxnSp>
      <p:sp>
        <p:nvSpPr>
          <p:cNvPr id="547" name="Google Shape;547;p25"/>
          <p:cNvSpPr/>
          <p:nvPr/>
        </p:nvSpPr>
        <p:spPr>
          <a:xfrm>
            <a:off x="2944368" y="1261872"/>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5"/>
          <p:cNvSpPr/>
          <p:nvPr/>
        </p:nvSpPr>
        <p:spPr>
          <a:xfrm>
            <a:off x="3072384" y="1261872"/>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02</a:t>
            </a:r>
            <a:endParaRPr b="0" i="0" sz="2000" u="none" cap="none" strike="noStrike">
              <a:solidFill>
                <a:schemeClr val="dk1"/>
              </a:solidFill>
              <a:latin typeface="Calibri"/>
              <a:ea typeface="Calibri"/>
              <a:cs typeface="Calibri"/>
              <a:sym typeface="Calibri"/>
            </a:endParaRPr>
          </a:p>
        </p:txBody>
      </p:sp>
      <p:sp>
        <p:nvSpPr>
          <p:cNvPr id="549" name="Google Shape;549;p25"/>
          <p:cNvSpPr/>
          <p:nvPr/>
        </p:nvSpPr>
        <p:spPr>
          <a:xfrm>
            <a:off x="3749040" y="1261872"/>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投稿後はすぐにURLを共有する（投稿後も仕事は続く）</a:t>
            </a:r>
            <a:endParaRPr b="0" i="0" sz="1550" u="none" cap="none" strike="noStrike">
              <a:solidFill>
                <a:schemeClr val="dk1"/>
              </a:solidFill>
              <a:latin typeface="Calibri"/>
              <a:ea typeface="Calibri"/>
              <a:cs typeface="Calibri"/>
              <a:sym typeface="Calibri"/>
            </a:endParaRPr>
          </a:p>
        </p:txBody>
      </p:sp>
      <p:cxnSp>
        <p:nvCxnSpPr>
          <p:cNvPr id="550" name="Google Shape;550;p25"/>
          <p:cNvCxnSpPr/>
          <p:nvPr/>
        </p:nvCxnSpPr>
        <p:spPr>
          <a:xfrm>
            <a:off x="2944368" y="2148840"/>
            <a:ext cx="5925312" cy="0"/>
          </a:xfrm>
          <a:prstGeom prst="straightConnector1">
            <a:avLst/>
          </a:prstGeom>
          <a:noFill/>
          <a:ln cap="flat" cmpd="sng" w="9525">
            <a:solidFill>
              <a:srgbClr val="D1D5DB"/>
            </a:solidFill>
            <a:prstDash val="solid"/>
            <a:round/>
            <a:headEnd len="sm" w="sm" type="none"/>
            <a:tailEnd len="sm" w="sm" type="none"/>
          </a:ln>
        </p:spPr>
      </p:cxnSp>
      <p:sp>
        <p:nvSpPr>
          <p:cNvPr id="551" name="Google Shape;551;p25"/>
          <p:cNvSpPr/>
          <p:nvPr/>
        </p:nvSpPr>
        <p:spPr>
          <a:xfrm>
            <a:off x="2944368" y="2194560"/>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5"/>
          <p:cNvSpPr/>
          <p:nvPr/>
        </p:nvSpPr>
        <p:spPr>
          <a:xfrm>
            <a:off x="3072384" y="2194560"/>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03</a:t>
            </a:r>
            <a:endParaRPr b="0" i="0" sz="2000" u="none" cap="none" strike="noStrike">
              <a:solidFill>
                <a:schemeClr val="dk1"/>
              </a:solidFill>
              <a:latin typeface="Calibri"/>
              <a:ea typeface="Calibri"/>
              <a:cs typeface="Calibri"/>
              <a:sym typeface="Calibri"/>
            </a:endParaRPr>
          </a:p>
        </p:txBody>
      </p:sp>
      <p:sp>
        <p:nvSpPr>
          <p:cNvPr id="553" name="Google Shape;553;p25"/>
          <p:cNvSpPr/>
          <p:nvPr/>
        </p:nvSpPr>
        <p:spPr>
          <a:xfrm>
            <a:off x="3749040" y="2194560"/>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二次利用がある場合は広告コードと完パケ動画の対応も忘れずに</a:t>
            </a:r>
            <a:endParaRPr b="0" i="0" sz="1550" u="none" cap="none" strike="noStrike">
              <a:solidFill>
                <a:schemeClr val="dk1"/>
              </a:solidFill>
              <a:latin typeface="Calibri"/>
              <a:ea typeface="Calibri"/>
              <a:cs typeface="Calibri"/>
              <a:sym typeface="Calibri"/>
            </a:endParaRPr>
          </a:p>
        </p:txBody>
      </p:sp>
      <p:sp>
        <p:nvSpPr>
          <p:cNvPr id="554" name="Google Shape;554;p25"/>
          <p:cNvSpPr/>
          <p:nvPr/>
        </p:nvSpPr>
        <p:spPr>
          <a:xfrm>
            <a:off x="2944368" y="3273552"/>
            <a:ext cx="5925312" cy="65836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5"/>
          <p:cNvSpPr/>
          <p:nvPr/>
        </p:nvSpPr>
        <p:spPr>
          <a:xfrm>
            <a:off x="2944368" y="3273552"/>
            <a:ext cx="59436" cy="658368"/>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5"/>
          <p:cNvSpPr/>
          <p:nvPr/>
        </p:nvSpPr>
        <p:spPr>
          <a:xfrm>
            <a:off x="3108960" y="3273552"/>
            <a:ext cx="5687568"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030"/>
              </a:buClr>
              <a:buSzPts val="1350"/>
              <a:buFont typeface="Meiryo"/>
              <a:buNone/>
            </a:pPr>
            <a:r>
              <a:rPr b="1" i="0" lang="en-US" sz="1350" u="none" cap="none" strike="noStrike">
                <a:solidFill>
                  <a:srgbClr val="E87030"/>
                </a:solidFill>
                <a:latin typeface="Meiryo"/>
                <a:ea typeface="Meiryo"/>
                <a:cs typeface="Meiryo"/>
                <a:sym typeface="Meiryo"/>
              </a:rPr>
              <a:t>▶  Next  |  動画⑤：振り返り「インサイト」</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1" name="Shape 561"/>
        <p:cNvGrpSpPr/>
        <p:nvPr/>
      </p:nvGrpSpPr>
      <p:grpSpPr>
        <a:xfrm>
          <a:off x="0" y="0"/>
          <a:ext cx="0" cy="0"/>
          <a:chOff x="0" y="0"/>
          <a:chExt cx="0" cy="0"/>
        </a:xfrm>
      </p:grpSpPr>
      <p:sp>
        <p:nvSpPr>
          <p:cNvPr id="562" name="Google Shape;562;p26"/>
          <p:cNvSpPr/>
          <p:nvPr/>
        </p:nvSpPr>
        <p:spPr>
          <a:xfrm>
            <a:off x="0" y="0"/>
            <a:ext cx="2907792"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6"/>
          <p:cNvSpPr/>
          <p:nvPr/>
        </p:nvSpPr>
        <p:spPr>
          <a:xfrm>
            <a:off x="274320" y="475488"/>
            <a:ext cx="235915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500"/>
              <a:buFont typeface="Meiryo"/>
              <a:buNone/>
            </a:pPr>
            <a:r>
              <a:rPr b="1" i="0" lang="en-US" sz="1500" u="none" cap="none" strike="noStrike">
                <a:solidFill>
                  <a:srgbClr val="A0B8D8"/>
                </a:solidFill>
                <a:latin typeface="Meiryo"/>
                <a:ea typeface="Meiryo"/>
                <a:cs typeface="Meiryo"/>
                <a:sym typeface="Meiryo"/>
              </a:rPr>
              <a:t>第3章</a:t>
            </a:r>
            <a:endParaRPr b="0" i="0" sz="1500" u="none" cap="none" strike="noStrike">
              <a:solidFill>
                <a:schemeClr val="dk1"/>
              </a:solidFill>
              <a:latin typeface="Calibri"/>
              <a:ea typeface="Calibri"/>
              <a:cs typeface="Calibri"/>
              <a:sym typeface="Calibri"/>
            </a:endParaRPr>
          </a:p>
        </p:txBody>
      </p:sp>
      <p:sp>
        <p:nvSpPr>
          <p:cNvPr id="564" name="Google Shape;564;p26"/>
          <p:cNvSpPr/>
          <p:nvPr/>
        </p:nvSpPr>
        <p:spPr>
          <a:xfrm>
            <a:off x="274320" y="868680"/>
            <a:ext cx="2359152"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5000"/>
              <a:buFont typeface="Meiryo"/>
              <a:buNone/>
            </a:pPr>
            <a:r>
              <a:rPr b="1" i="0" lang="en-US" sz="5000" u="none" cap="none" strike="noStrike">
                <a:solidFill>
                  <a:srgbClr val="FFFFFF"/>
                </a:solidFill>
                <a:latin typeface="Meiryo"/>
                <a:ea typeface="Meiryo"/>
                <a:cs typeface="Meiryo"/>
                <a:sym typeface="Meiryo"/>
              </a:rPr>
              <a:t>動画⑤</a:t>
            </a:r>
            <a:endParaRPr b="0" i="0" sz="5000" u="none" cap="none" strike="noStrike">
              <a:solidFill>
                <a:schemeClr val="dk1"/>
              </a:solidFill>
              <a:latin typeface="Calibri"/>
              <a:ea typeface="Calibri"/>
              <a:cs typeface="Calibri"/>
              <a:sym typeface="Calibri"/>
            </a:endParaRPr>
          </a:p>
        </p:txBody>
      </p:sp>
      <p:sp>
        <p:nvSpPr>
          <p:cNvPr id="565" name="Google Shape;565;p26"/>
          <p:cNvSpPr/>
          <p:nvPr/>
        </p:nvSpPr>
        <p:spPr>
          <a:xfrm>
            <a:off x="274320" y="2011680"/>
            <a:ext cx="2359152"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300"/>
              <a:buFont typeface="Meiryo"/>
              <a:buNone/>
            </a:pPr>
            <a:r>
              <a:rPr b="0" i="0" lang="en-US" sz="1300" u="none" cap="none" strike="noStrike">
                <a:solidFill>
                  <a:srgbClr val="A0B8D8"/>
                </a:solidFill>
                <a:latin typeface="Meiryo"/>
                <a:ea typeface="Meiryo"/>
                <a:cs typeface="Meiryo"/>
                <a:sym typeface="Meiryo"/>
              </a:rPr>
              <a:t>進行フロー・ビジネス連絡</a:t>
            </a:r>
            <a:endParaRPr b="0" i="0" sz="1300" u="none" cap="none" strike="noStrike">
              <a:solidFill>
                <a:schemeClr val="dk1"/>
              </a:solidFill>
              <a:latin typeface="Calibri"/>
              <a:ea typeface="Calibri"/>
              <a:cs typeface="Calibri"/>
              <a:sym typeface="Calibri"/>
            </a:endParaRPr>
          </a:p>
        </p:txBody>
      </p:sp>
      <p:sp>
        <p:nvSpPr>
          <p:cNvPr id="566" name="Google Shape;566;p26"/>
          <p:cNvSpPr/>
          <p:nvPr/>
        </p:nvSpPr>
        <p:spPr>
          <a:xfrm>
            <a:off x="274320" y="2816352"/>
            <a:ext cx="1389888" cy="4023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6"/>
          <p:cNvSpPr/>
          <p:nvPr/>
        </p:nvSpPr>
        <p:spPr>
          <a:xfrm>
            <a:off x="274320" y="2816352"/>
            <a:ext cx="138988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eiryo"/>
              <a:buNone/>
            </a:pPr>
            <a:r>
              <a:rPr b="1" i="0" lang="en-US" sz="1300" u="none" cap="none" strike="noStrike">
                <a:solidFill>
                  <a:srgbClr val="FFFFFF"/>
                </a:solidFill>
                <a:latin typeface="Meiryo"/>
                <a:ea typeface="Meiryo"/>
                <a:cs typeface="Meiryo"/>
                <a:sym typeface="Meiryo"/>
              </a:rPr>
              <a:t>▶  約5分</a:t>
            </a:r>
            <a:endParaRPr b="0" i="0" sz="1300" u="none" cap="none" strike="noStrike">
              <a:solidFill>
                <a:schemeClr val="dk1"/>
              </a:solidFill>
              <a:latin typeface="Calibri"/>
              <a:ea typeface="Calibri"/>
              <a:cs typeface="Calibri"/>
              <a:sym typeface="Calibri"/>
            </a:endParaRPr>
          </a:p>
        </p:txBody>
      </p:sp>
      <p:sp>
        <p:nvSpPr>
          <p:cNvPr id="568" name="Google Shape;568;p26"/>
          <p:cNvSpPr/>
          <p:nvPr/>
        </p:nvSpPr>
        <p:spPr>
          <a:xfrm>
            <a:off x="3127248" y="219456"/>
            <a:ext cx="574243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800"/>
              <a:buFont typeface="Meiryo"/>
              <a:buNone/>
            </a:pPr>
            <a:r>
              <a:rPr b="0" i="0" lang="en-US" sz="800" u="none" cap="none" strike="noStrike">
                <a:solidFill>
                  <a:srgbClr val="1E3068"/>
                </a:solidFill>
                <a:latin typeface="Meiryo"/>
                <a:ea typeface="Meiryo"/>
                <a:cs typeface="Meiryo"/>
                <a:sym typeface="Meiryo"/>
              </a:rPr>
              <a:t>CREATOR NETWORK TRAINING</a:t>
            </a:r>
            <a:endParaRPr b="0" i="0" sz="800" u="none" cap="none" strike="noStrike">
              <a:solidFill>
                <a:schemeClr val="dk1"/>
              </a:solidFill>
              <a:latin typeface="Calibri"/>
              <a:ea typeface="Calibri"/>
              <a:cs typeface="Calibri"/>
              <a:sym typeface="Calibri"/>
            </a:endParaRPr>
          </a:p>
        </p:txBody>
      </p:sp>
      <p:sp>
        <p:nvSpPr>
          <p:cNvPr id="569" name="Google Shape;569;p26"/>
          <p:cNvSpPr/>
          <p:nvPr/>
        </p:nvSpPr>
        <p:spPr>
          <a:xfrm>
            <a:off x="3127248" y="621792"/>
            <a:ext cx="5577840" cy="260604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Clr>
                <a:srgbClr val="1E3068"/>
              </a:buClr>
              <a:buSzPts val="3800"/>
              <a:buFont typeface="Meiryo"/>
              <a:buNone/>
            </a:pPr>
            <a:r>
              <a:rPr b="1" i="0" lang="en-US" sz="3800" u="none" cap="none" strike="noStrike">
                <a:solidFill>
                  <a:srgbClr val="1E3068"/>
                </a:solidFill>
                <a:latin typeface="Meiryo"/>
                <a:ea typeface="Meiryo"/>
                <a:cs typeface="Meiryo"/>
                <a:sym typeface="Meiryo"/>
              </a:rPr>
              <a:t>振り返り</a:t>
            </a:r>
            <a:endParaRPr b="0" i="0" sz="38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1E3068"/>
              </a:buClr>
              <a:buSzPts val="3800"/>
              <a:buFont typeface="Meiryo"/>
              <a:buNone/>
            </a:pPr>
            <a:r>
              <a:rPr b="1" i="0" lang="en-US" sz="3800" u="none" cap="none" strike="noStrike">
                <a:solidFill>
                  <a:srgbClr val="1E3068"/>
                </a:solidFill>
                <a:latin typeface="Meiryo"/>
                <a:ea typeface="Meiryo"/>
                <a:cs typeface="Meiryo"/>
                <a:sym typeface="Meiryo"/>
              </a:rPr>
              <a:t>「インサイト」</a:t>
            </a:r>
            <a:endParaRPr b="0" i="0" sz="3800" u="none" cap="none" strike="noStrike">
              <a:solidFill>
                <a:schemeClr val="dk1"/>
              </a:solidFill>
              <a:latin typeface="Calibri"/>
              <a:ea typeface="Calibri"/>
              <a:cs typeface="Calibri"/>
              <a:sym typeface="Calibri"/>
            </a:endParaRPr>
          </a:p>
        </p:txBody>
      </p:sp>
      <p:sp>
        <p:nvSpPr>
          <p:cNvPr id="570" name="Google Shape;570;p26"/>
          <p:cNvSpPr/>
          <p:nvPr/>
        </p:nvSpPr>
        <p:spPr>
          <a:xfrm>
            <a:off x="3127248" y="3364992"/>
            <a:ext cx="1920240"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6"/>
          <p:cNvSpPr/>
          <p:nvPr/>
        </p:nvSpPr>
        <p:spPr>
          <a:xfrm>
            <a:off x="3127248" y="3529584"/>
            <a:ext cx="5577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400"/>
              <a:buFont typeface="Meiryo"/>
              <a:buNone/>
            </a:pPr>
            <a:r>
              <a:rPr b="0" i="0" lang="en-US" sz="1400" u="none" cap="none" strike="noStrike">
                <a:solidFill>
                  <a:srgbClr val="6B7280"/>
                </a:solidFill>
                <a:latin typeface="Meiryo"/>
                <a:ea typeface="Meiryo"/>
                <a:cs typeface="Meiryo"/>
                <a:sym typeface="Meiryo"/>
              </a:rPr>
              <a:t>クリエイターネットワーク研修</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576" name="Shape 576"/>
        <p:cNvGrpSpPr/>
        <p:nvPr/>
      </p:nvGrpSpPr>
      <p:grpSpPr>
        <a:xfrm>
          <a:off x="0" y="0"/>
          <a:ext cx="0" cy="0"/>
          <a:chOff x="0" y="0"/>
          <a:chExt cx="0" cy="0"/>
        </a:xfrm>
      </p:grpSpPr>
      <p:sp>
        <p:nvSpPr>
          <p:cNvPr id="577" name="Google Shape;577;p27"/>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7"/>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この動画で学ぶこと</a:t>
            </a:r>
            <a:endParaRPr b="0" i="0" sz="2100" u="none" cap="none" strike="noStrike">
              <a:solidFill>
                <a:schemeClr val="dk1"/>
              </a:solidFill>
              <a:latin typeface="Calibri"/>
              <a:ea typeface="Calibri"/>
              <a:cs typeface="Calibri"/>
              <a:sym typeface="Calibri"/>
            </a:endParaRPr>
          </a:p>
        </p:txBody>
      </p:sp>
      <p:sp>
        <p:nvSpPr>
          <p:cNvPr id="579" name="Google Shape;579;p27"/>
          <p:cNvSpPr/>
          <p:nvPr/>
        </p:nvSpPr>
        <p:spPr>
          <a:xfrm>
            <a:off x="310896"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7"/>
          <p:cNvSpPr/>
          <p:nvPr/>
        </p:nvSpPr>
        <p:spPr>
          <a:xfrm>
            <a:off x="310896"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7"/>
          <p:cNvSpPr/>
          <p:nvPr/>
        </p:nvSpPr>
        <p:spPr>
          <a:xfrm>
            <a:off x="566928"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582" name="Google Shape;582;p27"/>
          <p:cNvSpPr/>
          <p:nvPr/>
        </p:nvSpPr>
        <p:spPr>
          <a:xfrm>
            <a:off x="512064"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インサイトとは</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何か</a:t>
            </a:r>
            <a:endParaRPr b="0" i="0" sz="1550" u="none" cap="none" strike="noStrike">
              <a:solidFill>
                <a:schemeClr val="dk1"/>
              </a:solidFill>
              <a:latin typeface="Calibri"/>
              <a:ea typeface="Calibri"/>
              <a:cs typeface="Calibri"/>
              <a:sym typeface="Calibri"/>
            </a:endParaRPr>
          </a:p>
        </p:txBody>
      </p:sp>
      <p:sp>
        <p:nvSpPr>
          <p:cNvPr id="583" name="Google Shape;583;p27"/>
          <p:cNvSpPr/>
          <p:nvPr/>
        </p:nvSpPr>
        <p:spPr>
          <a:xfrm>
            <a:off x="512064"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動画の「成績表」</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を読む力をつける</a:t>
            </a:r>
            <a:endParaRPr b="0" i="0" sz="1300" u="none" cap="none" strike="noStrike">
              <a:solidFill>
                <a:schemeClr val="dk1"/>
              </a:solidFill>
              <a:latin typeface="Calibri"/>
              <a:ea typeface="Calibri"/>
              <a:cs typeface="Calibri"/>
              <a:sym typeface="Calibri"/>
            </a:endParaRPr>
          </a:p>
        </p:txBody>
      </p:sp>
      <p:sp>
        <p:nvSpPr>
          <p:cNvPr id="584" name="Google Shape;584;p27"/>
          <p:cNvSpPr/>
          <p:nvPr/>
        </p:nvSpPr>
        <p:spPr>
          <a:xfrm>
            <a:off x="3081528"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7"/>
          <p:cNvSpPr/>
          <p:nvPr/>
        </p:nvSpPr>
        <p:spPr>
          <a:xfrm>
            <a:off x="3081528"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7"/>
          <p:cNvSpPr/>
          <p:nvPr/>
        </p:nvSpPr>
        <p:spPr>
          <a:xfrm>
            <a:off x="3337560"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587" name="Google Shape;587;p27"/>
          <p:cNvSpPr/>
          <p:nvPr/>
        </p:nvSpPr>
        <p:spPr>
          <a:xfrm>
            <a:off x="3282696"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なぜ提出が</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必要か</a:t>
            </a:r>
            <a:endParaRPr b="0" i="0" sz="1550" u="none" cap="none" strike="noStrike">
              <a:solidFill>
                <a:schemeClr val="dk1"/>
              </a:solidFill>
              <a:latin typeface="Calibri"/>
              <a:ea typeface="Calibri"/>
              <a:cs typeface="Calibri"/>
              <a:sym typeface="Calibri"/>
            </a:endParaRPr>
          </a:p>
        </p:txBody>
      </p:sp>
      <p:sp>
        <p:nvSpPr>
          <p:cNvPr id="588" name="Google Shape;588;p27"/>
          <p:cNvSpPr/>
          <p:nvPr/>
        </p:nvSpPr>
        <p:spPr>
          <a:xfrm>
            <a:off x="3282696"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クライアントへの</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効果報告と</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次案件への活用</a:t>
            </a:r>
            <a:endParaRPr b="0" i="0" sz="1300" u="none" cap="none" strike="noStrike">
              <a:solidFill>
                <a:schemeClr val="dk1"/>
              </a:solidFill>
              <a:latin typeface="Calibri"/>
              <a:ea typeface="Calibri"/>
              <a:cs typeface="Calibri"/>
              <a:sym typeface="Calibri"/>
            </a:endParaRPr>
          </a:p>
        </p:txBody>
      </p:sp>
      <p:sp>
        <p:nvSpPr>
          <p:cNvPr id="589" name="Google Shape;589;p27"/>
          <p:cNvSpPr/>
          <p:nvPr/>
        </p:nvSpPr>
        <p:spPr>
          <a:xfrm>
            <a:off x="5852160"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7"/>
          <p:cNvSpPr/>
          <p:nvPr/>
        </p:nvSpPr>
        <p:spPr>
          <a:xfrm>
            <a:off x="5852160"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7"/>
          <p:cNvSpPr/>
          <p:nvPr/>
        </p:nvSpPr>
        <p:spPr>
          <a:xfrm>
            <a:off x="6108192"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592" name="Google Shape;592;p27"/>
          <p:cNvSpPr/>
          <p:nvPr/>
        </p:nvSpPr>
        <p:spPr>
          <a:xfrm>
            <a:off x="6053328"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TikTok・Instagram</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提出方法</a:t>
            </a:r>
            <a:endParaRPr b="0" i="0" sz="1550" u="none" cap="none" strike="noStrike">
              <a:solidFill>
                <a:schemeClr val="dk1"/>
              </a:solidFill>
              <a:latin typeface="Calibri"/>
              <a:ea typeface="Calibri"/>
              <a:cs typeface="Calibri"/>
              <a:sym typeface="Calibri"/>
            </a:endParaRPr>
          </a:p>
        </p:txBody>
      </p:sp>
      <p:sp>
        <p:nvSpPr>
          <p:cNvPr id="593" name="Google Shape;593;p27"/>
          <p:cNvSpPr/>
          <p:nvPr/>
        </p:nvSpPr>
        <p:spPr>
          <a:xfrm>
            <a:off x="6053328"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どの画面を</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スクショするか</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具体的に学ぶ</a:t>
            </a:r>
            <a:endParaRPr b="0" i="0" sz="1300" u="none" cap="none" strike="noStrike">
              <a:solidFill>
                <a:schemeClr val="dk1"/>
              </a:solidFill>
              <a:latin typeface="Calibri"/>
              <a:ea typeface="Calibri"/>
              <a:cs typeface="Calibri"/>
              <a:sym typeface="Calibri"/>
            </a:endParaRPr>
          </a:p>
        </p:txBody>
      </p:sp>
      <p:sp>
        <p:nvSpPr>
          <p:cNvPr id="594" name="Google Shape;594;p27"/>
          <p:cNvSpPr/>
          <p:nvPr/>
        </p:nvSpPr>
        <p:spPr>
          <a:xfrm>
            <a:off x="2140055" y="884713"/>
            <a:ext cx="859200" cy="480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t/>
            </a:r>
            <a:endParaRPr b="1" sz="2400">
              <a:solidFill>
                <a:srgbClr val="D1D5DB"/>
              </a:solidFill>
              <a:latin typeface="Meiryo"/>
              <a:ea typeface="Meiryo"/>
              <a:cs typeface="Meiryo"/>
              <a:sym typeface="Meiryo"/>
            </a:endParaRPr>
          </a:p>
          <a:p>
            <a:pPr indent="0" lvl="0" marL="0" marR="0" rtl="0" algn="r">
              <a:spcBef>
                <a:spcPts val="0"/>
              </a:spcBef>
              <a:spcAft>
                <a:spcPts val="0"/>
              </a:spcAft>
              <a:buClr>
                <a:srgbClr val="D1D5DB"/>
              </a:buClr>
              <a:buSzPts val="2400"/>
              <a:buFont typeface="Meiryo"/>
              <a:buNone/>
            </a:pPr>
            <a:r>
              <a:rPr b="1" lang="en-US" sz="2400">
                <a:solidFill>
                  <a:srgbClr val="D1D5DB"/>
                </a:solidFill>
                <a:latin typeface="Meiryo"/>
                <a:ea typeface="Meiryo"/>
                <a:cs typeface="Meiryo"/>
                <a:sym typeface="Meiryo"/>
              </a:rPr>
              <a:t>0</a:t>
            </a:r>
            <a:r>
              <a:rPr b="1" i="0" lang="en-US" sz="2400" u="none" cap="none" strike="noStrike">
                <a:solidFill>
                  <a:srgbClr val="D1D5DB"/>
                </a:solidFill>
                <a:latin typeface="Meiryo"/>
                <a:ea typeface="Meiryo"/>
                <a:cs typeface="Meiryo"/>
                <a:sym typeface="Meiryo"/>
              </a:rPr>
              <a:t>1</a:t>
            </a:r>
            <a:endParaRPr b="0" i="0" sz="2400" u="none" cap="none" strike="noStrike">
              <a:solidFill>
                <a:schemeClr val="dk1"/>
              </a:solidFill>
              <a:latin typeface="Calibri"/>
              <a:ea typeface="Calibri"/>
              <a:cs typeface="Calibri"/>
              <a:sym typeface="Calibri"/>
            </a:endParaRPr>
          </a:p>
        </p:txBody>
      </p:sp>
      <p:sp>
        <p:nvSpPr>
          <p:cNvPr id="595" name="Google Shape;595;p27"/>
          <p:cNvSpPr/>
          <p:nvPr/>
        </p:nvSpPr>
        <p:spPr>
          <a:xfrm>
            <a:off x="5074926" y="1101862"/>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02</a:t>
            </a:r>
            <a:endParaRPr b="0" i="0" sz="2400" u="none" cap="none" strike="noStrike">
              <a:solidFill>
                <a:schemeClr val="dk1"/>
              </a:solidFill>
              <a:latin typeface="Calibri"/>
              <a:ea typeface="Calibri"/>
              <a:cs typeface="Calibri"/>
              <a:sym typeface="Calibri"/>
            </a:endParaRPr>
          </a:p>
        </p:txBody>
      </p:sp>
      <p:sp>
        <p:nvSpPr>
          <p:cNvPr id="596" name="Google Shape;596;p27"/>
          <p:cNvSpPr/>
          <p:nvPr/>
        </p:nvSpPr>
        <p:spPr>
          <a:xfrm>
            <a:off x="7845550" y="1101862"/>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03</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601" name="Shape 601"/>
        <p:cNvGrpSpPr/>
        <p:nvPr/>
      </p:nvGrpSpPr>
      <p:grpSpPr>
        <a:xfrm>
          <a:off x="0" y="0"/>
          <a:ext cx="0" cy="0"/>
          <a:chOff x="0" y="0"/>
          <a:chExt cx="0" cy="0"/>
        </a:xfrm>
      </p:grpSpPr>
      <p:sp>
        <p:nvSpPr>
          <p:cNvPr id="602" name="Google Shape;602;p28"/>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8"/>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インサイト＝動画の「成績表」</a:t>
            </a:r>
            <a:endParaRPr b="0" i="0" sz="2100" u="none" cap="none" strike="noStrike">
              <a:solidFill>
                <a:schemeClr val="dk1"/>
              </a:solidFill>
              <a:latin typeface="Calibri"/>
              <a:ea typeface="Calibri"/>
              <a:cs typeface="Calibri"/>
              <a:sym typeface="Calibri"/>
            </a:endParaRPr>
          </a:p>
        </p:txBody>
      </p:sp>
      <p:sp>
        <p:nvSpPr>
          <p:cNvPr id="604" name="Google Shape;604;p28"/>
          <p:cNvSpPr/>
          <p:nvPr/>
        </p:nvSpPr>
        <p:spPr>
          <a:xfrm>
            <a:off x="310896" y="804672"/>
            <a:ext cx="8522208" cy="74980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8"/>
          <p:cNvSpPr/>
          <p:nvPr/>
        </p:nvSpPr>
        <p:spPr>
          <a:xfrm>
            <a:off x="310896" y="804672"/>
            <a:ext cx="59436" cy="749808"/>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8"/>
          <p:cNvSpPr/>
          <p:nvPr/>
        </p:nvSpPr>
        <p:spPr>
          <a:xfrm>
            <a:off x="493776" y="804672"/>
            <a:ext cx="82296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450"/>
              <a:buFont typeface="Meiryo"/>
              <a:buNone/>
            </a:pPr>
            <a:r>
              <a:rPr b="1" i="0" lang="en-US" sz="1450" u="none" cap="none" strike="noStrike">
                <a:solidFill>
                  <a:srgbClr val="B45309"/>
                </a:solidFill>
                <a:latin typeface="Meiryo"/>
                <a:ea typeface="Meiryo"/>
                <a:cs typeface="Meiryo"/>
                <a:sym typeface="Meiryo"/>
              </a:rPr>
              <a:t>📌  動画の再生数・いいね数・保存数・視聴完了率など、投稿のパフォーマンスを示すデータ</a:t>
            </a:r>
            <a:endParaRPr b="0" i="0" sz="1450" u="none" cap="none" strike="noStrike">
              <a:solidFill>
                <a:schemeClr val="dk1"/>
              </a:solidFill>
              <a:latin typeface="Calibri"/>
              <a:ea typeface="Calibri"/>
              <a:cs typeface="Calibri"/>
              <a:sym typeface="Calibri"/>
            </a:endParaRPr>
          </a:p>
        </p:txBody>
      </p:sp>
      <p:sp>
        <p:nvSpPr>
          <p:cNvPr id="607" name="Google Shape;607;p28"/>
          <p:cNvSpPr/>
          <p:nvPr/>
        </p:nvSpPr>
        <p:spPr>
          <a:xfrm>
            <a:off x="310896" y="166420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8"/>
          <p:cNvSpPr/>
          <p:nvPr/>
        </p:nvSpPr>
        <p:spPr>
          <a:xfrm>
            <a:off x="310896" y="166420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8"/>
          <p:cNvSpPr/>
          <p:nvPr/>
        </p:nvSpPr>
        <p:spPr>
          <a:xfrm>
            <a:off x="493776" y="166420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何人が最後まで見たか（視聴完了率）・どこで離脱したか</a:t>
            </a:r>
            <a:endParaRPr b="0" i="0" sz="1450" u="none" cap="none" strike="noStrike">
              <a:solidFill>
                <a:schemeClr val="dk1"/>
              </a:solidFill>
              <a:latin typeface="Calibri"/>
              <a:ea typeface="Calibri"/>
              <a:cs typeface="Calibri"/>
              <a:sym typeface="Calibri"/>
            </a:endParaRPr>
          </a:p>
        </p:txBody>
      </p:sp>
      <p:sp>
        <p:nvSpPr>
          <p:cNvPr id="610" name="Google Shape;610;p28"/>
          <p:cNvSpPr/>
          <p:nvPr/>
        </p:nvSpPr>
        <p:spPr>
          <a:xfrm>
            <a:off x="310896" y="239572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8"/>
          <p:cNvSpPr/>
          <p:nvPr/>
        </p:nvSpPr>
        <p:spPr>
          <a:xfrm>
            <a:off x="310896" y="239572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8"/>
          <p:cNvSpPr/>
          <p:nvPr/>
        </p:nvSpPr>
        <p:spPr>
          <a:xfrm>
            <a:off x="493776" y="239572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どんな属性の人が見たか（性別・年齢・地域）</a:t>
            </a:r>
            <a:endParaRPr b="0" i="0" sz="1450" u="none" cap="none" strike="noStrike">
              <a:solidFill>
                <a:schemeClr val="dk1"/>
              </a:solidFill>
              <a:latin typeface="Calibri"/>
              <a:ea typeface="Calibri"/>
              <a:cs typeface="Calibri"/>
              <a:sym typeface="Calibri"/>
            </a:endParaRPr>
          </a:p>
        </p:txBody>
      </p:sp>
      <p:sp>
        <p:nvSpPr>
          <p:cNvPr id="613" name="Google Shape;613;p28"/>
          <p:cNvSpPr/>
          <p:nvPr/>
        </p:nvSpPr>
        <p:spPr>
          <a:xfrm>
            <a:off x="310896" y="312724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8"/>
          <p:cNvSpPr/>
          <p:nvPr/>
        </p:nvSpPr>
        <p:spPr>
          <a:xfrm>
            <a:off x="310896" y="312724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8"/>
          <p:cNvSpPr/>
          <p:nvPr/>
        </p:nvSpPr>
        <p:spPr>
          <a:xfrm>
            <a:off x="493776" y="312724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どこから流入したか（フォロワー・おすすめ・ハッシュタグ）</a:t>
            </a:r>
            <a:endParaRPr b="0" i="0" sz="1450" u="none" cap="none" strike="noStrike">
              <a:solidFill>
                <a:schemeClr val="dk1"/>
              </a:solidFill>
              <a:latin typeface="Calibri"/>
              <a:ea typeface="Calibri"/>
              <a:cs typeface="Calibri"/>
              <a:sym typeface="Calibri"/>
            </a:endParaRPr>
          </a:p>
        </p:txBody>
      </p:sp>
      <p:sp>
        <p:nvSpPr>
          <p:cNvPr id="616" name="Google Shape;616;p28"/>
          <p:cNvSpPr/>
          <p:nvPr/>
        </p:nvSpPr>
        <p:spPr>
          <a:xfrm>
            <a:off x="310896" y="3931920"/>
            <a:ext cx="8522208"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200"/>
              <a:buFont typeface="Meiryo"/>
              <a:buNone/>
            </a:pPr>
            <a:r>
              <a:rPr b="0" i="1" lang="en-US" sz="1200" u="none" cap="none" strike="noStrike">
                <a:solidFill>
                  <a:srgbClr val="6B7280"/>
                </a:solidFill>
                <a:latin typeface="Meiryo"/>
                <a:ea typeface="Meiryo"/>
                <a:cs typeface="Meiryo"/>
                <a:sym typeface="Meiryo"/>
              </a:rPr>
              <a:t>★  インサイト（Insight）＝「洞察」。SNSではパフォーマンスデータのことを指します</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621" name="Shape 621"/>
        <p:cNvGrpSpPr/>
        <p:nvPr/>
      </p:nvGrpSpPr>
      <p:grpSpPr>
        <a:xfrm>
          <a:off x="0" y="0"/>
          <a:ext cx="0" cy="0"/>
          <a:chOff x="0" y="0"/>
          <a:chExt cx="0" cy="0"/>
        </a:xfrm>
      </p:grpSpPr>
      <p:sp>
        <p:nvSpPr>
          <p:cNvPr id="622" name="Google Shape;622;p29"/>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9"/>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インサイトを提出する3つの理由</a:t>
            </a:r>
            <a:endParaRPr b="0" i="0" sz="2100" u="none" cap="none" strike="noStrike">
              <a:solidFill>
                <a:schemeClr val="dk1"/>
              </a:solidFill>
              <a:latin typeface="Calibri"/>
              <a:ea typeface="Calibri"/>
              <a:cs typeface="Calibri"/>
              <a:sym typeface="Calibri"/>
            </a:endParaRPr>
          </a:p>
        </p:txBody>
      </p:sp>
      <p:sp>
        <p:nvSpPr>
          <p:cNvPr id="624" name="Google Shape;624;p29"/>
          <p:cNvSpPr/>
          <p:nvPr/>
        </p:nvSpPr>
        <p:spPr>
          <a:xfrm>
            <a:off x="310896" y="804672"/>
            <a:ext cx="8522208" cy="80467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9"/>
          <p:cNvSpPr/>
          <p:nvPr/>
        </p:nvSpPr>
        <p:spPr>
          <a:xfrm>
            <a:off x="310896" y="804672"/>
            <a:ext cx="59436" cy="804672"/>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9"/>
          <p:cNvSpPr/>
          <p:nvPr/>
        </p:nvSpPr>
        <p:spPr>
          <a:xfrm>
            <a:off x="512064" y="804672"/>
            <a:ext cx="8174736"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500"/>
              <a:buFont typeface="Meiryo"/>
              <a:buNone/>
            </a:pPr>
            <a:r>
              <a:rPr b="0" i="0" lang="en-US" sz="1500" u="none" cap="none" strike="noStrike">
                <a:solidFill>
                  <a:srgbClr val="1E3068"/>
                </a:solidFill>
                <a:latin typeface="Meiryo"/>
                <a:ea typeface="Meiryo"/>
                <a:cs typeface="Meiryo"/>
                <a:sym typeface="Meiryo"/>
              </a:rPr>
              <a:t>①  クライアントへの「効果報告」として必要（広告費に見合う効果があったか）</a:t>
            </a:r>
            <a:endParaRPr b="0" i="0" sz="1500" u="none" cap="none" strike="noStrike">
              <a:solidFill>
                <a:schemeClr val="dk1"/>
              </a:solidFill>
              <a:latin typeface="Calibri"/>
              <a:ea typeface="Calibri"/>
              <a:cs typeface="Calibri"/>
              <a:sym typeface="Calibri"/>
            </a:endParaRPr>
          </a:p>
        </p:txBody>
      </p:sp>
      <p:sp>
        <p:nvSpPr>
          <p:cNvPr id="627" name="Google Shape;627;p29"/>
          <p:cNvSpPr/>
          <p:nvPr/>
        </p:nvSpPr>
        <p:spPr>
          <a:xfrm>
            <a:off x="310896" y="1700784"/>
            <a:ext cx="8522208" cy="80467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9"/>
          <p:cNvSpPr/>
          <p:nvPr/>
        </p:nvSpPr>
        <p:spPr>
          <a:xfrm>
            <a:off x="310896" y="1700784"/>
            <a:ext cx="59436" cy="804672"/>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9"/>
          <p:cNvSpPr/>
          <p:nvPr/>
        </p:nvSpPr>
        <p:spPr>
          <a:xfrm>
            <a:off x="512064" y="1700784"/>
            <a:ext cx="8174736"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500"/>
              <a:buFont typeface="Meiryo"/>
              <a:buNone/>
            </a:pPr>
            <a:r>
              <a:rPr b="0" i="0" lang="en-US" sz="1500" u="none" cap="none" strike="noStrike">
                <a:solidFill>
                  <a:srgbClr val="1E3068"/>
                </a:solidFill>
                <a:latin typeface="Meiryo"/>
                <a:ea typeface="Meiryo"/>
                <a:cs typeface="Meiryo"/>
                <a:sym typeface="Meiryo"/>
              </a:rPr>
              <a:t>②  次の案件で「改善提案」のデータになる（どう変えれば伸びるか）</a:t>
            </a:r>
            <a:endParaRPr b="0" i="0" sz="1500" u="none" cap="none" strike="noStrike">
              <a:solidFill>
                <a:schemeClr val="dk1"/>
              </a:solidFill>
              <a:latin typeface="Calibri"/>
              <a:ea typeface="Calibri"/>
              <a:cs typeface="Calibri"/>
              <a:sym typeface="Calibri"/>
            </a:endParaRPr>
          </a:p>
        </p:txBody>
      </p:sp>
      <p:sp>
        <p:nvSpPr>
          <p:cNvPr id="630" name="Google Shape;630;p29"/>
          <p:cNvSpPr/>
          <p:nvPr/>
        </p:nvSpPr>
        <p:spPr>
          <a:xfrm>
            <a:off x="310896" y="2596896"/>
            <a:ext cx="8522208" cy="80467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9"/>
          <p:cNvSpPr/>
          <p:nvPr/>
        </p:nvSpPr>
        <p:spPr>
          <a:xfrm>
            <a:off x="310896" y="2596896"/>
            <a:ext cx="59436" cy="804672"/>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9"/>
          <p:cNvSpPr/>
          <p:nvPr/>
        </p:nvSpPr>
        <p:spPr>
          <a:xfrm>
            <a:off x="512064" y="2596896"/>
            <a:ext cx="8174736"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500"/>
              <a:buFont typeface="Meiryo"/>
              <a:buNone/>
            </a:pPr>
            <a:r>
              <a:rPr b="0" i="0" lang="en-US" sz="1500" u="none" cap="none" strike="noStrike">
                <a:solidFill>
                  <a:srgbClr val="1E3068"/>
                </a:solidFill>
                <a:latin typeface="Meiryo"/>
                <a:ea typeface="Meiryo"/>
                <a:cs typeface="Meiryo"/>
                <a:sym typeface="Meiryo"/>
              </a:rPr>
              <a:t>③  あなた自身の「実績データ」として次のオファー交渉に使える</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637" name="Shape 637"/>
        <p:cNvGrpSpPr/>
        <p:nvPr/>
      </p:nvGrpSpPr>
      <p:grpSpPr>
        <a:xfrm>
          <a:off x="0" y="0"/>
          <a:ext cx="0" cy="0"/>
          <a:chOff x="0" y="0"/>
          <a:chExt cx="0" cy="0"/>
        </a:xfrm>
      </p:grpSpPr>
      <p:sp>
        <p:nvSpPr>
          <p:cNvPr id="638" name="Google Shape;638;p30"/>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0"/>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インサイトの取り方・提出方法</a:t>
            </a:r>
            <a:endParaRPr b="0" i="0" sz="2100" u="none" cap="none" strike="noStrike">
              <a:solidFill>
                <a:schemeClr val="dk1"/>
              </a:solidFill>
              <a:latin typeface="Calibri"/>
              <a:ea typeface="Calibri"/>
              <a:cs typeface="Calibri"/>
              <a:sym typeface="Calibri"/>
            </a:endParaRPr>
          </a:p>
        </p:txBody>
      </p:sp>
      <p:sp>
        <p:nvSpPr>
          <p:cNvPr id="640" name="Google Shape;640;p30"/>
          <p:cNvSpPr/>
          <p:nvPr/>
        </p:nvSpPr>
        <p:spPr>
          <a:xfrm>
            <a:off x="310896" y="804672"/>
            <a:ext cx="4133088" cy="3950208"/>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0"/>
          <p:cNvSpPr/>
          <p:nvPr/>
        </p:nvSpPr>
        <p:spPr>
          <a:xfrm>
            <a:off x="310896" y="804672"/>
            <a:ext cx="4133088"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0"/>
          <p:cNvSpPr/>
          <p:nvPr/>
        </p:nvSpPr>
        <p:spPr>
          <a:xfrm>
            <a:off x="493776" y="914400"/>
            <a:ext cx="3803904"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600"/>
              <a:buFont typeface="Meiryo"/>
              <a:buNone/>
            </a:pPr>
            <a:r>
              <a:rPr b="1" i="0" lang="en-US" sz="1600" u="none" cap="none" strike="noStrike">
                <a:solidFill>
                  <a:srgbClr val="1E3068"/>
                </a:solidFill>
                <a:latin typeface="Meiryo"/>
                <a:ea typeface="Meiryo"/>
                <a:cs typeface="Meiryo"/>
                <a:sym typeface="Meiryo"/>
              </a:rPr>
              <a:t>TikTok</a:t>
            </a:r>
            <a:endParaRPr b="0" i="0" sz="1600" u="none" cap="none" strike="noStrike">
              <a:solidFill>
                <a:schemeClr val="dk1"/>
              </a:solidFill>
              <a:latin typeface="Calibri"/>
              <a:ea typeface="Calibri"/>
              <a:cs typeface="Calibri"/>
              <a:sym typeface="Calibri"/>
            </a:endParaRPr>
          </a:p>
        </p:txBody>
      </p:sp>
      <p:sp>
        <p:nvSpPr>
          <p:cNvPr id="643" name="Google Shape;643;p30"/>
          <p:cNvSpPr/>
          <p:nvPr/>
        </p:nvSpPr>
        <p:spPr>
          <a:xfrm>
            <a:off x="493776" y="1499616"/>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投稿した動画の</a:t>
            </a:r>
            <a:endParaRPr b="0" i="0" sz="13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「インサイトを見る」をタップ</a:t>
            </a:r>
            <a:endParaRPr b="0" i="0" sz="1350" u="none" cap="none" strike="noStrike">
              <a:solidFill>
                <a:schemeClr val="dk1"/>
              </a:solidFill>
              <a:latin typeface="Calibri"/>
              <a:ea typeface="Calibri"/>
              <a:cs typeface="Calibri"/>
              <a:sym typeface="Calibri"/>
            </a:endParaRPr>
          </a:p>
        </p:txBody>
      </p:sp>
      <p:sp>
        <p:nvSpPr>
          <p:cNvPr id="644" name="Google Shape;644;p30"/>
          <p:cNvSpPr/>
          <p:nvPr/>
        </p:nvSpPr>
        <p:spPr>
          <a:xfrm>
            <a:off x="493776" y="2267712"/>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規定の画面を</a:t>
            </a:r>
            <a:endParaRPr b="0" i="0" sz="13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スクリーンショット</a:t>
            </a:r>
            <a:endParaRPr b="0" i="0" sz="1350" u="none" cap="none" strike="noStrike">
              <a:solidFill>
                <a:schemeClr val="dk1"/>
              </a:solidFill>
              <a:latin typeface="Calibri"/>
              <a:ea typeface="Calibri"/>
              <a:cs typeface="Calibri"/>
              <a:sym typeface="Calibri"/>
            </a:endParaRPr>
          </a:p>
        </p:txBody>
      </p:sp>
      <p:sp>
        <p:nvSpPr>
          <p:cNvPr id="645" name="Google Shape;645;p30"/>
          <p:cNvSpPr/>
          <p:nvPr/>
        </p:nvSpPr>
        <p:spPr>
          <a:xfrm>
            <a:off x="493776" y="3035808"/>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 Notionで</a:t>
            </a:r>
            <a:endParaRPr b="0" i="0" sz="13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必要な画面を確認</a:t>
            </a:r>
            <a:endParaRPr b="0" i="0" sz="1350" u="none" cap="none" strike="noStrike">
              <a:solidFill>
                <a:schemeClr val="dk1"/>
              </a:solidFill>
              <a:latin typeface="Calibri"/>
              <a:ea typeface="Calibri"/>
              <a:cs typeface="Calibri"/>
              <a:sym typeface="Calibri"/>
            </a:endParaRPr>
          </a:p>
        </p:txBody>
      </p:sp>
      <p:sp>
        <p:nvSpPr>
          <p:cNvPr id="646" name="Google Shape;646;p30"/>
          <p:cNvSpPr/>
          <p:nvPr/>
        </p:nvSpPr>
        <p:spPr>
          <a:xfrm>
            <a:off x="4553712" y="804672"/>
            <a:ext cx="4133088" cy="3950208"/>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0"/>
          <p:cNvSpPr/>
          <p:nvPr/>
        </p:nvSpPr>
        <p:spPr>
          <a:xfrm>
            <a:off x="4553712" y="804672"/>
            <a:ext cx="4133088" cy="59436"/>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0"/>
          <p:cNvSpPr/>
          <p:nvPr/>
        </p:nvSpPr>
        <p:spPr>
          <a:xfrm>
            <a:off x="4736592" y="914400"/>
            <a:ext cx="3803904"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600"/>
              <a:buFont typeface="Meiryo"/>
              <a:buNone/>
            </a:pPr>
            <a:r>
              <a:rPr b="1" i="0" lang="en-US" sz="1600" u="none" cap="none" strike="noStrike">
                <a:solidFill>
                  <a:srgbClr val="1E3068"/>
                </a:solidFill>
                <a:latin typeface="Meiryo"/>
                <a:ea typeface="Meiryo"/>
                <a:cs typeface="Meiryo"/>
                <a:sym typeface="Meiryo"/>
              </a:rPr>
              <a:t>Instagram Reels</a:t>
            </a:r>
            <a:endParaRPr b="0" i="0" sz="1600" u="none" cap="none" strike="noStrike">
              <a:solidFill>
                <a:schemeClr val="dk1"/>
              </a:solidFill>
              <a:latin typeface="Calibri"/>
              <a:ea typeface="Calibri"/>
              <a:cs typeface="Calibri"/>
              <a:sym typeface="Calibri"/>
            </a:endParaRPr>
          </a:p>
        </p:txBody>
      </p:sp>
      <p:sp>
        <p:nvSpPr>
          <p:cNvPr id="649" name="Google Shape;649;p30"/>
          <p:cNvSpPr/>
          <p:nvPr/>
        </p:nvSpPr>
        <p:spPr>
          <a:xfrm>
            <a:off x="4736592" y="1499616"/>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まずプロアカウントに切り替える</a:t>
            </a:r>
            <a:endParaRPr b="0" i="0" sz="13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（無料・すぐできる）</a:t>
            </a:r>
            <a:endParaRPr b="0" i="0" sz="1350" u="none" cap="none" strike="noStrike">
              <a:solidFill>
                <a:schemeClr val="dk1"/>
              </a:solidFill>
              <a:latin typeface="Calibri"/>
              <a:ea typeface="Calibri"/>
              <a:cs typeface="Calibri"/>
              <a:sym typeface="Calibri"/>
            </a:endParaRPr>
          </a:p>
        </p:txBody>
      </p:sp>
      <p:sp>
        <p:nvSpPr>
          <p:cNvPr id="650" name="Google Shape;650;p30"/>
          <p:cNvSpPr/>
          <p:nvPr/>
        </p:nvSpPr>
        <p:spPr>
          <a:xfrm>
            <a:off x="4736592" y="2267712"/>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投稿の</a:t>
            </a:r>
            <a:endParaRPr b="0" i="0" sz="13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「インサイトを見る」をタップ</a:t>
            </a:r>
            <a:endParaRPr b="0" i="0" sz="1350" u="none" cap="none" strike="noStrike">
              <a:solidFill>
                <a:schemeClr val="dk1"/>
              </a:solidFill>
              <a:latin typeface="Calibri"/>
              <a:ea typeface="Calibri"/>
              <a:cs typeface="Calibri"/>
              <a:sym typeface="Calibri"/>
            </a:endParaRPr>
          </a:p>
        </p:txBody>
      </p:sp>
      <p:sp>
        <p:nvSpPr>
          <p:cNvPr id="651" name="Google Shape;651;p30"/>
          <p:cNvSpPr/>
          <p:nvPr/>
        </p:nvSpPr>
        <p:spPr>
          <a:xfrm>
            <a:off x="4736592" y="3035808"/>
            <a:ext cx="3803904" cy="7132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  ★ Notionで</a:t>
            </a:r>
            <a:endParaRPr b="0" i="0" sz="13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7280"/>
              </a:buClr>
              <a:buSzPts val="1350"/>
              <a:buFont typeface="Meiryo"/>
              <a:buNone/>
            </a:pPr>
            <a:r>
              <a:rPr b="0" i="0" lang="en-US" sz="1350" u="none" cap="none" strike="noStrike">
                <a:solidFill>
                  <a:srgbClr val="6B7280"/>
                </a:solidFill>
                <a:latin typeface="Meiryo"/>
                <a:ea typeface="Meiryo"/>
                <a:cs typeface="Meiryo"/>
                <a:sym typeface="Meiryo"/>
              </a:rPr>
              <a:t>必要な画面を確認</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656" name="Shape 656"/>
        <p:cNvGrpSpPr/>
        <p:nvPr/>
      </p:nvGrpSpPr>
      <p:grpSpPr>
        <a:xfrm>
          <a:off x="0" y="0"/>
          <a:ext cx="0" cy="0"/>
          <a:chOff x="0" y="0"/>
          <a:chExt cx="0" cy="0"/>
        </a:xfrm>
      </p:grpSpPr>
      <p:sp>
        <p:nvSpPr>
          <p:cNvPr id="657" name="Google Shape;657;p31"/>
          <p:cNvSpPr/>
          <p:nvPr/>
        </p:nvSpPr>
        <p:spPr>
          <a:xfrm>
            <a:off x="0" y="0"/>
            <a:ext cx="2743200"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1"/>
          <p:cNvSpPr/>
          <p:nvPr/>
        </p:nvSpPr>
        <p:spPr>
          <a:xfrm>
            <a:off x="237744" y="1005840"/>
            <a:ext cx="2286000" cy="210312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FFFFFF"/>
              </a:buClr>
              <a:buSzPts val="2600"/>
              <a:buFont typeface="Meiryo"/>
              <a:buNone/>
            </a:pPr>
            <a:r>
              <a:rPr b="1" i="0" lang="en-US" sz="2600" u="none" cap="none" strike="noStrike">
                <a:solidFill>
                  <a:srgbClr val="FFFFFF"/>
                </a:solidFill>
                <a:latin typeface="Meiryo"/>
                <a:ea typeface="Meiryo"/>
                <a:cs typeface="Meiryo"/>
                <a:sym typeface="Meiryo"/>
              </a:rPr>
              <a:t>まとめ</a:t>
            </a:r>
            <a:endParaRPr b="0" i="0" sz="2600" u="none" cap="none" strike="noStrike">
              <a:solidFill>
                <a:schemeClr val="dk1"/>
              </a:solidFill>
              <a:latin typeface="Calibri"/>
              <a:ea typeface="Calibri"/>
              <a:cs typeface="Calibri"/>
              <a:sym typeface="Calibri"/>
            </a:endParaRPr>
          </a:p>
        </p:txBody>
      </p:sp>
      <p:sp>
        <p:nvSpPr>
          <p:cNvPr id="659" name="Google Shape;659;p31"/>
          <p:cNvSpPr/>
          <p:nvPr/>
        </p:nvSpPr>
        <p:spPr>
          <a:xfrm>
            <a:off x="237744" y="4114800"/>
            <a:ext cx="22860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100"/>
              <a:buFont typeface="Meiryo"/>
              <a:buNone/>
            </a:pPr>
            <a:r>
              <a:rPr b="0" i="0" lang="en-US" sz="1100" u="none" cap="none" strike="noStrike">
                <a:solidFill>
                  <a:srgbClr val="A0B8D8"/>
                </a:solidFill>
                <a:latin typeface="Meiryo"/>
                <a:ea typeface="Meiryo"/>
                <a:cs typeface="Meiryo"/>
                <a:sym typeface="Meiryo"/>
              </a:rPr>
              <a:t>動画まとめ</a:t>
            </a:r>
            <a:endParaRPr b="0" i="0" sz="1100" u="none" cap="none" strike="noStrike">
              <a:solidFill>
                <a:schemeClr val="dk1"/>
              </a:solidFill>
              <a:latin typeface="Calibri"/>
              <a:ea typeface="Calibri"/>
              <a:cs typeface="Calibri"/>
              <a:sym typeface="Calibri"/>
            </a:endParaRPr>
          </a:p>
        </p:txBody>
      </p:sp>
      <p:sp>
        <p:nvSpPr>
          <p:cNvPr id="660" name="Google Shape;660;p31"/>
          <p:cNvSpPr/>
          <p:nvPr/>
        </p:nvSpPr>
        <p:spPr>
          <a:xfrm>
            <a:off x="2944368" y="329184"/>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1"/>
          <p:cNvSpPr/>
          <p:nvPr/>
        </p:nvSpPr>
        <p:spPr>
          <a:xfrm>
            <a:off x="3072384" y="329184"/>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01</a:t>
            </a:r>
            <a:endParaRPr b="0" i="0" sz="2000" u="none" cap="none" strike="noStrike">
              <a:solidFill>
                <a:schemeClr val="dk1"/>
              </a:solidFill>
              <a:latin typeface="Calibri"/>
              <a:ea typeface="Calibri"/>
              <a:cs typeface="Calibri"/>
              <a:sym typeface="Calibri"/>
            </a:endParaRPr>
          </a:p>
        </p:txBody>
      </p:sp>
      <p:sp>
        <p:nvSpPr>
          <p:cNvPr id="662" name="Google Shape;662;p31"/>
          <p:cNvSpPr/>
          <p:nvPr/>
        </p:nvSpPr>
        <p:spPr>
          <a:xfrm>
            <a:off x="3749040" y="329184"/>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インサイト＝動画の成績表。提出はクライアントへの効果報告</a:t>
            </a:r>
            <a:endParaRPr b="0" i="0" sz="1550" u="none" cap="none" strike="noStrike">
              <a:solidFill>
                <a:schemeClr val="dk1"/>
              </a:solidFill>
              <a:latin typeface="Calibri"/>
              <a:ea typeface="Calibri"/>
              <a:cs typeface="Calibri"/>
              <a:sym typeface="Calibri"/>
            </a:endParaRPr>
          </a:p>
        </p:txBody>
      </p:sp>
      <p:cxnSp>
        <p:nvCxnSpPr>
          <p:cNvPr id="663" name="Google Shape;663;p31"/>
          <p:cNvCxnSpPr/>
          <p:nvPr/>
        </p:nvCxnSpPr>
        <p:spPr>
          <a:xfrm>
            <a:off x="2944368" y="1216152"/>
            <a:ext cx="5925312" cy="0"/>
          </a:xfrm>
          <a:prstGeom prst="straightConnector1">
            <a:avLst/>
          </a:prstGeom>
          <a:noFill/>
          <a:ln cap="flat" cmpd="sng" w="9525">
            <a:solidFill>
              <a:srgbClr val="D1D5DB"/>
            </a:solidFill>
            <a:prstDash val="solid"/>
            <a:round/>
            <a:headEnd len="sm" w="sm" type="none"/>
            <a:tailEnd len="sm" w="sm" type="none"/>
          </a:ln>
        </p:spPr>
      </p:cxnSp>
      <p:sp>
        <p:nvSpPr>
          <p:cNvPr id="664" name="Google Shape;664;p31"/>
          <p:cNvSpPr/>
          <p:nvPr/>
        </p:nvSpPr>
        <p:spPr>
          <a:xfrm>
            <a:off x="2944368" y="1261872"/>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1"/>
          <p:cNvSpPr/>
          <p:nvPr/>
        </p:nvSpPr>
        <p:spPr>
          <a:xfrm>
            <a:off x="3072384" y="1261872"/>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02</a:t>
            </a:r>
            <a:endParaRPr b="0" i="0" sz="2000" u="none" cap="none" strike="noStrike">
              <a:solidFill>
                <a:schemeClr val="dk1"/>
              </a:solidFill>
              <a:latin typeface="Calibri"/>
              <a:ea typeface="Calibri"/>
              <a:cs typeface="Calibri"/>
              <a:sym typeface="Calibri"/>
            </a:endParaRPr>
          </a:p>
        </p:txBody>
      </p:sp>
      <p:sp>
        <p:nvSpPr>
          <p:cNvPr id="666" name="Google Shape;666;p31"/>
          <p:cNvSpPr/>
          <p:nvPr/>
        </p:nvSpPr>
        <p:spPr>
          <a:xfrm>
            <a:off x="3749040" y="1261872"/>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TikTok・Instagramそれぞれの規定画面をスクショして提出</a:t>
            </a:r>
            <a:endParaRPr b="0" i="0" sz="1550" u="none" cap="none" strike="noStrike">
              <a:solidFill>
                <a:schemeClr val="dk1"/>
              </a:solidFill>
              <a:latin typeface="Calibri"/>
              <a:ea typeface="Calibri"/>
              <a:cs typeface="Calibri"/>
              <a:sym typeface="Calibri"/>
            </a:endParaRPr>
          </a:p>
        </p:txBody>
      </p:sp>
      <p:cxnSp>
        <p:nvCxnSpPr>
          <p:cNvPr id="667" name="Google Shape;667;p31"/>
          <p:cNvCxnSpPr/>
          <p:nvPr/>
        </p:nvCxnSpPr>
        <p:spPr>
          <a:xfrm>
            <a:off x="2944368" y="2148840"/>
            <a:ext cx="5925312" cy="0"/>
          </a:xfrm>
          <a:prstGeom prst="straightConnector1">
            <a:avLst/>
          </a:prstGeom>
          <a:noFill/>
          <a:ln cap="flat" cmpd="sng" w="9525">
            <a:solidFill>
              <a:srgbClr val="D1D5DB"/>
            </a:solidFill>
            <a:prstDash val="solid"/>
            <a:round/>
            <a:headEnd len="sm" w="sm" type="none"/>
            <a:tailEnd len="sm" w="sm" type="none"/>
          </a:ln>
        </p:spPr>
      </p:cxnSp>
      <p:sp>
        <p:nvSpPr>
          <p:cNvPr id="668" name="Google Shape;668;p31"/>
          <p:cNvSpPr/>
          <p:nvPr/>
        </p:nvSpPr>
        <p:spPr>
          <a:xfrm>
            <a:off x="2944368" y="2194560"/>
            <a:ext cx="65837" cy="84124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1"/>
          <p:cNvSpPr/>
          <p:nvPr/>
        </p:nvSpPr>
        <p:spPr>
          <a:xfrm>
            <a:off x="3072384" y="2194560"/>
            <a:ext cx="585216"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03</a:t>
            </a:r>
            <a:endParaRPr b="0" i="0" sz="2000" u="none" cap="none" strike="noStrike">
              <a:solidFill>
                <a:schemeClr val="dk1"/>
              </a:solidFill>
              <a:latin typeface="Calibri"/>
              <a:ea typeface="Calibri"/>
              <a:cs typeface="Calibri"/>
              <a:sym typeface="Calibri"/>
            </a:endParaRPr>
          </a:p>
        </p:txBody>
      </p:sp>
      <p:sp>
        <p:nvSpPr>
          <p:cNvPr id="670" name="Google Shape;670;p31"/>
          <p:cNvSpPr/>
          <p:nvPr/>
        </p:nvSpPr>
        <p:spPr>
          <a:xfrm>
            <a:off x="3749040" y="2194560"/>
            <a:ext cx="512064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Instagramはプロアカウント設定が必要（無料でできる）</a:t>
            </a:r>
            <a:endParaRPr b="0" i="0" sz="1550" u="none" cap="none" strike="noStrike">
              <a:solidFill>
                <a:schemeClr val="dk1"/>
              </a:solidFill>
              <a:latin typeface="Calibri"/>
              <a:ea typeface="Calibri"/>
              <a:cs typeface="Calibri"/>
              <a:sym typeface="Calibri"/>
            </a:endParaRPr>
          </a:p>
        </p:txBody>
      </p:sp>
      <p:sp>
        <p:nvSpPr>
          <p:cNvPr id="671" name="Google Shape;671;p31"/>
          <p:cNvSpPr/>
          <p:nvPr/>
        </p:nvSpPr>
        <p:spPr>
          <a:xfrm>
            <a:off x="2944368" y="3273552"/>
            <a:ext cx="5925312" cy="65836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1"/>
          <p:cNvSpPr/>
          <p:nvPr/>
        </p:nvSpPr>
        <p:spPr>
          <a:xfrm>
            <a:off x="2944368" y="3273552"/>
            <a:ext cx="59436" cy="658368"/>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1"/>
          <p:cNvSpPr/>
          <p:nvPr/>
        </p:nvSpPr>
        <p:spPr>
          <a:xfrm>
            <a:off x="3108960" y="3273552"/>
            <a:ext cx="5687568"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030"/>
              </a:buClr>
              <a:buSzPts val="1350"/>
              <a:buFont typeface="Meiryo"/>
              <a:buNone/>
            </a:pPr>
            <a:r>
              <a:rPr b="1" i="0" lang="en-US" sz="1350" u="none" cap="none" strike="noStrike">
                <a:solidFill>
                  <a:srgbClr val="E87030"/>
                </a:solidFill>
                <a:latin typeface="Meiryo"/>
                <a:ea typeface="Meiryo"/>
                <a:cs typeface="Meiryo"/>
                <a:sym typeface="Meiryo"/>
              </a:rPr>
              <a:t>▶  Next  |  動画⑥：プロの仕事術</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8" name="Shape 678"/>
        <p:cNvGrpSpPr/>
        <p:nvPr/>
      </p:nvGrpSpPr>
      <p:grpSpPr>
        <a:xfrm>
          <a:off x="0" y="0"/>
          <a:ext cx="0" cy="0"/>
          <a:chOff x="0" y="0"/>
          <a:chExt cx="0" cy="0"/>
        </a:xfrm>
      </p:grpSpPr>
      <p:sp>
        <p:nvSpPr>
          <p:cNvPr id="679" name="Google Shape;679;p32"/>
          <p:cNvSpPr/>
          <p:nvPr/>
        </p:nvSpPr>
        <p:spPr>
          <a:xfrm>
            <a:off x="0" y="0"/>
            <a:ext cx="2907792"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2"/>
          <p:cNvSpPr/>
          <p:nvPr/>
        </p:nvSpPr>
        <p:spPr>
          <a:xfrm>
            <a:off x="274320" y="475488"/>
            <a:ext cx="235915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500"/>
              <a:buFont typeface="Meiryo"/>
              <a:buNone/>
            </a:pPr>
            <a:r>
              <a:rPr b="1" i="0" lang="en-US" sz="1500" u="none" cap="none" strike="noStrike">
                <a:solidFill>
                  <a:srgbClr val="A0B8D8"/>
                </a:solidFill>
                <a:latin typeface="Meiryo"/>
                <a:ea typeface="Meiryo"/>
                <a:cs typeface="Meiryo"/>
                <a:sym typeface="Meiryo"/>
              </a:rPr>
              <a:t>第3章</a:t>
            </a:r>
            <a:endParaRPr b="0" i="0" sz="1500" u="none" cap="none" strike="noStrike">
              <a:solidFill>
                <a:schemeClr val="dk1"/>
              </a:solidFill>
              <a:latin typeface="Calibri"/>
              <a:ea typeface="Calibri"/>
              <a:cs typeface="Calibri"/>
              <a:sym typeface="Calibri"/>
            </a:endParaRPr>
          </a:p>
        </p:txBody>
      </p:sp>
      <p:sp>
        <p:nvSpPr>
          <p:cNvPr id="681" name="Google Shape;681;p32"/>
          <p:cNvSpPr/>
          <p:nvPr/>
        </p:nvSpPr>
        <p:spPr>
          <a:xfrm>
            <a:off x="274320" y="868680"/>
            <a:ext cx="2359152"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5000"/>
              <a:buFont typeface="Meiryo"/>
              <a:buNone/>
            </a:pPr>
            <a:r>
              <a:rPr b="1" i="0" lang="en-US" sz="5000" u="none" cap="none" strike="noStrike">
                <a:solidFill>
                  <a:srgbClr val="FFFFFF"/>
                </a:solidFill>
                <a:latin typeface="Meiryo"/>
                <a:ea typeface="Meiryo"/>
                <a:cs typeface="Meiryo"/>
                <a:sym typeface="Meiryo"/>
              </a:rPr>
              <a:t>動画⑥</a:t>
            </a:r>
            <a:endParaRPr b="0" i="0" sz="5000" u="none" cap="none" strike="noStrike">
              <a:solidFill>
                <a:schemeClr val="dk1"/>
              </a:solidFill>
              <a:latin typeface="Calibri"/>
              <a:ea typeface="Calibri"/>
              <a:cs typeface="Calibri"/>
              <a:sym typeface="Calibri"/>
            </a:endParaRPr>
          </a:p>
        </p:txBody>
      </p:sp>
      <p:sp>
        <p:nvSpPr>
          <p:cNvPr id="682" name="Google Shape;682;p32"/>
          <p:cNvSpPr/>
          <p:nvPr/>
        </p:nvSpPr>
        <p:spPr>
          <a:xfrm>
            <a:off x="274320" y="2011680"/>
            <a:ext cx="2359152"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300"/>
              <a:buFont typeface="Meiryo"/>
              <a:buNone/>
            </a:pPr>
            <a:r>
              <a:rPr b="0" i="0" lang="en-US" sz="1300" u="none" cap="none" strike="noStrike">
                <a:solidFill>
                  <a:srgbClr val="A0B8D8"/>
                </a:solidFill>
                <a:latin typeface="Meiryo"/>
                <a:ea typeface="Meiryo"/>
                <a:cs typeface="Meiryo"/>
                <a:sym typeface="Meiryo"/>
              </a:rPr>
              <a:t>進行フロー・ビジネス連絡</a:t>
            </a:r>
            <a:endParaRPr b="0" i="0" sz="1300" u="none" cap="none" strike="noStrike">
              <a:solidFill>
                <a:schemeClr val="dk1"/>
              </a:solidFill>
              <a:latin typeface="Calibri"/>
              <a:ea typeface="Calibri"/>
              <a:cs typeface="Calibri"/>
              <a:sym typeface="Calibri"/>
            </a:endParaRPr>
          </a:p>
        </p:txBody>
      </p:sp>
      <p:sp>
        <p:nvSpPr>
          <p:cNvPr id="683" name="Google Shape;683;p32"/>
          <p:cNvSpPr/>
          <p:nvPr/>
        </p:nvSpPr>
        <p:spPr>
          <a:xfrm>
            <a:off x="274320" y="2816352"/>
            <a:ext cx="1389888" cy="4023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2"/>
          <p:cNvSpPr/>
          <p:nvPr/>
        </p:nvSpPr>
        <p:spPr>
          <a:xfrm>
            <a:off x="274320" y="2816352"/>
            <a:ext cx="138988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eiryo"/>
              <a:buNone/>
            </a:pPr>
            <a:r>
              <a:rPr b="1" i="0" lang="en-US" sz="1300" u="none" cap="none" strike="noStrike">
                <a:solidFill>
                  <a:srgbClr val="FFFFFF"/>
                </a:solidFill>
                <a:latin typeface="Meiryo"/>
                <a:ea typeface="Meiryo"/>
                <a:cs typeface="Meiryo"/>
                <a:sym typeface="Meiryo"/>
              </a:rPr>
              <a:t>▶  約5分</a:t>
            </a:r>
            <a:endParaRPr b="0" i="0" sz="1300" u="none" cap="none" strike="noStrike">
              <a:solidFill>
                <a:schemeClr val="dk1"/>
              </a:solidFill>
              <a:latin typeface="Calibri"/>
              <a:ea typeface="Calibri"/>
              <a:cs typeface="Calibri"/>
              <a:sym typeface="Calibri"/>
            </a:endParaRPr>
          </a:p>
        </p:txBody>
      </p:sp>
      <p:sp>
        <p:nvSpPr>
          <p:cNvPr id="685" name="Google Shape;685;p32"/>
          <p:cNvSpPr/>
          <p:nvPr/>
        </p:nvSpPr>
        <p:spPr>
          <a:xfrm>
            <a:off x="3127248" y="219456"/>
            <a:ext cx="574243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800"/>
              <a:buFont typeface="Meiryo"/>
              <a:buNone/>
            </a:pPr>
            <a:r>
              <a:rPr b="0" i="0" lang="en-US" sz="800" u="none" cap="none" strike="noStrike">
                <a:solidFill>
                  <a:srgbClr val="1E3068"/>
                </a:solidFill>
                <a:latin typeface="Meiryo"/>
                <a:ea typeface="Meiryo"/>
                <a:cs typeface="Meiryo"/>
                <a:sym typeface="Meiryo"/>
              </a:rPr>
              <a:t>CREATOR NETWORK TRAINING</a:t>
            </a:r>
            <a:endParaRPr b="0" i="0" sz="800" u="none" cap="none" strike="noStrike">
              <a:solidFill>
                <a:schemeClr val="dk1"/>
              </a:solidFill>
              <a:latin typeface="Calibri"/>
              <a:ea typeface="Calibri"/>
              <a:cs typeface="Calibri"/>
              <a:sym typeface="Calibri"/>
            </a:endParaRPr>
          </a:p>
        </p:txBody>
      </p:sp>
      <p:sp>
        <p:nvSpPr>
          <p:cNvPr id="686" name="Google Shape;686;p32"/>
          <p:cNvSpPr/>
          <p:nvPr/>
        </p:nvSpPr>
        <p:spPr>
          <a:xfrm>
            <a:off x="3127248" y="621792"/>
            <a:ext cx="5577840" cy="260604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Clr>
                <a:srgbClr val="1E3068"/>
              </a:buClr>
              <a:buSzPts val="3800"/>
              <a:buFont typeface="Meiryo"/>
              <a:buNone/>
            </a:pPr>
            <a:r>
              <a:rPr b="1" i="0" lang="en-US" sz="3800" u="none" cap="none" strike="noStrike">
                <a:solidFill>
                  <a:srgbClr val="1E3068"/>
                </a:solidFill>
                <a:latin typeface="Meiryo"/>
                <a:ea typeface="Meiryo"/>
                <a:cs typeface="Meiryo"/>
                <a:sym typeface="Meiryo"/>
              </a:rPr>
              <a:t>プロの仕事術</a:t>
            </a:r>
            <a:endParaRPr b="0" i="0" sz="3800" u="none" cap="none" strike="noStrike">
              <a:solidFill>
                <a:schemeClr val="dk1"/>
              </a:solidFill>
              <a:latin typeface="Calibri"/>
              <a:ea typeface="Calibri"/>
              <a:cs typeface="Calibri"/>
              <a:sym typeface="Calibri"/>
            </a:endParaRPr>
          </a:p>
        </p:txBody>
      </p:sp>
      <p:sp>
        <p:nvSpPr>
          <p:cNvPr id="687" name="Google Shape;687;p32"/>
          <p:cNvSpPr/>
          <p:nvPr/>
        </p:nvSpPr>
        <p:spPr>
          <a:xfrm>
            <a:off x="3127248" y="3364992"/>
            <a:ext cx="1920240"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2"/>
          <p:cNvSpPr/>
          <p:nvPr/>
        </p:nvSpPr>
        <p:spPr>
          <a:xfrm>
            <a:off x="3127248" y="3529584"/>
            <a:ext cx="5577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400"/>
              <a:buFont typeface="Meiryo"/>
              <a:buNone/>
            </a:pPr>
            <a:r>
              <a:rPr b="0" i="0" lang="en-US" sz="1400" u="none" cap="none" strike="noStrike">
                <a:solidFill>
                  <a:srgbClr val="6B7280"/>
                </a:solidFill>
                <a:latin typeface="Meiryo"/>
                <a:ea typeface="Meiryo"/>
                <a:cs typeface="Meiryo"/>
                <a:sym typeface="Meiryo"/>
              </a:rPr>
              <a:t>クリエイターネットワーク研修</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693" name="Shape 693"/>
        <p:cNvGrpSpPr/>
        <p:nvPr/>
      </p:nvGrpSpPr>
      <p:grpSpPr>
        <a:xfrm>
          <a:off x="0" y="0"/>
          <a:ext cx="0" cy="0"/>
          <a:chOff x="0" y="0"/>
          <a:chExt cx="0" cy="0"/>
        </a:xfrm>
      </p:grpSpPr>
      <p:sp>
        <p:nvSpPr>
          <p:cNvPr id="694" name="Google Shape;694;p33"/>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3"/>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この動画で学ぶこと</a:t>
            </a:r>
            <a:endParaRPr b="0" i="0" sz="2100" u="none" cap="none" strike="noStrike">
              <a:solidFill>
                <a:schemeClr val="dk1"/>
              </a:solidFill>
              <a:latin typeface="Calibri"/>
              <a:ea typeface="Calibri"/>
              <a:cs typeface="Calibri"/>
              <a:sym typeface="Calibri"/>
            </a:endParaRPr>
          </a:p>
        </p:txBody>
      </p:sp>
      <p:sp>
        <p:nvSpPr>
          <p:cNvPr id="696" name="Google Shape;696;p33"/>
          <p:cNvSpPr/>
          <p:nvPr/>
        </p:nvSpPr>
        <p:spPr>
          <a:xfrm>
            <a:off x="310896"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3"/>
          <p:cNvSpPr/>
          <p:nvPr/>
        </p:nvSpPr>
        <p:spPr>
          <a:xfrm>
            <a:off x="310896"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3"/>
          <p:cNvSpPr/>
          <p:nvPr/>
        </p:nvSpPr>
        <p:spPr>
          <a:xfrm>
            <a:off x="566928"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699" name="Google Shape;699;p33"/>
          <p:cNvSpPr/>
          <p:nvPr/>
        </p:nvSpPr>
        <p:spPr>
          <a:xfrm>
            <a:off x="512064"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コアタイムとは</a:t>
            </a:r>
            <a:endParaRPr b="0" i="0" sz="1550" u="none" cap="none" strike="noStrike">
              <a:solidFill>
                <a:schemeClr val="dk1"/>
              </a:solidFill>
              <a:latin typeface="Calibri"/>
              <a:ea typeface="Calibri"/>
              <a:cs typeface="Calibri"/>
              <a:sym typeface="Calibri"/>
            </a:endParaRPr>
          </a:p>
        </p:txBody>
      </p:sp>
      <p:sp>
        <p:nvSpPr>
          <p:cNvPr id="700" name="Google Shape;700;p33"/>
          <p:cNvSpPr/>
          <p:nvPr/>
        </p:nvSpPr>
        <p:spPr>
          <a:xfrm>
            <a:off x="512064"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連絡が取れる</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状態にしておく</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中心的な時間帯</a:t>
            </a:r>
            <a:endParaRPr b="0" i="0" sz="1300" u="none" cap="none" strike="noStrike">
              <a:solidFill>
                <a:schemeClr val="dk1"/>
              </a:solidFill>
              <a:latin typeface="Calibri"/>
              <a:ea typeface="Calibri"/>
              <a:cs typeface="Calibri"/>
              <a:sym typeface="Calibri"/>
            </a:endParaRPr>
          </a:p>
        </p:txBody>
      </p:sp>
      <p:sp>
        <p:nvSpPr>
          <p:cNvPr id="701" name="Google Shape;701;p33"/>
          <p:cNvSpPr/>
          <p:nvPr/>
        </p:nvSpPr>
        <p:spPr>
          <a:xfrm>
            <a:off x="3081528"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3"/>
          <p:cNvSpPr/>
          <p:nvPr/>
        </p:nvSpPr>
        <p:spPr>
          <a:xfrm>
            <a:off x="3081528"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3"/>
          <p:cNvSpPr/>
          <p:nvPr/>
        </p:nvSpPr>
        <p:spPr>
          <a:xfrm>
            <a:off x="3337560"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704" name="Google Shape;704;p33"/>
          <p:cNvSpPr/>
          <p:nvPr/>
        </p:nvSpPr>
        <p:spPr>
          <a:xfrm>
            <a:off x="3282696"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「18時の壁」と</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締め切り時間</a:t>
            </a:r>
            <a:endParaRPr b="0" i="0" sz="1550" u="none" cap="none" strike="noStrike">
              <a:solidFill>
                <a:schemeClr val="dk1"/>
              </a:solidFill>
              <a:latin typeface="Calibri"/>
              <a:ea typeface="Calibri"/>
              <a:cs typeface="Calibri"/>
              <a:sym typeface="Calibri"/>
            </a:endParaRPr>
          </a:p>
        </p:txBody>
      </p:sp>
      <p:sp>
        <p:nvSpPr>
          <p:cNvPr id="705" name="Google Shape;705;p33"/>
          <p:cNvSpPr/>
          <p:nvPr/>
        </p:nvSpPr>
        <p:spPr>
          <a:xfrm>
            <a:off x="3282696"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知らないと損する</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時間管理の鉄則</a:t>
            </a:r>
            <a:endParaRPr b="0" i="0" sz="1300" u="none" cap="none" strike="noStrike">
              <a:solidFill>
                <a:schemeClr val="dk1"/>
              </a:solidFill>
              <a:latin typeface="Calibri"/>
              <a:ea typeface="Calibri"/>
              <a:cs typeface="Calibri"/>
              <a:sym typeface="Calibri"/>
            </a:endParaRPr>
          </a:p>
        </p:txBody>
      </p:sp>
      <p:sp>
        <p:nvSpPr>
          <p:cNvPr id="706" name="Google Shape;706;p33"/>
          <p:cNvSpPr/>
          <p:nvPr/>
        </p:nvSpPr>
        <p:spPr>
          <a:xfrm>
            <a:off x="5852160" y="822960"/>
            <a:ext cx="2688336" cy="3913632"/>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3"/>
          <p:cNvSpPr/>
          <p:nvPr/>
        </p:nvSpPr>
        <p:spPr>
          <a:xfrm>
            <a:off x="5852160" y="822960"/>
            <a:ext cx="2688336" cy="59436"/>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3"/>
          <p:cNvSpPr/>
          <p:nvPr/>
        </p:nvSpPr>
        <p:spPr>
          <a:xfrm>
            <a:off x="6108192" y="100584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709" name="Google Shape;709;p33"/>
          <p:cNvSpPr/>
          <p:nvPr/>
        </p:nvSpPr>
        <p:spPr>
          <a:xfrm>
            <a:off x="6053328" y="1783080"/>
            <a:ext cx="228600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通知設定と</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即相談の重要性</a:t>
            </a:r>
            <a:endParaRPr b="0" i="0" sz="1550" u="none" cap="none" strike="noStrike">
              <a:solidFill>
                <a:schemeClr val="dk1"/>
              </a:solidFill>
              <a:latin typeface="Calibri"/>
              <a:ea typeface="Calibri"/>
              <a:cs typeface="Calibri"/>
              <a:sym typeface="Calibri"/>
            </a:endParaRPr>
          </a:p>
        </p:txBody>
      </p:sp>
      <p:sp>
        <p:nvSpPr>
          <p:cNvPr id="710" name="Google Shape;710;p33"/>
          <p:cNvSpPr/>
          <p:nvPr/>
        </p:nvSpPr>
        <p:spPr>
          <a:xfrm>
            <a:off x="6053328" y="2578608"/>
            <a:ext cx="2286000" cy="1865376"/>
          </a:xfrm>
          <a:prstGeom prst="rect">
            <a:avLst/>
          </a:prstGeom>
          <a:noFill/>
          <a:ln>
            <a:noFill/>
          </a:ln>
        </p:spPr>
        <p:txBody>
          <a:bodyPr anchorCtr="0" anchor="t" bIns="45700" lIns="91425" spcFirstLastPara="1" rIns="91425" wrap="square" tIns="45700">
            <a:noAutofit/>
          </a:bodyPr>
          <a:lstStyle/>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信頼は</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レスポンスの速さ</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6B7280"/>
              </a:buClr>
              <a:buSzPts val="1300"/>
              <a:buFont typeface="Meiryo"/>
              <a:buNone/>
            </a:pPr>
            <a:r>
              <a:rPr b="0" i="0" lang="en-US" sz="1300" u="none" cap="none" strike="noStrike">
                <a:solidFill>
                  <a:srgbClr val="6B7280"/>
                </a:solidFill>
                <a:latin typeface="Meiryo"/>
                <a:ea typeface="Meiryo"/>
                <a:cs typeface="Meiryo"/>
                <a:sym typeface="Meiryo"/>
              </a:rPr>
              <a:t>から始まる</a:t>
            </a:r>
            <a:endParaRPr b="0" i="0" sz="1300" u="none" cap="none" strike="noStrike">
              <a:solidFill>
                <a:schemeClr val="dk1"/>
              </a:solidFill>
              <a:latin typeface="Calibri"/>
              <a:ea typeface="Calibri"/>
              <a:cs typeface="Calibri"/>
              <a:sym typeface="Calibri"/>
            </a:endParaRPr>
          </a:p>
        </p:txBody>
      </p:sp>
      <p:sp>
        <p:nvSpPr>
          <p:cNvPr id="711" name="Google Shape;711;p33"/>
          <p:cNvSpPr/>
          <p:nvPr/>
        </p:nvSpPr>
        <p:spPr>
          <a:xfrm>
            <a:off x="2309037" y="1074825"/>
            <a:ext cx="657900" cy="420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1D5DB"/>
              </a:buClr>
              <a:buSzPts val="2400"/>
              <a:buFont typeface="Meiryo"/>
              <a:buNone/>
            </a:pPr>
            <a:r>
              <a:rPr b="1" lang="en-US" sz="2400">
                <a:solidFill>
                  <a:srgbClr val="D1D5DB"/>
                </a:solidFill>
                <a:latin typeface="Meiryo"/>
                <a:ea typeface="Meiryo"/>
                <a:cs typeface="Meiryo"/>
                <a:sym typeface="Meiryo"/>
              </a:rPr>
              <a:t>0</a:t>
            </a:r>
            <a:r>
              <a:rPr b="1" i="0" lang="en-US" sz="2400" u="none" cap="none" strike="noStrike">
                <a:solidFill>
                  <a:srgbClr val="D1D5DB"/>
                </a:solidFill>
                <a:latin typeface="Meiryo"/>
                <a:ea typeface="Meiryo"/>
                <a:cs typeface="Meiryo"/>
                <a:sym typeface="Meiryo"/>
              </a:rPr>
              <a:t>1</a:t>
            </a:r>
            <a:endParaRPr b="0" i="0" sz="2400" u="none" cap="none" strike="noStrike">
              <a:solidFill>
                <a:schemeClr val="dk1"/>
              </a:solidFill>
              <a:latin typeface="Calibri"/>
              <a:ea typeface="Calibri"/>
              <a:cs typeface="Calibri"/>
              <a:sym typeface="Calibri"/>
            </a:endParaRPr>
          </a:p>
        </p:txBody>
      </p:sp>
      <p:sp>
        <p:nvSpPr>
          <p:cNvPr id="712" name="Google Shape;712;p33"/>
          <p:cNvSpPr/>
          <p:nvPr/>
        </p:nvSpPr>
        <p:spPr>
          <a:xfrm>
            <a:off x="5074926" y="1088344"/>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02</a:t>
            </a:r>
            <a:endParaRPr b="0" i="0" sz="2400" u="none" cap="none" strike="noStrike">
              <a:solidFill>
                <a:schemeClr val="dk1"/>
              </a:solidFill>
              <a:latin typeface="Calibri"/>
              <a:ea typeface="Calibri"/>
              <a:cs typeface="Calibri"/>
              <a:sym typeface="Calibri"/>
            </a:endParaRPr>
          </a:p>
        </p:txBody>
      </p:sp>
      <p:sp>
        <p:nvSpPr>
          <p:cNvPr id="713" name="Google Shape;713;p33"/>
          <p:cNvSpPr/>
          <p:nvPr/>
        </p:nvSpPr>
        <p:spPr>
          <a:xfrm>
            <a:off x="7845550" y="1101862"/>
            <a:ext cx="695100" cy="420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1D5DB"/>
              </a:buClr>
              <a:buSzPts val="2400"/>
              <a:buFont typeface="Meiryo"/>
              <a:buNone/>
            </a:pPr>
            <a:r>
              <a:rPr b="1" i="0" lang="en-US" sz="2400" u="none" cap="none" strike="noStrike">
                <a:solidFill>
                  <a:srgbClr val="D1D5DB"/>
                </a:solidFill>
                <a:latin typeface="Meiryo"/>
                <a:ea typeface="Meiryo"/>
                <a:cs typeface="Meiryo"/>
                <a:sym typeface="Meiryo"/>
              </a:rPr>
              <a:t>03</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718" name="Shape 718"/>
        <p:cNvGrpSpPr/>
        <p:nvPr/>
      </p:nvGrpSpPr>
      <p:grpSpPr>
        <a:xfrm>
          <a:off x="0" y="0"/>
          <a:ext cx="0" cy="0"/>
          <a:chOff x="0" y="0"/>
          <a:chExt cx="0" cy="0"/>
        </a:xfrm>
      </p:grpSpPr>
      <p:sp>
        <p:nvSpPr>
          <p:cNvPr id="719" name="Google Shape;719;p34"/>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4"/>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コアタイム  10:00 〜 19:00</a:t>
            </a:r>
            <a:endParaRPr b="0" i="0" sz="2100" u="none" cap="none" strike="noStrike">
              <a:solidFill>
                <a:schemeClr val="dk1"/>
              </a:solidFill>
              <a:latin typeface="Calibri"/>
              <a:ea typeface="Calibri"/>
              <a:cs typeface="Calibri"/>
              <a:sym typeface="Calibri"/>
            </a:endParaRPr>
          </a:p>
        </p:txBody>
      </p:sp>
      <p:sp>
        <p:nvSpPr>
          <p:cNvPr id="721" name="Google Shape;721;p34"/>
          <p:cNvSpPr/>
          <p:nvPr/>
        </p:nvSpPr>
        <p:spPr>
          <a:xfrm>
            <a:off x="310896" y="804672"/>
            <a:ext cx="8522208" cy="749808"/>
          </a:xfrm>
          <a:prstGeom prst="rect">
            <a:avLst/>
          </a:prstGeom>
          <a:solidFill>
            <a:srgbClr val="E8EAF6"/>
          </a:solidFill>
          <a:ln cap="flat" cmpd="sng" w="9525">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4"/>
          <p:cNvSpPr/>
          <p:nvPr/>
        </p:nvSpPr>
        <p:spPr>
          <a:xfrm>
            <a:off x="310896" y="804672"/>
            <a:ext cx="59436" cy="74980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4"/>
          <p:cNvSpPr/>
          <p:nvPr/>
        </p:nvSpPr>
        <p:spPr>
          <a:xfrm>
            <a:off x="493776" y="804672"/>
            <a:ext cx="82296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550"/>
              <a:buFont typeface="Meiryo"/>
              <a:buNone/>
            </a:pPr>
            <a:r>
              <a:rPr b="1" i="0" lang="en-US" sz="1550" u="none" cap="none" strike="noStrike">
                <a:solidFill>
                  <a:srgbClr val="1E3068"/>
                </a:solidFill>
                <a:latin typeface="Meiryo"/>
                <a:ea typeface="Meiryo"/>
                <a:cs typeface="Meiryo"/>
                <a:sym typeface="Meiryo"/>
              </a:rPr>
              <a:t>⚡  コアタイム内は連絡が取れる状態にしておく（＝毎日確認が必須）</a:t>
            </a:r>
            <a:endParaRPr b="0" i="0" sz="1550" u="none" cap="none" strike="noStrike">
              <a:solidFill>
                <a:schemeClr val="dk1"/>
              </a:solidFill>
              <a:latin typeface="Calibri"/>
              <a:ea typeface="Calibri"/>
              <a:cs typeface="Calibri"/>
              <a:sym typeface="Calibri"/>
            </a:endParaRPr>
          </a:p>
        </p:txBody>
      </p:sp>
      <p:sp>
        <p:nvSpPr>
          <p:cNvPr id="724" name="Google Shape;724;p34"/>
          <p:cNvSpPr/>
          <p:nvPr/>
        </p:nvSpPr>
        <p:spPr>
          <a:xfrm>
            <a:off x="310896" y="166420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4"/>
          <p:cNvSpPr/>
          <p:nvPr/>
        </p:nvSpPr>
        <p:spPr>
          <a:xfrm>
            <a:off x="310896" y="166420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4"/>
          <p:cNvSpPr/>
          <p:nvPr/>
        </p:nvSpPr>
        <p:spPr>
          <a:xfrm>
            <a:off x="493776" y="166420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10:00〜19:00の間は基本的にメッセージを確認できる状態に</a:t>
            </a:r>
            <a:endParaRPr b="0" i="0" sz="1450" u="none" cap="none" strike="noStrike">
              <a:solidFill>
                <a:schemeClr val="dk1"/>
              </a:solidFill>
              <a:latin typeface="Calibri"/>
              <a:ea typeface="Calibri"/>
              <a:cs typeface="Calibri"/>
              <a:sym typeface="Calibri"/>
            </a:endParaRPr>
          </a:p>
        </p:txBody>
      </p:sp>
      <p:sp>
        <p:nvSpPr>
          <p:cNvPr id="727" name="Google Shape;727;p34"/>
          <p:cNvSpPr/>
          <p:nvPr/>
        </p:nvSpPr>
        <p:spPr>
          <a:xfrm>
            <a:off x="310896" y="239572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4"/>
          <p:cNvSpPr/>
          <p:nvPr/>
        </p:nvSpPr>
        <p:spPr>
          <a:xfrm>
            <a:off x="310896" y="239572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4"/>
          <p:cNvSpPr/>
          <p:nvPr/>
        </p:nvSpPr>
        <p:spPr>
          <a:xfrm>
            <a:off x="493776" y="239572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夜間・早朝の連絡への回答は翌朝10時以降でOK（緊急は除く）</a:t>
            </a:r>
            <a:endParaRPr b="0" i="0" sz="1450" u="none" cap="none" strike="noStrike">
              <a:solidFill>
                <a:schemeClr val="dk1"/>
              </a:solidFill>
              <a:latin typeface="Calibri"/>
              <a:ea typeface="Calibri"/>
              <a:cs typeface="Calibri"/>
              <a:sym typeface="Calibri"/>
            </a:endParaRPr>
          </a:p>
        </p:txBody>
      </p:sp>
      <p:sp>
        <p:nvSpPr>
          <p:cNvPr id="730" name="Google Shape;730;p34"/>
          <p:cNvSpPr/>
          <p:nvPr/>
        </p:nvSpPr>
        <p:spPr>
          <a:xfrm>
            <a:off x="310896" y="3127248"/>
            <a:ext cx="8522208" cy="64008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4"/>
          <p:cNvSpPr/>
          <p:nvPr/>
        </p:nvSpPr>
        <p:spPr>
          <a:xfrm>
            <a:off x="310896" y="3127248"/>
            <a:ext cx="59436" cy="64008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4"/>
          <p:cNvSpPr/>
          <p:nvPr/>
        </p:nvSpPr>
        <p:spPr>
          <a:xfrm>
            <a:off x="493776" y="3127248"/>
            <a:ext cx="821131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  案件進行中は特に、コアタイム内の反応速度が信頼に直結する</a:t>
            </a:r>
            <a:endParaRPr b="0" i="0" sz="1450" u="none" cap="none" strike="noStrike">
              <a:solidFill>
                <a:schemeClr val="dk1"/>
              </a:solidFill>
              <a:latin typeface="Calibri"/>
              <a:ea typeface="Calibri"/>
              <a:cs typeface="Calibri"/>
              <a:sym typeface="Calibri"/>
            </a:endParaRPr>
          </a:p>
        </p:txBody>
      </p:sp>
      <p:sp>
        <p:nvSpPr>
          <p:cNvPr id="733" name="Google Shape;733;p34"/>
          <p:cNvSpPr/>
          <p:nvPr/>
        </p:nvSpPr>
        <p:spPr>
          <a:xfrm>
            <a:off x="310896" y="3950208"/>
            <a:ext cx="8522208" cy="47548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4"/>
          <p:cNvSpPr/>
          <p:nvPr/>
        </p:nvSpPr>
        <p:spPr>
          <a:xfrm>
            <a:off x="457200" y="3950208"/>
            <a:ext cx="8321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250"/>
              <a:buFont typeface="Meiryo"/>
              <a:buNone/>
            </a:pPr>
            <a:r>
              <a:rPr b="0" i="0" lang="en-US" sz="1250" u="none" cap="none" strike="noStrike">
                <a:solidFill>
                  <a:srgbClr val="B45309"/>
                </a:solidFill>
                <a:latin typeface="Meiryo"/>
                <a:ea typeface="Meiryo"/>
                <a:cs typeface="Meiryo"/>
                <a:sym typeface="Meiryo"/>
              </a:rPr>
              <a:t>💡  コアタイムは「絶対に仕事しなければいけない時間」ではなく「連絡が取れる時間帯」です</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739" name="Shape 739"/>
        <p:cNvGrpSpPr/>
        <p:nvPr/>
      </p:nvGrpSpPr>
      <p:grpSpPr>
        <a:xfrm>
          <a:off x="0" y="0"/>
          <a:ext cx="0" cy="0"/>
          <a:chOff x="0" y="0"/>
          <a:chExt cx="0" cy="0"/>
        </a:xfrm>
      </p:grpSpPr>
      <p:sp>
        <p:nvSpPr>
          <p:cNvPr id="740" name="Google Shape;740;p35"/>
          <p:cNvSpPr/>
          <p:nvPr/>
        </p:nvSpPr>
        <p:spPr>
          <a:xfrm>
            <a:off x="310896" y="164592"/>
            <a:ext cx="8522208"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500"/>
              <a:buFont typeface="Meiryo"/>
              <a:buNone/>
            </a:pPr>
            <a:r>
              <a:rPr b="1" i="0" lang="en-US" sz="2500" u="none" cap="none" strike="noStrike">
                <a:solidFill>
                  <a:srgbClr val="1E3068"/>
                </a:solidFill>
                <a:latin typeface="Meiryo"/>
                <a:ea typeface="Meiryo"/>
                <a:cs typeface="Meiryo"/>
                <a:sym typeface="Meiryo"/>
              </a:rPr>
              <a:t>「18時の壁」を知っておこう</a:t>
            </a:r>
            <a:endParaRPr b="0" i="0" sz="2500" u="none" cap="none" strike="noStrike">
              <a:solidFill>
                <a:schemeClr val="dk1"/>
              </a:solidFill>
              <a:latin typeface="Calibri"/>
              <a:ea typeface="Calibri"/>
              <a:cs typeface="Calibri"/>
              <a:sym typeface="Calibri"/>
            </a:endParaRPr>
          </a:p>
        </p:txBody>
      </p:sp>
      <p:sp>
        <p:nvSpPr>
          <p:cNvPr id="741" name="Google Shape;741;p35"/>
          <p:cNvSpPr/>
          <p:nvPr/>
        </p:nvSpPr>
        <p:spPr>
          <a:xfrm>
            <a:off x="310896" y="694944"/>
            <a:ext cx="8522208" cy="59436"/>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5"/>
          <p:cNvSpPr/>
          <p:nvPr/>
        </p:nvSpPr>
        <p:spPr>
          <a:xfrm>
            <a:off x="310896" y="877824"/>
            <a:ext cx="3895344" cy="3877056"/>
          </a:xfrm>
          <a:prstGeom prst="rect">
            <a:avLst/>
          </a:prstGeom>
          <a:solidFill>
            <a:srgbClr val="FEF2F2"/>
          </a:solidFill>
          <a:ln cap="flat" cmpd="sng" w="12700">
            <a:solidFill>
              <a:srgbClr val="FECAC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5"/>
          <p:cNvSpPr/>
          <p:nvPr/>
        </p:nvSpPr>
        <p:spPr>
          <a:xfrm>
            <a:off x="457200" y="1024128"/>
            <a:ext cx="3602736"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C2626"/>
              </a:buClr>
              <a:buSzPts val="1700"/>
              <a:buFont typeface="Meiryo"/>
              <a:buNone/>
            </a:pPr>
            <a:r>
              <a:rPr b="1" i="0" lang="en-US" sz="1700" u="none" cap="none" strike="noStrike">
                <a:solidFill>
                  <a:srgbClr val="DC2626"/>
                </a:solidFill>
                <a:latin typeface="Meiryo"/>
                <a:ea typeface="Meiryo"/>
                <a:cs typeface="Meiryo"/>
                <a:sym typeface="Meiryo"/>
              </a:rPr>
              <a:t>❌  危険なパターン</a:t>
            </a:r>
            <a:endParaRPr b="0" i="0" sz="1700" u="none" cap="none" strike="noStrike">
              <a:solidFill>
                <a:schemeClr val="dk1"/>
              </a:solidFill>
              <a:latin typeface="Calibri"/>
              <a:ea typeface="Calibri"/>
              <a:cs typeface="Calibri"/>
              <a:sym typeface="Calibri"/>
            </a:endParaRPr>
          </a:p>
        </p:txBody>
      </p:sp>
      <p:sp>
        <p:nvSpPr>
          <p:cNvPr id="744" name="Google Shape;744;p35"/>
          <p:cNvSpPr/>
          <p:nvPr/>
        </p:nvSpPr>
        <p:spPr>
          <a:xfrm>
            <a:off x="457200" y="1627632"/>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18時ちょうどに確認メッセージを送る</a:t>
            </a:r>
            <a:endParaRPr b="0" i="0" sz="1400" u="none" cap="none" strike="noStrike">
              <a:solidFill>
                <a:schemeClr val="dk1"/>
              </a:solidFill>
              <a:latin typeface="Calibri"/>
              <a:ea typeface="Calibri"/>
              <a:cs typeface="Calibri"/>
              <a:sym typeface="Calibri"/>
            </a:endParaRPr>
          </a:p>
        </p:txBody>
      </p:sp>
      <p:sp>
        <p:nvSpPr>
          <p:cNvPr id="745" name="Google Shape;745;p35"/>
          <p:cNvSpPr/>
          <p:nvPr/>
        </p:nvSpPr>
        <p:spPr>
          <a:xfrm>
            <a:off x="457200" y="2432304"/>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夜になってから「今日中」の作業を始める</a:t>
            </a:r>
            <a:endParaRPr b="0" i="0" sz="1400" u="none" cap="none" strike="noStrike">
              <a:solidFill>
                <a:schemeClr val="dk1"/>
              </a:solidFill>
              <a:latin typeface="Calibri"/>
              <a:ea typeface="Calibri"/>
              <a:cs typeface="Calibri"/>
              <a:sym typeface="Calibri"/>
            </a:endParaRPr>
          </a:p>
        </p:txBody>
      </p:sp>
      <p:sp>
        <p:nvSpPr>
          <p:cNvPr id="746" name="Google Shape;746;p35"/>
          <p:cNvSpPr/>
          <p:nvPr/>
        </p:nvSpPr>
        <p:spPr>
          <a:xfrm>
            <a:off x="457200" y="3236976"/>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締め切りの日付だけ確認して時間を見ない</a:t>
            </a:r>
            <a:endParaRPr b="0" i="0" sz="1400" u="none" cap="none" strike="noStrike">
              <a:solidFill>
                <a:schemeClr val="dk1"/>
              </a:solidFill>
              <a:latin typeface="Calibri"/>
              <a:ea typeface="Calibri"/>
              <a:cs typeface="Calibri"/>
              <a:sym typeface="Calibri"/>
            </a:endParaRPr>
          </a:p>
        </p:txBody>
      </p:sp>
      <p:sp>
        <p:nvSpPr>
          <p:cNvPr id="747" name="Google Shape;747;p35"/>
          <p:cNvSpPr/>
          <p:nvPr/>
        </p:nvSpPr>
        <p:spPr>
          <a:xfrm>
            <a:off x="4233672" y="2377440"/>
            <a:ext cx="640080" cy="640080"/>
          </a:xfrm>
          <a:prstGeom prst="ellipse">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5"/>
          <p:cNvSpPr/>
          <p:nvPr/>
        </p:nvSpPr>
        <p:spPr>
          <a:xfrm>
            <a:off x="4233672" y="23774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eiryo"/>
              <a:buNone/>
            </a:pPr>
            <a:r>
              <a:rPr b="1" i="0" lang="en-US" sz="1300" u="none" cap="none" strike="noStrike">
                <a:solidFill>
                  <a:srgbClr val="FFFFFF"/>
                </a:solidFill>
                <a:latin typeface="Meiryo"/>
                <a:ea typeface="Meiryo"/>
                <a:cs typeface="Meiryo"/>
                <a:sym typeface="Meiryo"/>
              </a:rPr>
              <a:t>VS</a:t>
            </a:r>
            <a:endParaRPr b="0" i="0" sz="1300" u="none" cap="none" strike="noStrike">
              <a:solidFill>
                <a:schemeClr val="dk1"/>
              </a:solidFill>
              <a:latin typeface="Calibri"/>
              <a:ea typeface="Calibri"/>
              <a:cs typeface="Calibri"/>
              <a:sym typeface="Calibri"/>
            </a:endParaRPr>
          </a:p>
        </p:txBody>
      </p:sp>
      <p:sp>
        <p:nvSpPr>
          <p:cNvPr id="749" name="Google Shape;749;p35"/>
          <p:cNvSpPr/>
          <p:nvPr/>
        </p:nvSpPr>
        <p:spPr>
          <a:xfrm>
            <a:off x="4864608" y="877824"/>
            <a:ext cx="3895344" cy="3877056"/>
          </a:xfrm>
          <a:prstGeom prst="rect">
            <a:avLst/>
          </a:prstGeom>
          <a:solidFill>
            <a:srgbClr val="F0FDF4"/>
          </a:solidFill>
          <a:ln cap="flat" cmpd="sng" w="12700">
            <a:solidFill>
              <a:srgbClr val="86EFAC"/>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5"/>
          <p:cNvSpPr/>
          <p:nvPr/>
        </p:nvSpPr>
        <p:spPr>
          <a:xfrm>
            <a:off x="5010912" y="1024128"/>
            <a:ext cx="3602736"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6A34A"/>
              </a:buClr>
              <a:buSzPts val="1700"/>
              <a:buFont typeface="Meiryo"/>
              <a:buNone/>
            </a:pPr>
            <a:r>
              <a:rPr b="1" i="0" lang="en-US" sz="1700" u="none" cap="none" strike="noStrike">
                <a:solidFill>
                  <a:srgbClr val="16A34A"/>
                </a:solidFill>
                <a:latin typeface="Meiryo"/>
                <a:ea typeface="Meiryo"/>
                <a:cs typeface="Meiryo"/>
                <a:sym typeface="Meiryo"/>
              </a:rPr>
              <a:t>✅  安全なパターン</a:t>
            </a:r>
            <a:endParaRPr b="0" i="0" sz="1700" u="none" cap="none" strike="noStrike">
              <a:solidFill>
                <a:schemeClr val="dk1"/>
              </a:solidFill>
              <a:latin typeface="Calibri"/>
              <a:ea typeface="Calibri"/>
              <a:cs typeface="Calibri"/>
              <a:sym typeface="Calibri"/>
            </a:endParaRPr>
          </a:p>
        </p:txBody>
      </p:sp>
      <p:sp>
        <p:nvSpPr>
          <p:cNvPr id="751" name="Google Shape;751;p35"/>
          <p:cNvSpPr/>
          <p:nvPr/>
        </p:nvSpPr>
        <p:spPr>
          <a:xfrm>
            <a:off x="5010912" y="1627632"/>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17時までに確認事項をすべて送る</a:t>
            </a:r>
            <a:endParaRPr b="0" i="0" sz="1400" u="none" cap="none" strike="noStrike">
              <a:solidFill>
                <a:schemeClr val="dk1"/>
              </a:solidFill>
              <a:latin typeface="Calibri"/>
              <a:ea typeface="Calibri"/>
              <a:cs typeface="Calibri"/>
              <a:sym typeface="Calibri"/>
            </a:endParaRPr>
          </a:p>
        </p:txBody>
      </p:sp>
      <p:sp>
        <p:nvSpPr>
          <p:cNvPr id="752" name="Google Shape;752;p35"/>
          <p:cNvSpPr/>
          <p:nvPr/>
        </p:nvSpPr>
        <p:spPr>
          <a:xfrm>
            <a:off x="5010912" y="2432304"/>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締め切りは「日付＋時間」で確認する</a:t>
            </a:r>
            <a:endParaRPr b="0" i="0" sz="1400" u="none" cap="none" strike="noStrike">
              <a:solidFill>
                <a:schemeClr val="dk1"/>
              </a:solidFill>
              <a:latin typeface="Calibri"/>
              <a:ea typeface="Calibri"/>
              <a:cs typeface="Calibri"/>
              <a:sym typeface="Calibri"/>
            </a:endParaRPr>
          </a:p>
        </p:txBody>
      </p:sp>
      <p:sp>
        <p:nvSpPr>
          <p:cNvPr id="753" name="Google Shape;753;p35"/>
          <p:cNvSpPr/>
          <p:nvPr/>
        </p:nvSpPr>
        <p:spPr>
          <a:xfrm>
            <a:off x="5010912" y="3236976"/>
            <a:ext cx="3602736" cy="768096"/>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3068"/>
              </a:buClr>
              <a:buSzPts val="1400"/>
              <a:buFont typeface="Meiryo"/>
              <a:buNone/>
            </a:pPr>
            <a:r>
              <a:rPr b="0" i="0" lang="en-US" sz="1400" u="none" cap="none" strike="noStrike">
                <a:solidFill>
                  <a:srgbClr val="1E3068"/>
                </a:solidFill>
                <a:latin typeface="Meiryo"/>
                <a:ea typeface="Meiryo"/>
                <a:cs typeface="Meiryo"/>
                <a:sym typeface="Meiryo"/>
              </a:rPr>
              <a:t>✓  前日までに疑問点をつぶしておく</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758" name="Shape 758"/>
        <p:cNvGrpSpPr/>
        <p:nvPr/>
      </p:nvGrpSpPr>
      <p:grpSpPr>
        <a:xfrm>
          <a:off x="0" y="0"/>
          <a:ext cx="0" cy="0"/>
          <a:chOff x="0" y="0"/>
          <a:chExt cx="0" cy="0"/>
        </a:xfrm>
      </p:grpSpPr>
      <p:sp>
        <p:nvSpPr>
          <p:cNvPr id="759" name="Google Shape;759;p36"/>
          <p:cNvSpPr/>
          <p:nvPr/>
        </p:nvSpPr>
        <p:spPr>
          <a:xfrm>
            <a:off x="0" y="0"/>
            <a:ext cx="9144000" cy="658368"/>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6"/>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Meiryo"/>
              <a:buNone/>
            </a:pPr>
            <a:r>
              <a:rPr b="1" i="0" lang="en-US" sz="2100" u="none" cap="none" strike="noStrike">
                <a:solidFill>
                  <a:srgbClr val="FFFFFF"/>
                </a:solidFill>
                <a:latin typeface="Meiryo"/>
                <a:ea typeface="Meiryo"/>
                <a:cs typeface="Meiryo"/>
                <a:sym typeface="Meiryo"/>
              </a:rPr>
              <a:t>通知はON・迷ったら即相談</a:t>
            </a:r>
            <a:endParaRPr b="0" i="0" sz="2100" u="none" cap="none" strike="noStrike">
              <a:solidFill>
                <a:schemeClr val="dk1"/>
              </a:solidFill>
              <a:latin typeface="Calibri"/>
              <a:ea typeface="Calibri"/>
              <a:cs typeface="Calibri"/>
              <a:sym typeface="Calibri"/>
            </a:endParaRPr>
          </a:p>
        </p:txBody>
      </p:sp>
      <p:sp>
        <p:nvSpPr>
          <p:cNvPr id="761" name="Google Shape;761;p36"/>
          <p:cNvSpPr/>
          <p:nvPr/>
        </p:nvSpPr>
        <p:spPr>
          <a:xfrm>
            <a:off x="310896" y="786384"/>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6"/>
          <p:cNvSpPr/>
          <p:nvPr/>
        </p:nvSpPr>
        <p:spPr>
          <a:xfrm>
            <a:off x="310896" y="786384"/>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6"/>
          <p:cNvSpPr/>
          <p:nvPr/>
        </p:nvSpPr>
        <p:spPr>
          <a:xfrm>
            <a:off x="493776" y="886968"/>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6"/>
          <p:cNvSpPr/>
          <p:nvPr/>
        </p:nvSpPr>
        <p:spPr>
          <a:xfrm>
            <a:off x="493776" y="88696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765" name="Google Shape;765;p36"/>
          <p:cNvSpPr/>
          <p:nvPr/>
        </p:nvSpPr>
        <p:spPr>
          <a:xfrm>
            <a:off x="950976" y="786384"/>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案件進行中は連絡ツール（LINE・</a:t>
            </a:r>
            <a:r>
              <a:rPr lang="en-US" sz="1450">
                <a:solidFill>
                  <a:srgbClr val="1E3068"/>
                </a:solidFill>
                <a:latin typeface="Meiryo"/>
                <a:ea typeface="Meiryo"/>
                <a:cs typeface="Meiryo"/>
                <a:sym typeface="Meiryo"/>
              </a:rPr>
              <a:t>メール</a:t>
            </a:r>
            <a:r>
              <a:rPr b="0" i="0" lang="en-US" sz="1450" u="none" cap="none" strike="noStrike">
                <a:solidFill>
                  <a:srgbClr val="1E3068"/>
                </a:solidFill>
                <a:latin typeface="Meiryo"/>
                <a:ea typeface="Meiryo"/>
                <a:cs typeface="Meiryo"/>
                <a:sym typeface="Meiryo"/>
              </a:rPr>
              <a:t>等）の通知をOFFにしない</a:t>
            </a:r>
            <a:endParaRPr b="0" i="0" sz="1450" u="none" cap="none" strike="noStrike">
              <a:solidFill>
                <a:schemeClr val="dk1"/>
              </a:solidFill>
              <a:latin typeface="Calibri"/>
              <a:ea typeface="Calibri"/>
              <a:cs typeface="Calibri"/>
              <a:sym typeface="Calibri"/>
            </a:endParaRPr>
          </a:p>
        </p:txBody>
      </p:sp>
      <p:sp>
        <p:nvSpPr>
          <p:cNvPr id="766" name="Google Shape;766;p36"/>
          <p:cNvSpPr/>
          <p:nvPr/>
        </p:nvSpPr>
        <p:spPr>
          <a:xfrm>
            <a:off x="310896" y="1417320"/>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6"/>
          <p:cNvSpPr/>
          <p:nvPr/>
        </p:nvSpPr>
        <p:spPr>
          <a:xfrm>
            <a:off x="310896" y="1417320"/>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6"/>
          <p:cNvSpPr/>
          <p:nvPr/>
        </p:nvSpPr>
        <p:spPr>
          <a:xfrm>
            <a:off x="493776" y="1517904"/>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6"/>
          <p:cNvSpPr/>
          <p:nvPr/>
        </p:nvSpPr>
        <p:spPr>
          <a:xfrm>
            <a:off x="493776" y="151790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770" name="Google Shape;770;p36"/>
          <p:cNvSpPr/>
          <p:nvPr/>
        </p:nvSpPr>
        <p:spPr>
          <a:xfrm>
            <a:off x="950976" y="1417320"/>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わからない・迷ったら、勝手に進めずまず担当者に相談する</a:t>
            </a:r>
            <a:endParaRPr b="0" i="0" sz="1450" u="none" cap="none" strike="noStrike">
              <a:solidFill>
                <a:schemeClr val="dk1"/>
              </a:solidFill>
              <a:latin typeface="Calibri"/>
              <a:ea typeface="Calibri"/>
              <a:cs typeface="Calibri"/>
              <a:sym typeface="Calibri"/>
            </a:endParaRPr>
          </a:p>
        </p:txBody>
      </p:sp>
      <p:sp>
        <p:nvSpPr>
          <p:cNvPr id="771" name="Google Shape;771;p36"/>
          <p:cNvSpPr/>
          <p:nvPr/>
        </p:nvSpPr>
        <p:spPr>
          <a:xfrm>
            <a:off x="310896" y="2048256"/>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6"/>
          <p:cNvSpPr/>
          <p:nvPr/>
        </p:nvSpPr>
        <p:spPr>
          <a:xfrm>
            <a:off x="310896" y="2048256"/>
            <a:ext cx="59436" cy="548640"/>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6"/>
          <p:cNvSpPr/>
          <p:nvPr/>
        </p:nvSpPr>
        <p:spPr>
          <a:xfrm>
            <a:off x="493776" y="2148840"/>
            <a:ext cx="347472" cy="347472"/>
          </a:xfrm>
          <a:prstGeom prst="ellipse">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6"/>
          <p:cNvSpPr/>
          <p:nvPr/>
        </p:nvSpPr>
        <p:spPr>
          <a:xfrm>
            <a:off x="493776" y="214884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775" name="Google Shape;775;p36"/>
          <p:cNvSpPr/>
          <p:nvPr/>
        </p:nvSpPr>
        <p:spPr>
          <a:xfrm>
            <a:off x="950976" y="2048256"/>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急な依頼や変更が発生することがある→気づかないと全員が止まる</a:t>
            </a:r>
            <a:endParaRPr b="0" i="0" sz="1450" u="none" cap="none" strike="noStrike">
              <a:solidFill>
                <a:schemeClr val="dk1"/>
              </a:solidFill>
              <a:latin typeface="Calibri"/>
              <a:ea typeface="Calibri"/>
              <a:cs typeface="Calibri"/>
              <a:sym typeface="Calibri"/>
            </a:endParaRPr>
          </a:p>
        </p:txBody>
      </p:sp>
      <p:sp>
        <p:nvSpPr>
          <p:cNvPr id="776" name="Google Shape;776;p36"/>
          <p:cNvSpPr/>
          <p:nvPr/>
        </p:nvSpPr>
        <p:spPr>
          <a:xfrm>
            <a:off x="310896" y="2679192"/>
            <a:ext cx="8522208" cy="548640"/>
          </a:xfrm>
          <a:prstGeom prst="rect">
            <a:avLst/>
          </a:prstGeom>
          <a:solidFill>
            <a:srgbClr val="FFFFFF"/>
          </a:solidFill>
          <a:ln cap="flat" cmpd="sng" w="9525">
            <a:solidFill>
              <a:srgbClr val="D1D5D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6"/>
          <p:cNvSpPr/>
          <p:nvPr/>
        </p:nvSpPr>
        <p:spPr>
          <a:xfrm>
            <a:off x="310896" y="2679192"/>
            <a:ext cx="59436" cy="54864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6"/>
          <p:cNvSpPr/>
          <p:nvPr/>
        </p:nvSpPr>
        <p:spPr>
          <a:xfrm>
            <a:off x="493776" y="2779776"/>
            <a:ext cx="347472" cy="347472"/>
          </a:xfrm>
          <a:prstGeom prst="ellipse">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6"/>
          <p:cNvSpPr/>
          <p:nvPr/>
        </p:nvSpPr>
        <p:spPr>
          <a:xfrm>
            <a:off x="493776" y="2779776"/>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eiryo"/>
              <a:buNone/>
            </a:pPr>
            <a:r>
              <a:rPr b="1" i="0" lang="en-US" sz="1100" u="none" cap="none" strike="noStrike">
                <a:solidFill>
                  <a:srgbClr val="FFFFFF"/>
                </a:solidFill>
                <a:latin typeface="Meiryo"/>
                <a:ea typeface="Meiryo"/>
                <a:cs typeface="Meiryo"/>
                <a:sym typeface="Meiryo"/>
              </a:rPr>
              <a:t>✓</a:t>
            </a:r>
            <a:endParaRPr b="0" i="0" sz="1100" u="none" cap="none" strike="noStrike">
              <a:solidFill>
                <a:schemeClr val="dk1"/>
              </a:solidFill>
              <a:latin typeface="Calibri"/>
              <a:ea typeface="Calibri"/>
              <a:cs typeface="Calibri"/>
              <a:sym typeface="Calibri"/>
            </a:endParaRPr>
          </a:p>
        </p:txBody>
      </p:sp>
      <p:sp>
        <p:nvSpPr>
          <p:cNvPr id="780" name="Google Shape;780;p36"/>
          <p:cNvSpPr/>
          <p:nvPr/>
        </p:nvSpPr>
        <p:spPr>
          <a:xfrm>
            <a:off x="950976" y="2679192"/>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068"/>
              </a:buClr>
              <a:buSzPts val="1450"/>
              <a:buFont typeface="Meiryo"/>
              <a:buNone/>
            </a:pPr>
            <a:r>
              <a:rPr b="0" i="0" lang="en-US" sz="1450" u="none" cap="none" strike="noStrike">
                <a:solidFill>
                  <a:srgbClr val="1E3068"/>
                </a:solidFill>
                <a:latin typeface="Meiryo"/>
                <a:ea typeface="Meiryo"/>
                <a:cs typeface="Meiryo"/>
                <a:sym typeface="Meiryo"/>
              </a:rPr>
              <a:t>ミスしたら隠さずすぐ報告（早期報告がダメージを最小化する）</a:t>
            </a:r>
            <a:endParaRPr b="0" i="0" sz="1450" u="none" cap="none" strike="noStrike">
              <a:solidFill>
                <a:schemeClr val="dk1"/>
              </a:solidFill>
              <a:latin typeface="Calibri"/>
              <a:ea typeface="Calibri"/>
              <a:cs typeface="Calibri"/>
              <a:sym typeface="Calibri"/>
            </a:endParaRPr>
          </a:p>
        </p:txBody>
      </p:sp>
      <p:sp>
        <p:nvSpPr>
          <p:cNvPr id="781" name="Google Shape;781;p36"/>
          <p:cNvSpPr/>
          <p:nvPr/>
        </p:nvSpPr>
        <p:spPr>
          <a:xfrm>
            <a:off x="310896" y="3401568"/>
            <a:ext cx="8522208" cy="493776"/>
          </a:xfrm>
          <a:prstGeom prst="rect">
            <a:avLst/>
          </a:prstGeom>
          <a:solidFill>
            <a:srgbClr val="FEF3C7"/>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6"/>
          <p:cNvSpPr/>
          <p:nvPr/>
        </p:nvSpPr>
        <p:spPr>
          <a:xfrm>
            <a:off x="457200" y="3401568"/>
            <a:ext cx="83210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300"/>
              <a:buFont typeface="Meiryo"/>
              <a:buNone/>
            </a:pPr>
            <a:r>
              <a:rPr b="1" i="0" lang="en-US" sz="1300" u="none" cap="none" strike="noStrike">
                <a:solidFill>
                  <a:srgbClr val="92400E"/>
                </a:solidFill>
                <a:latin typeface="Meiryo"/>
                <a:ea typeface="Meiryo"/>
                <a:cs typeface="Meiryo"/>
                <a:sym typeface="Meiryo"/>
              </a:rPr>
              <a:t>⚠️  「迷ったら即相談」がトラブルを最小限にするコミュニケーション術</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787" name="Shape 787"/>
        <p:cNvGrpSpPr/>
        <p:nvPr/>
      </p:nvGrpSpPr>
      <p:grpSpPr>
        <a:xfrm>
          <a:off x="0" y="0"/>
          <a:ext cx="0" cy="0"/>
          <a:chOff x="0" y="0"/>
          <a:chExt cx="0" cy="0"/>
        </a:xfrm>
      </p:grpSpPr>
      <p:sp>
        <p:nvSpPr>
          <p:cNvPr id="788" name="Google Shape;788;p37"/>
          <p:cNvSpPr/>
          <p:nvPr/>
        </p:nvSpPr>
        <p:spPr>
          <a:xfrm>
            <a:off x="0" y="0"/>
            <a:ext cx="2743200" cy="5143500"/>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7"/>
          <p:cNvSpPr/>
          <p:nvPr/>
        </p:nvSpPr>
        <p:spPr>
          <a:xfrm>
            <a:off x="237744" y="1005840"/>
            <a:ext cx="2286000" cy="210312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FFFFFF"/>
              </a:buClr>
              <a:buSzPts val="2600"/>
              <a:buFont typeface="Meiryo"/>
              <a:buNone/>
            </a:pPr>
            <a:r>
              <a:rPr b="1" i="0" lang="en-US" sz="2600" u="none" cap="none" strike="noStrike">
                <a:solidFill>
                  <a:srgbClr val="FFFFFF"/>
                </a:solidFill>
                <a:latin typeface="Meiryo"/>
                <a:ea typeface="Meiryo"/>
                <a:cs typeface="Meiryo"/>
                <a:sym typeface="Meiryo"/>
              </a:rPr>
              <a:t>第3章</a:t>
            </a:r>
            <a:endParaRPr b="0" i="0" sz="26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FFFFFF"/>
              </a:buClr>
              <a:buSzPts val="2600"/>
              <a:buFont typeface="Meiryo"/>
              <a:buNone/>
            </a:pPr>
            <a:r>
              <a:rPr b="1" i="0" lang="en-US" sz="2600" u="none" cap="none" strike="noStrike">
                <a:solidFill>
                  <a:srgbClr val="FFFFFF"/>
                </a:solidFill>
                <a:latin typeface="Meiryo"/>
                <a:ea typeface="Meiryo"/>
                <a:cs typeface="Meiryo"/>
                <a:sym typeface="Meiryo"/>
              </a:rPr>
              <a:t>完了！</a:t>
            </a:r>
            <a:endParaRPr b="0" i="0" sz="26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FFFFFF"/>
              </a:buClr>
              <a:buSzPts val="2600"/>
              <a:buFont typeface="Meiryo"/>
              <a:buNone/>
            </a:pPr>
            <a:r>
              <a:rPr b="1" i="0" lang="en-US" sz="2600" u="none" cap="none" strike="noStrike">
                <a:solidFill>
                  <a:srgbClr val="FFFFFF"/>
                </a:solidFill>
                <a:latin typeface="Meiryo"/>
                <a:ea typeface="Meiryo"/>
                <a:cs typeface="Meiryo"/>
                <a:sym typeface="Meiryo"/>
              </a:rPr>
              <a:t>おさらい</a:t>
            </a:r>
            <a:endParaRPr b="0" i="0" sz="2600" u="none" cap="none" strike="noStrike">
              <a:solidFill>
                <a:schemeClr val="dk1"/>
              </a:solidFill>
              <a:latin typeface="Calibri"/>
              <a:ea typeface="Calibri"/>
              <a:cs typeface="Calibri"/>
              <a:sym typeface="Calibri"/>
            </a:endParaRPr>
          </a:p>
        </p:txBody>
      </p:sp>
      <p:sp>
        <p:nvSpPr>
          <p:cNvPr id="790" name="Google Shape;790;p37"/>
          <p:cNvSpPr/>
          <p:nvPr/>
        </p:nvSpPr>
        <p:spPr>
          <a:xfrm>
            <a:off x="237744" y="4114800"/>
            <a:ext cx="22860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8"/>
              </a:buClr>
              <a:buSzPts val="1100"/>
              <a:buFont typeface="Meiryo"/>
              <a:buNone/>
            </a:pPr>
            <a:r>
              <a:rPr b="0" i="0" lang="en-US" sz="1100" u="none" cap="none" strike="noStrike">
                <a:solidFill>
                  <a:srgbClr val="A0B8D8"/>
                </a:solidFill>
                <a:latin typeface="Meiryo"/>
                <a:ea typeface="Meiryo"/>
                <a:cs typeface="Meiryo"/>
                <a:sym typeface="Meiryo"/>
              </a:rPr>
              <a:t>動画まとめ</a:t>
            </a:r>
            <a:endParaRPr b="0" i="0" sz="1100" u="none" cap="none" strike="noStrike">
              <a:solidFill>
                <a:schemeClr val="dk1"/>
              </a:solidFill>
              <a:latin typeface="Calibri"/>
              <a:ea typeface="Calibri"/>
              <a:cs typeface="Calibri"/>
              <a:sym typeface="Calibri"/>
            </a:endParaRPr>
          </a:p>
        </p:txBody>
      </p:sp>
      <p:sp>
        <p:nvSpPr>
          <p:cNvPr id="791" name="Google Shape;791;p37"/>
          <p:cNvSpPr/>
          <p:nvPr/>
        </p:nvSpPr>
        <p:spPr>
          <a:xfrm>
            <a:off x="2944368" y="329184"/>
            <a:ext cx="65837" cy="781812"/>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7"/>
          <p:cNvSpPr/>
          <p:nvPr/>
        </p:nvSpPr>
        <p:spPr>
          <a:xfrm>
            <a:off x="3072384" y="329184"/>
            <a:ext cx="585216"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01</a:t>
            </a:r>
            <a:endParaRPr b="0" i="0" sz="2000" u="none" cap="none" strike="noStrike">
              <a:solidFill>
                <a:schemeClr val="dk1"/>
              </a:solidFill>
              <a:latin typeface="Calibri"/>
              <a:ea typeface="Calibri"/>
              <a:cs typeface="Calibri"/>
              <a:sym typeface="Calibri"/>
            </a:endParaRPr>
          </a:p>
        </p:txBody>
      </p:sp>
      <p:sp>
        <p:nvSpPr>
          <p:cNvPr id="793" name="Google Shape;793;p37"/>
          <p:cNvSpPr/>
          <p:nvPr/>
        </p:nvSpPr>
        <p:spPr>
          <a:xfrm>
            <a:off x="3749040" y="329184"/>
            <a:ext cx="5120640"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コアタイム（10〜19時）は連絡が取れる状態にする</a:t>
            </a:r>
            <a:endParaRPr b="0" i="0" sz="1550" u="none" cap="none" strike="noStrike">
              <a:solidFill>
                <a:schemeClr val="dk1"/>
              </a:solidFill>
              <a:latin typeface="Calibri"/>
              <a:ea typeface="Calibri"/>
              <a:cs typeface="Calibri"/>
              <a:sym typeface="Calibri"/>
            </a:endParaRPr>
          </a:p>
        </p:txBody>
      </p:sp>
      <p:cxnSp>
        <p:nvCxnSpPr>
          <p:cNvPr id="794" name="Google Shape;794;p37"/>
          <p:cNvCxnSpPr/>
          <p:nvPr/>
        </p:nvCxnSpPr>
        <p:spPr>
          <a:xfrm>
            <a:off x="2944368" y="1156716"/>
            <a:ext cx="5925312" cy="0"/>
          </a:xfrm>
          <a:prstGeom prst="straightConnector1">
            <a:avLst/>
          </a:prstGeom>
          <a:noFill/>
          <a:ln cap="flat" cmpd="sng" w="9525">
            <a:solidFill>
              <a:srgbClr val="D1D5DB"/>
            </a:solidFill>
            <a:prstDash val="solid"/>
            <a:round/>
            <a:headEnd len="sm" w="sm" type="none"/>
            <a:tailEnd len="sm" w="sm" type="none"/>
          </a:ln>
        </p:spPr>
      </p:cxnSp>
      <p:sp>
        <p:nvSpPr>
          <p:cNvPr id="795" name="Google Shape;795;p37"/>
          <p:cNvSpPr/>
          <p:nvPr/>
        </p:nvSpPr>
        <p:spPr>
          <a:xfrm>
            <a:off x="2944368" y="1202436"/>
            <a:ext cx="65837" cy="781812"/>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7"/>
          <p:cNvSpPr/>
          <p:nvPr/>
        </p:nvSpPr>
        <p:spPr>
          <a:xfrm>
            <a:off x="3072384" y="1202436"/>
            <a:ext cx="585216"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02</a:t>
            </a:r>
            <a:endParaRPr b="0" i="0" sz="2000" u="none" cap="none" strike="noStrike">
              <a:solidFill>
                <a:schemeClr val="dk1"/>
              </a:solidFill>
              <a:latin typeface="Calibri"/>
              <a:ea typeface="Calibri"/>
              <a:cs typeface="Calibri"/>
              <a:sym typeface="Calibri"/>
            </a:endParaRPr>
          </a:p>
        </p:txBody>
      </p:sp>
      <p:sp>
        <p:nvSpPr>
          <p:cNvPr id="797" name="Google Shape;797;p37"/>
          <p:cNvSpPr/>
          <p:nvPr/>
        </p:nvSpPr>
        <p:spPr>
          <a:xfrm>
            <a:off x="3749040" y="1202436"/>
            <a:ext cx="5120640"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18時以降の確認依頼は翌日回答になる→17時までに動く</a:t>
            </a:r>
            <a:endParaRPr b="0" i="0" sz="1550" u="none" cap="none" strike="noStrike">
              <a:solidFill>
                <a:schemeClr val="dk1"/>
              </a:solidFill>
              <a:latin typeface="Calibri"/>
              <a:ea typeface="Calibri"/>
              <a:cs typeface="Calibri"/>
              <a:sym typeface="Calibri"/>
            </a:endParaRPr>
          </a:p>
        </p:txBody>
      </p:sp>
      <p:cxnSp>
        <p:nvCxnSpPr>
          <p:cNvPr id="798" name="Google Shape;798;p37"/>
          <p:cNvCxnSpPr/>
          <p:nvPr/>
        </p:nvCxnSpPr>
        <p:spPr>
          <a:xfrm>
            <a:off x="2944368" y="2029968"/>
            <a:ext cx="5925312" cy="0"/>
          </a:xfrm>
          <a:prstGeom prst="straightConnector1">
            <a:avLst/>
          </a:prstGeom>
          <a:noFill/>
          <a:ln cap="flat" cmpd="sng" w="9525">
            <a:solidFill>
              <a:srgbClr val="D1D5DB"/>
            </a:solidFill>
            <a:prstDash val="solid"/>
            <a:round/>
            <a:headEnd len="sm" w="sm" type="none"/>
            <a:tailEnd len="sm" w="sm" type="none"/>
          </a:ln>
        </p:spPr>
      </p:cxnSp>
      <p:sp>
        <p:nvSpPr>
          <p:cNvPr id="799" name="Google Shape;799;p37"/>
          <p:cNvSpPr/>
          <p:nvPr/>
        </p:nvSpPr>
        <p:spPr>
          <a:xfrm>
            <a:off x="2944368" y="2075688"/>
            <a:ext cx="65837" cy="781812"/>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7"/>
          <p:cNvSpPr/>
          <p:nvPr/>
        </p:nvSpPr>
        <p:spPr>
          <a:xfrm>
            <a:off x="3072384" y="2075688"/>
            <a:ext cx="585216"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03</a:t>
            </a:r>
            <a:endParaRPr b="0" i="0" sz="2000" u="none" cap="none" strike="noStrike">
              <a:solidFill>
                <a:schemeClr val="dk1"/>
              </a:solidFill>
              <a:latin typeface="Calibri"/>
              <a:ea typeface="Calibri"/>
              <a:cs typeface="Calibri"/>
              <a:sym typeface="Calibri"/>
            </a:endParaRPr>
          </a:p>
        </p:txBody>
      </p:sp>
      <p:sp>
        <p:nvSpPr>
          <p:cNvPr id="801" name="Google Shape;801;p37"/>
          <p:cNvSpPr/>
          <p:nvPr/>
        </p:nvSpPr>
        <p:spPr>
          <a:xfrm>
            <a:off x="3749040" y="2075688"/>
            <a:ext cx="5120640"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締め切りは「日付＋時間」で管理する</a:t>
            </a:r>
            <a:endParaRPr b="0" i="0" sz="1550" u="none" cap="none" strike="noStrike">
              <a:solidFill>
                <a:schemeClr val="dk1"/>
              </a:solidFill>
              <a:latin typeface="Calibri"/>
              <a:ea typeface="Calibri"/>
              <a:cs typeface="Calibri"/>
              <a:sym typeface="Calibri"/>
            </a:endParaRPr>
          </a:p>
        </p:txBody>
      </p:sp>
      <p:cxnSp>
        <p:nvCxnSpPr>
          <p:cNvPr id="802" name="Google Shape;802;p37"/>
          <p:cNvCxnSpPr/>
          <p:nvPr/>
        </p:nvCxnSpPr>
        <p:spPr>
          <a:xfrm>
            <a:off x="2944368" y="2903220"/>
            <a:ext cx="5925312" cy="0"/>
          </a:xfrm>
          <a:prstGeom prst="straightConnector1">
            <a:avLst/>
          </a:prstGeom>
          <a:noFill/>
          <a:ln cap="flat" cmpd="sng" w="9525">
            <a:solidFill>
              <a:srgbClr val="D1D5DB"/>
            </a:solidFill>
            <a:prstDash val="solid"/>
            <a:round/>
            <a:headEnd len="sm" w="sm" type="none"/>
            <a:tailEnd len="sm" w="sm" type="none"/>
          </a:ln>
        </p:spPr>
      </p:cxnSp>
      <p:sp>
        <p:nvSpPr>
          <p:cNvPr id="803" name="Google Shape;803;p37"/>
          <p:cNvSpPr/>
          <p:nvPr/>
        </p:nvSpPr>
        <p:spPr>
          <a:xfrm>
            <a:off x="2944368" y="2948940"/>
            <a:ext cx="65837" cy="781812"/>
          </a:xfrm>
          <a:prstGeom prst="rect">
            <a:avLst/>
          </a:prstGeom>
          <a:solidFill>
            <a:srgbClr val="1E3068"/>
          </a:solidFill>
          <a:ln cap="flat" cmpd="sng" w="12700">
            <a:solidFill>
              <a:srgbClr val="1E30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7"/>
          <p:cNvSpPr/>
          <p:nvPr/>
        </p:nvSpPr>
        <p:spPr>
          <a:xfrm>
            <a:off x="3072384" y="2948940"/>
            <a:ext cx="585216"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2000"/>
              <a:buFont typeface="Meiryo"/>
              <a:buNone/>
            </a:pPr>
            <a:r>
              <a:rPr b="1" i="0" lang="en-US" sz="2000" u="none" cap="none" strike="noStrike">
                <a:solidFill>
                  <a:srgbClr val="1E3068"/>
                </a:solidFill>
                <a:latin typeface="Meiryo"/>
                <a:ea typeface="Meiryo"/>
                <a:cs typeface="Meiryo"/>
                <a:sym typeface="Meiryo"/>
              </a:rPr>
              <a:t>04</a:t>
            </a:r>
            <a:endParaRPr b="0" i="0" sz="2000" u="none" cap="none" strike="noStrike">
              <a:solidFill>
                <a:schemeClr val="dk1"/>
              </a:solidFill>
              <a:latin typeface="Calibri"/>
              <a:ea typeface="Calibri"/>
              <a:cs typeface="Calibri"/>
              <a:sym typeface="Calibri"/>
            </a:endParaRPr>
          </a:p>
        </p:txBody>
      </p:sp>
      <p:sp>
        <p:nvSpPr>
          <p:cNvPr id="805" name="Google Shape;805;p37"/>
          <p:cNvSpPr/>
          <p:nvPr/>
        </p:nvSpPr>
        <p:spPr>
          <a:xfrm>
            <a:off x="3749040" y="2948940"/>
            <a:ext cx="5120640" cy="7818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068"/>
              </a:buClr>
              <a:buSzPts val="1550"/>
              <a:buFont typeface="Meiryo"/>
              <a:buNone/>
            </a:pPr>
            <a:r>
              <a:rPr b="0" i="0" lang="en-US" sz="1550" u="none" cap="none" strike="noStrike">
                <a:solidFill>
                  <a:srgbClr val="1E3068"/>
                </a:solidFill>
                <a:latin typeface="Meiryo"/>
                <a:ea typeface="Meiryo"/>
                <a:cs typeface="Meiryo"/>
                <a:sym typeface="Meiryo"/>
              </a:rPr>
              <a:t>通知はON・迷ったら勝手に進めず即相談</a:t>
            </a:r>
            <a:endParaRPr b="0" i="0" sz="1550" u="none" cap="none" strike="noStrike">
              <a:solidFill>
                <a:schemeClr val="dk1"/>
              </a:solidFill>
              <a:latin typeface="Calibri"/>
              <a:ea typeface="Calibri"/>
              <a:cs typeface="Calibri"/>
              <a:sym typeface="Calibri"/>
            </a:endParaRPr>
          </a:p>
        </p:txBody>
      </p:sp>
      <p:sp>
        <p:nvSpPr>
          <p:cNvPr id="806" name="Google Shape;806;p37"/>
          <p:cNvSpPr/>
          <p:nvPr/>
        </p:nvSpPr>
        <p:spPr>
          <a:xfrm>
            <a:off x="2944368" y="3968496"/>
            <a:ext cx="5925312" cy="658368"/>
          </a:xfrm>
          <a:prstGeom prst="rect">
            <a:avLst/>
          </a:prstGeom>
          <a:solidFill>
            <a:srgbClr val="FFF7ED"/>
          </a:solidFill>
          <a:ln cap="flat" cmpd="sng" w="9525">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7"/>
          <p:cNvSpPr/>
          <p:nvPr/>
        </p:nvSpPr>
        <p:spPr>
          <a:xfrm>
            <a:off x="2944368" y="3968496"/>
            <a:ext cx="59436" cy="658368"/>
          </a:xfrm>
          <a:prstGeom prst="rect">
            <a:avLst/>
          </a:prstGeom>
          <a:solidFill>
            <a:srgbClr val="E87030"/>
          </a:solidFill>
          <a:ln cap="flat" cmpd="sng" w="12700">
            <a:solidFill>
              <a:srgbClr val="E87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7"/>
          <p:cNvSpPr/>
          <p:nvPr/>
        </p:nvSpPr>
        <p:spPr>
          <a:xfrm>
            <a:off x="3108960" y="3968496"/>
            <a:ext cx="5687568"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030"/>
              </a:buClr>
              <a:buSzPts val="1350"/>
              <a:buFont typeface="Meiryo"/>
              <a:buNone/>
            </a:pPr>
            <a:r>
              <a:rPr b="1" i="0" lang="en-US" sz="1350" u="none" cap="none" strike="noStrike">
                <a:solidFill>
                  <a:srgbClr val="E87030"/>
                </a:solidFill>
                <a:latin typeface="Meiryo"/>
                <a:ea typeface="Meiryo"/>
                <a:cs typeface="Meiryo"/>
                <a:sym typeface="Meiryo"/>
              </a:rPr>
              <a:t>▶  Next  |  次のステップ：仮免テスト（第3章から15問出題）</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2026-04-08T05:44:23Z</dcterms:created>
  <dc:creator>TORIHADA Enablement</dc:creator>
</cp:coreProperties>
</file>