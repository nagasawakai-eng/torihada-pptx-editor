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2" r:id="rId43"/>
    <p:sldId id="281" r:id="rId32"/>
    <p:sldId id="282" r:id="rId33"/>
    <p:sldId id="283" r:id="rId34"/>
    <p:sldId id="284" r:id="rId35"/>
    <p:sldId id="285" r:id="rId36"/>
    <p:sldId id="286" r:id="rId37"/>
    <p:sldId id="287" r:id="rId38"/>
    <p:sldId id="288" r:id="rId39"/>
    <p:sldId id="289" r:id="rId40"/>
    <p:sldId id="290" r:id="rId41"/>
    <p:sldId id="291" r:id="rId42"/>
    <p:sldId id="280" r:id="rId26"/>
  </p:sldIdLst>
  <p:notesMasterIdLst>
    <p:notesMasterId r:id="rId2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s>
</file>

<file path=ppt/notesMasters/_rels/notesMaster1.xml.rels><?xml version="1.0" encoding="UTF-8"?><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4.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image" Target="../media/image-3-4.png"/><Relationship Id="rId5" Type="http://schemas.openxmlformats.org/officeDocument/2006/relationships/image" Target="../media/image-3-5.sv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sv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2.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1.xml"/><Relationship Id="rId9" Type="http://schemas.openxmlformats.org/officeDocument/2006/relationships/notesSlide" Target="../notesSlides/notesSlide12.xml"/></Relationships>
</file>

<file path=ppt/slides/_rels/slide13.xml.rels><?xml version="1.0" encoding="UTF-8"?><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svg"/><Relationship Id="rId3" Type="http://schemas.openxmlformats.org/officeDocument/2006/relationships/image" Target="../media/image-15-3.png"/><Relationship Id="rId4" Type="http://schemas.openxmlformats.org/officeDocument/2006/relationships/image" Target="../media/image-15-4.sv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sv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svg"/><Relationship Id="rId3" Type="http://schemas.openxmlformats.org/officeDocument/2006/relationships/image" Target="../media/image-7-3.png"/><Relationship Id="rId4" Type="http://schemas.openxmlformats.org/officeDocument/2006/relationships/image" Target="../media/image-7-4.svg"/><Relationship Id="rId5" Type="http://schemas.openxmlformats.org/officeDocument/2006/relationships/image" Target="../media/image-7-5.png"/><Relationship Id="rId6" Type="http://schemas.openxmlformats.org/officeDocument/2006/relationships/slideLayout" Target="../slideLayouts/slideLayout1.xml"/></Relationships>
</file>

<file path=ppt/slides/_rels/slide27.xml.rels><?xml version="1.0" encoding="UTF-8"?><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svg"/><Relationship Id="rId3" Type="http://schemas.openxmlformats.org/officeDocument/2006/relationships/image" Target="../media/image-8-3.png"/><Relationship Id="rId4" Type="http://schemas.openxmlformats.org/officeDocument/2006/relationships/image" Target="../media/image-8-4.svg"/><Relationship Id="rId5" Type="http://schemas.openxmlformats.org/officeDocument/2006/relationships/image" Target="../media/image-8-5.png"/><Relationship Id="rId6" Type="http://schemas.openxmlformats.org/officeDocument/2006/relationships/image" Target="../media/image-8-6.svg"/><Relationship Id="rId7" Type="http://schemas.openxmlformats.org/officeDocument/2006/relationships/slideLayout" Target="../slideLayouts/slideLayout1.xml"/></Relationships>
</file>

<file path=ppt/slides/_rels/slide28.xml.rels><?xml version="1.0" encoding="UTF-8"?><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svg"/><Relationship Id="rId4" Type="http://schemas.openxmlformats.org/officeDocument/2006/relationships/image" Target="../media/image-3-4.png"/><Relationship Id="rId5" Type="http://schemas.openxmlformats.org/officeDocument/2006/relationships/image" Target="../media/image-3-5.svg"/><Relationship Id="rId6" Type="http://schemas.openxmlformats.org/officeDocument/2006/relationships/slideLayout" Target="../slideLayouts/slideLayout1.xml"/></Relationships>
</file>

<file path=ppt/slides/_rels/slide30.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s>
</file>

<file path=ppt/slides/_rels/slide31.xml.rels><?xml version="1.0" encoding="UTF-8"?><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s>
</file>

<file path=ppt/slides/_rels/slide32.xml.rels><?xml version="1.0" encoding="UTF-8"?><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s>
</file>

<file path=ppt/slides/_rels/slide33.xml.rels><?xml version="1.0" encoding="UTF-8"?><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sv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s>
</file>

<file path=ppt/slides/_rels/slide34.xml.rels><?xml version="1.0" encoding="UTF-8"?><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sv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s>
</file>

<file path=ppt/slides/_rels/slide36.xml.rels><?xml version="1.0" encoding="UTF-8"?><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svg"/><Relationship Id="rId3" Type="http://schemas.openxmlformats.org/officeDocument/2006/relationships/slideLayout" Target="../slideLayouts/slideLayout1.xml"/></Relationships>
</file>

<file path=ppt/slides/_rels/slide37.xml.rels><?xml version="1.0" encoding="UTF-8"?><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 name="Shape 15"/>
        <p:cNvGrpSpPr/>
        <p:nvPr/>
      </p:nvGrpSpPr>
      <p:grpSpPr>
        <a:xfrm>
          <a:off x="0" y="0"/>
          <a:ext cx="0" cy="0"/>
          <a:chOff x="0" y="0"/>
          <a:chExt cx="0" cy="0"/>
        </a:xfrm>
      </p:grpSpPr>
      <p:sp>
        <p:nvSpPr>
          <p:cNvPr id="16" name="Google Shape;16;p1"/>
          <p:cNvSpPr/>
          <p:nvPr/>
        </p:nvSpPr>
        <p:spPr>
          <a:xfrm>
            <a:off x="0" y="0"/>
            <a:ext cx="2907792"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 name="Google Shape;17;p1"/>
          <p:cNvSpPr/>
          <p:nvPr/>
        </p:nvSpPr>
        <p:spPr>
          <a:xfrm>
            <a:off x="274320" y="475488"/>
            <a:ext cx="235915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500"/>
              <a:buFont typeface="Meiryo"/>
              <a:buNone/>
            </a:pPr>
            <a:r>
              <a:rPr b="1" i="0" lang="en-US" sz="1500" u="none" cap="none" strike="noStrike">
                <a:solidFill>
                  <a:srgbClr val="A0B8D8"/>
                </a:solidFill>
                <a:latin typeface="Meiryo"/>
                <a:ea typeface="Meiryo"/>
                <a:cs typeface="Meiryo"/>
                <a:sym typeface="Meiryo"/>
              </a:rPr>
              <a:t>第3章</a:t>
            </a:r>
            <a:endParaRPr b="0" i="0" sz="1500" u="none" cap="none" strike="noStrike">
              <a:solidFill>
                <a:schemeClr val="dk1"/>
              </a:solidFill>
              <a:latin typeface="Calibri"/>
              <a:ea typeface="Calibri"/>
              <a:cs typeface="Calibri"/>
              <a:sym typeface="Calibri"/>
            </a:endParaRPr>
          </a:p>
        </p:txBody>
      </p:sp>
      <p:sp>
        <p:nvSpPr>
          <p:cNvPr id="18" name="Google Shape;18;p1"/>
          <p:cNvSpPr/>
          <p:nvPr/>
        </p:nvSpPr>
        <p:spPr>
          <a:xfrm>
            <a:off x="274320" y="868680"/>
            <a:ext cx="2359152"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5000"/>
              <a:buFont typeface="Meiryo"/>
              <a:buNone/>
            </a:pPr>
            <a:r>
              <a:rPr b="1" i="0" lang="en-US" sz="5000" u="none" cap="none" strike="noStrike">
                <a:solidFill>
                  <a:srgbClr val="FFFFFF"/>
                </a:solidFill>
                <a:latin typeface="Meiryo"/>
                <a:ea typeface="Meiryo"/>
                <a:cs typeface="Meiryo"/>
                <a:sym typeface="Meiryo"/>
              </a:rPr>
              <a:t>動画①</a:t>
            </a:r>
            <a:endParaRPr b="0" i="0" sz="5000" u="none" cap="none" strike="noStrike">
              <a:solidFill>
                <a:schemeClr val="dk1"/>
              </a:solidFill>
              <a:latin typeface="Calibri"/>
              <a:ea typeface="Calibri"/>
              <a:cs typeface="Calibri"/>
              <a:sym typeface="Calibri"/>
            </a:endParaRPr>
          </a:p>
        </p:txBody>
      </p:sp>
      <p:sp>
        <p:nvSpPr>
          <p:cNvPr id="19" name="Google Shape;19;p1"/>
          <p:cNvSpPr/>
          <p:nvPr/>
        </p:nvSpPr>
        <p:spPr>
          <a:xfrm>
            <a:off x="274320" y="2011680"/>
            <a:ext cx="2359152"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300"/>
              <a:buFont typeface="Meiryo"/>
              <a:buNone/>
            </a:pPr>
            <a:r>
              <a:rPr b="0" i="0" lang="en-US" sz="1300" u="none" cap="none" strike="noStrike">
                <a:solidFill>
                  <a:srgbClr val="A0B8D8"/>
                </a:solidFill>
                <a:latin typeface="Meiryo"/>
                <a:ea typeface="Meiryo"/>
                <a:cs typeface="Meiryo"/>
                <a:sym typeface="Meiryo"/>
              </a:rPr>
              <a:t>進行フロー・ビジネス連絡</a:t>
            </a:r>
            <a:endParaRPr b="0" i="0" sz="1300" u="none" cap="none" strike="noStrike">
              <a:solidFill>
                <a:schemeClr val="dk1"/>
              </a:solidFill>
              <a:latin typeface="Calibri"/>
              <a:ea typeface="Calibri"/>
              <a:cs typeface="Calibri"/>
              <a:sym typeface="Calibri"/>
            </a:endParaRPr>
          </a:p>
        </p:txBody>
      </p:sp>
      <p:sp>
        <p:nvSpPr>
          <p:cNvPr id="20" name="Google Shape;20;p1"/>
          <p:cNvSpPr/>
          <p:nvPr/>
        </p:nvSpPr>
        <p:spPr>
          <a:xfrm>
            <a:off x="274320" y="2816352"/>
            <a:ext cx="1389888" cy="4023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 name="Google Shape;21;p1"/>
          <p:cNvSpPr/>
          <p:nvPr/>
        </p:nvSpPr>
        <p:spPr>
          <a:xfrm>
            <a:off x="274320" y="2816352"/>
            <a:ext cx="1389888"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  約5分</a:t>
            </a:r>
            <a:endParaRPr b="0" i="0" sz="1300" u="none" cap="none" strike="noStrike">
              <a:solidFill>
                <a:schemeClr val="dk1"/>
              </a:solidFill>
              <a:latin typeface="Calibri"/>
              <a:ea typeface="Calibri"/>
              <a:cs typeface="Calibri"/>
              <a:sym typeface="Calibri"/>
            </a:endParaRPr>
          </a:p>
        </p:txBody>
      </p:sp>
      <p:sp>
        <p:nvSpPr>
          <p:cNvPr id="22" name="Google Shape;22;p1"/>
          <p:cNvSpPr/>
          <p:nvPr/>
        </p:nvSpPr>
        <p:spPr>
          <a:xfrm>
            <a:off x="3127248" y="219456"/>
            <a:ext cx="5742432"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800"/>
              <a:buFont typeface="Meiryo"/>
              <a:buNone/>
            </a:pPr>
            <a:r>
              <a:rPr b="0" i="0" lang="en-US" sz="800" u="none" cap="none" strike="noStrike">
                <a:solidFill>
                  <a:srgbClr val="1E3068"/>
                </a:solidFill>
                <a:latin typeface="Meiryo"/>
                <a:ea typeface="Meiryo"/>
                <a:cs typeface="Meiryo"/>
                <a:sym typeface="Meiryo"/>
              </a:rPr>
              <a:t>CREATOR NETWORK TRAINING</a:t>
            </a:r>
            <a:endParaRPr b="0" i="0" sz="800" u="none" cap="none" strike="noStrike">
              <a:solidFill>
                <a:schemeClr val="dk1"/>
              </a:solidFill>
              <a:latin typeface="Calibri"/>
              <a:ea typeface="Calibri"/>
              <a:cs typeface="Calibri"/>
              <a:sym typeface="Calibri"/>
            </a:endParaRPr>
          </a:p>
        </p:txBody>
      </p:sp>
      <p:sp>
        <p:nvSpPr>
          <p:cNvPr id="23" name="Google Shape;23;p1"/>
          <p:cNvSpPr/>
          <p:nvPr/>
        </p:nvSpPr>
        <p:spPr>
          <a:xfrm>
            <a:off x="3127248" y="621792"/>
            <a:ext cx="5577840" cy="2606040"/>
          </a:xfrm>
          <a:prstGeom prst="rect">
            <a:avLst/>
          </a:prstGeom>
          <a:noFill/>
          <a:ln>
            <a:noFill/>
          </a:ln>
        </p:spPr>
        <p:txBody>
          <a:bodyPr anchorCtr="0" anchor="t" bIns="45700" lIns="91425" spcFirstLastPara="1" rIns="91425" wrap="square" tIns="45700">
            <a:noAutofit/>
          </a:bodyPr>
          <a:lstStyle/>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事務手続きの</a:t>
            </a:r>
            <a:endParaRPr b="0" i="0" sz="38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キホン</a:t>
            </a:r>
            <a:endParaRPr b="0" i="0" sz="3800" u="none" cap="none" strike="noStrike">
              <a:solidFill>
                <a:schemeClr val="dk1"/>
              </a:solidFill>
              <a:latin typeface="Calibri"/>
              <a:ea typeface="Calibri"/>
              <a:cs typeface="Calibri"/>
              <a:sym typeface="Calibri"/>
            </a:endParaRPr>
          </a:p>
        </p:txBody>
      </p:sp>
      <p:sp>
        <p:nvSpPr>
          <p:cNvPr id="24" name="Google Shape;24;p1"/>
          <p:cNvSpPr/>
          <p:nvPr/>
        </p:nvSpPr>
        <p:spPr>
          <a:xfrm>
            <a:off x="3127248" y="3364992"/>
            <a:ext cx="1920240"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 name="Google Shape;25;p1"/>
          <p:cNvSpPr/>
          <p:nvPr/>
        </p:nvSpPr>
        <p:spPr>
          <a:xfrm>
            <a:off x="3127248" y="3529584"/>
            <a:ext cx="55778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400"/>
              <a:buFont typeface="Meiryo"/>
              <a:buNone/>
            </a:pPr>
            <a:r>
              <a:rPr b="0" i="0" lang="en-US" sz="1400" u="none" cap="none" strike="noStrike">
                <a:solidFill>
                  <a:srgbClr val="6B7280"/>
                </a:solidFill>
                <a:latin typeface="Meiryo"/>
                <a:ea typeface="Meiryo"/>
                <a:cs typeface="Meiryo"/>
                <a:sym typeface="Meiryo"/>
              </a:rPr>
              <a:t>クリエイターネットワーク研修</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30" name="Shape 30"/>
        <p:cNvGrpSpPr/>
        <p:nvPr/>
      </p:nvGrpSpPr>
      <p:grpSpPr>
        <a:xfrm>
          <a:off x="0" y="0"/>
          <a:ext cx="0" cy="0"/>
          <a:chOff x="0" y="0"/>
          <a:chExt cx="0" cy="0"/>
        </a:xfrm>
      </p:grpSpPr>
      <p:sp>
        <p:nvSpPr>
          <p:cNvPr id="31" name="Google Shape;31;p2"/>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 name="Google Shape;32;p2"/>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この動画で学ぶこと</a:t>
            </a:r>
            <a:endParaRPr b="0" i="0" sz="2100" u="none" cap="none" strike="noStrike">
              <a:solidFill>
                <a:schemeClr val="dk1"/>
              </a:solidFill>
              <a:latin typeface="Calibri"/>
              <a:ea typeface="Calibri"/>
              <a:cs typeface="Calibri"/>
              <a:sym typeface="Calibri"/>
            </a:endParaRPr>
          </a:p>
        </p:txBody>
      </p:sp>
      <p:sp>
        <p:nvSpPr>
          <p:cNvPr id="33" name="Google Shape;33;p2"/>
          <p:cNvSpPr/>
          <p:nvPr/>
        </p:nvSpPr>
        <p:spPr>
          <a:xfrm>
            <a:off x="310896"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 name="Google Shape;34;p2"/>
          <p:cNvSpPr/>
          <p:nvPr/>
        </p:nvSpPr>
        <p:spPr>
          <a:xfrm>
            <a:off x="310896"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 name="Google Shape;35;p2"/>
          <p:cNvSpPr/>
          <p:nvPr/>
        </p:nvSpPr>
        <p:spPr>
          <a:xfrm>
            <a:off x="2140055" y="884713"/>
            <a:ext cx="859200" cy="4800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t/>
            </a:r>
            <a:endParaRPr b="1" sz="2400">
              <a:solidFill>
                <a:srgbClr val="D1D5DB"/>
              </a:solidFill>
              <a:latin typeface="Meiryo"/>
              <a:ea typeface="Meiryo"/>
              <a:cs typeface="Meiryo"/>
              <a:sym typeface="Meiryo"/>
            </a:endParaRPr>
          </a:p>
          <a:p>
            <a:pPr indent="0" lvl="0" marL="0" marR="0" rtl="0" algn="r">
              <a:spcBef>
                <a:spcPts val="0"/>
              </a:spcBef>
              <a:spcAft>
                <a:spcPts val="0"/>
              </a:spcAft>
              <a:buClr>
                <a:srgbClr val="D1D5DB"/>
              </a:buClr>
              <a:buSzPts val="2400"/>
              <a:buFont typeface="Meiryo"/>
              <a:buNone/>
            </a:pPr>
            <a:r>
              <a:rPr b="1" lang="en-US" sz="2400">
                <a:solidFill>
                  <a:srgbClr val="D1D5DB"/>
                </a:solidFill>
                <a:latin typeface="Meiryo"/>
                <a:ea typeface="Meiryo"/>
                <a:cs typeface="Meiryo"/>
                <a:sym typeface="Meiryo"/>
              </a:rPr>
              <a:t>0</a:t>
            </a:r>
            <a:r>
              <a:rPr b="1" i="0" lang="en-US" sz="2400" u="none" cap="none" strike="noStrike">
                <a:solidFill>
                  <a:srgbClr val="D1D5DB"/>
                </a:solidFill>
                <a:latin typeface="Meiryo"/>
                <a:ea typeface="Meiryo"/>
                <a:cs typeface="Meiryo"/>
                <a:sym typeface="Meiryo"/>
              </a:rPr>
              <a:t>1</a:t>
            </a:r>
            <a:endParaRPr b="0" i="0" sz="2400" u="none" cap="none" strike="noStrike">
              <a:solidFill>
                <a:schemeClr val="dk1"/>
              </a:solidFill>
              <a:latin typeface="Calibri"/>
              <a:ea typeface="Calibri"/>
              <a:cs typeface="Calibri"/>
              <a:sym typeface="Calibri"/>
            </a:endParaRPr>
          </a:p>
        </p:txBody>
      </p:sp>
      <p:sp>
        <p:nvSpPr>
          <p:cNvPr id="36" name="Google Shape;36;p2"/>
          <p:cNvSpPr/>
          <p:nvPr/>
        </p:nvSpPr>
        <p:spPr>
          <a:xfrm>
            <a:off x="566928"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37" name="Google Shape;37;p2"/>
          <p:cNvSpPr/>
          <p:nvPr/>
        </p:nvSpPr>
        <p:spPr>
          <a:xfrm>
            <a:off x="512064"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発注書・納品書</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請求書の役割</a:t>
            </a:r>
            <a:endParaRPr b="0" i="0" sz="1550" u="none" cap="none" strike="noStrike">
              <a:solidFill>
                <a:schemeClr val="dk1"/>
              </a:solidFill>
              <a:latin typeface="Calibri"/>
              <a:ea typeface="Calibri"/>
              <a:cs typeface="Calibri"/>
              <a:sym typeface="Calibri"/>
            </a:endParaRPr>
          </a:p>
        </p:txBody>
      </p:sp>
      <p:sp>
        <p:nvSpPr>
          <p:cNvPr id="38" name="Google Shape;38;p2"/>
          <p:cNvSpPr/>
          <p:nvPr/>
        </p:nvSpPr>
        <p:spPr>
          <a:xfrm>
            <a:off x="512064"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3種類の書類が</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それぞれ</a:t>
            </a:r>
            <a:endParaRPr b="0" i="0" sz="1300" u="none" cap="none" strike="noStrike">
              <a:solidFill>
                <a:srgbClr val="6B7280"/>
              </a:solidFill>
              <a:latin typeface="Meiryo"/>
              <a:ea typeface="Meiryo"/>
              <a:cs typeface="Meiryo"/>
              <a:sym typeface="Meiryo"/>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何のためにあるか</a:t>
            </a:r>
            <a:endParaRPr b="0" i="0" sz="1300" u="none" cap="none" strike="noStrike">
              <a:solidFill>
                <a:schemeClr val="dk1"/>
              </a:solidFill>
              <a:latin typeface="Calibri"/>
              <a:ea typeface="Calibri"/>
              <a:cs typeface="Calibri"/>
              <a:sym typeface="Calibri"/>
            </a:endParaRPr>
          </a:p>
        </p:txBody>
      </p:sp>
      <p:sp>
        <p:nvSpPr>
          <p:cNvPr id="39" name="Google Shape;39;p2"/>
          <p:cNvSpPr/>
          <p:nvPr/>
        </p:nvSpPr>
        <p:spPr>
          <a:xfrm>
            <a:off x="3081528"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 name="Google Shape;40;p2"/>
          <p:cNvSpPr/>
          <p:nvPr/>
        </p:nvSpPr>
        <p:spPr>
          <a:xfrm>
            <a:off x="3081528"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 name="Google Shape;41;p2"/>
          <p:cNvSpPr/>
          <p:nvPr/>
        </p:nvSpPr>
        <p:spPr>
          <a:xfrm>
            <a:off x="5074926"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02</a:t>
            </a:r>
            <a:endParaRPr b="0" i="0" sz="2400" u="none" cap="none" strike="noStrike">
              <a:solidFill>
                <a:schemeClr val="dk1"/>
              </a:solidFill>
              <a:latin typeface="Calibri"/>
              <a:ea typeface="Calibri"/>
              <a:cs typeface="Calibri"/>
              <a:sym typeface="Calibri"/>
            </a:endParaRPr>
          </a:p>
        </p:txBody>
      </p:sp>
      <p:sp>
        <p:nvSpPr>
          <p:cNvPr id="42" name="Google Shape;42;p2"/>
          <p:cNvSpPr/>
          <p:nvPr/>
        </p:nvSpPr>
        <p:spPr>
          <a:xfrm>
            <a:off x="3337560"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43" name="Google Shape;43;p2"/>
          <p:cNvSpPr/>
          <p:nvPr/>
        </p:nvSpPr>
        <p:spPr>
          <a:xfrm>
            <a:off x="3282696"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実施確定連絡で</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確認すべきこと</a:t>
            </a:r>
            <a:endParaRPr b="0" i="0" sz="1550" u="none" cap="none" strike="noStrike">
              <a:solidFill>
                <a:schemeClr val="dk1"/>
              </a:solidFill>
              <a:latin typeface="Calibri"/>
              <a:ea typeface="Calibri"/>
              <a:cs typeface="Calibri"/>
              <a:sym typeface="Calibri"/>
            </a:endParaRPr>
          </a:p>
        </p:txBody>
      </p:sp>
      <p:sp>
        <p:nvSpPr>
          <p:cNvPr id="44" name="Google Shape;44;p2"/>
          <p:cNvSpPr/>
          <p:nvPr/>
        </p:nvSpPr>
        <p:spPr>
          <a:xfrm>
            <a:off x="3282696"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届いたらまず</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何を見るべきか</a:t>
            </a:r>
            <a:endParaRPr b="0" i="0" sz="1300" u="none" cap="none" strike="noStrike">
              <a:solidFill>
                <a:schemeClr val="dk1"/>
              </a:solidFill>
              <a:latin typeface="Calibri"/>
              <a:ea typeface="Calibri"/>
              <a:cs typeface="Calibri"/>
              <a:sym typeface="Calibri"/>
            </a:endParaRPr>
          </a:p>
        </p:txBody>
      </p:sp>
      <p:sp>
        <p:nvSpPr>
          <p:cNvPr id="45" name="Google Shape;45;p2"/>
          <p:cNvSpPr/>
          <p:nvPr/>
        </p:nvSpPr>
        <p:spPr>
          <a:xfrm>
            <a:off x="5852160"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 name="Google Shape;46;p2"/>
          <p:cNvSpPr/>
          <p:nvPr/>
        </p:nvSpPr>
        <p:spPr>
          <a:xfrm>
            <a:off x="5852160"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 name="Google Shape;47;p2"/>
          <p:cNvSpPr/>
          <p:nvPr/>
        </p:nvSpPr>
        <p:spPr>
          <a:xfrm>
            <a:off x="7845550"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03</a:t>
            </a:r>
            <a:endParaRPr b="0" i="0" sz="2400" u="none" cap="none" strike="noStrike">
              <a:solidFill>
                <a:schemeClr val="dk1"/>
              </a:solidFill>
              <a:latin typeface="Calibri"/>
              <a:ea typeface="Calibri"/>
              <a:cs typeface="Calibri"/>
              <a:sym typeface="Calibri"/>
            </a:endParaRPr>
          </a:p>
        </p:txBody>
      </p:sp>
      <p:sp>
        <p:nvSpPr>
          <p:cNvPr id="48" name="Google Shape;48;p2"/>
          <p:cNvSpPr/>
          <p:nvPr/>
        </p:nvSpPr>
        <p:spPr>
          <a:xfrm>
            <a:off x="6108192"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49" name="Google Shape;49;p2"/>
          <p:cNvSpPr/>
          <p:nvPr/>
        </p:nvSpPr>
        <p:spPr>
          <a:xfrm>
            <a:off x="6053328"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書類が遅れると</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何が起きるか</a:t>
            </a:r>
            <a:endParaRPr b="0" i="0" sz="1550" u="none" cap="none" strike="noStrike">
              <a:solidFill>
                <a:schemeClr val="dk1"/>
              </a:solidFill>
              <a:latin typeface="Calibri"/>
              <a:ea typeface="Calibri"/>
              <a:cs typeface="Calibri"/>
              <a:sym typeface="Calibri"/>
            </a:endParaRPr>
          </a:p>
        </p:txBody>
      </p:sp>
      <p:sp>
        <p:nvSpPr>
          <p:cNvPr id="50" name="Google Shape;50;p2"/>
          <p:cNvSpPr/>
          <p:nvPr/>
        </p:nvSpPr>
        <p:spPr>
          <a:xfrm>
            <a:off x="6053328"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報酬や信頼への</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影響を理解する</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55" name="Shape 55"/>
        <p:cNvGrpSpPr/>
        <p:nvPr/>
      </p:nvGrpSpPr>
      <p:grpSpPr>
        <a:xfrm>
          <a:off x="0" y="0"/>
          <a:ext cx="0" cy="0"/>
          <a:chOff x="0" y="0"/>
          <a:chExt cx="0" cy="0"/>
        </a:xfrm>
      </p:grpSpPr>
      <p:sp>
        <p:nvSpPr>
          <p:cNvPr id="56" name="Google Shape;56;p3"/>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 name="Google Shape;57;p3"/>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3種類の書類、何のためにある？</a:t>
            </a:r>
            <a:endParaRPr b="0" i="0" sz="2100" u="none" cap="none" strike="noStrike">
              <a:solidFill>
                <a:schemeClr val="dk1"/>
              </a:solidFill>
              <a:latin typeface="Calibri"/>
              <a:ea typeface="Calibri"/>
              <a:cs typeface="Calibri"/>
              <a:sym typeface="Calibri"/>
            </a:endParaRPr>
          </a:p>
        </p:txBody>
      </p:sp>
      <p:sp>
        <p:nvSpPr>
          <p:cNvPr id="58" name="Google Shape;58;p3"/>
          <p:cNvSpPr/>
          <p:nvPr/>
        </p:nvSpPr>
        <p:spPr>
          <a:xfrm>
            <a:off x="310896" y="804672"/>
            <a:ext cx="8522208" cy="74980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 name="Google Shape;59;p3"/>
          <p:cNvSpPr/>
          <p:nvPr/>
        </p:nvSpPr>
        <p:spPr>
          <a:xfrm>
            <a:off x="310896" y="804672"/>
            <a:ext cx="59436" cy="74980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 name="Google Shape;60;p3"/>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450"/>
              <a:buFont typeface="Meiryo"/>
              <a:buNone/>
            </a:pPr>
            <a:r>
              <a:rPr b="1" i="0" lang="en-US" sz="1450" u="none" cap="none" strike="noStrike">
                <a:solidFill>
                  <a:srgbClr val="B45309"/>
                </a:solidFill>
                <a:latin typeface="Meiryo"/>
                <a:ea typeface="Meiryo"/>
                <a:cs typeface="Meiryo"/>
                <a:sym typeface="Meiryo"/>
              </a:rPr>
              <a:t>📌  発注書・納品書・請求書の3点セットで、あなたの報酬が守られる</a:t>
            </a:r>
            <a:endParaRPr b="0" i="0" sz="1450" u="none" cap="none" strike="noStrike">
              <a:solidFill>
                <a:schemeClr val="dk1"/>
              </a:solidFill>
              <a:latin typeface="Calibri"/>
              <a:ea typeface="Calibri"/>
              <a:cs typeface="Calibri"/>
              <a:sym typeface="Calibri"/>
            </a:endParaRPr>
          </a:p>
        </p:txBody>
      </p:sp>
      <p:sp>
        <p:nvSpPr>
          <p:cNvPr id="61" name="Google Shape;61;p3"/>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 name="Google Shape;62;p3"/>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 name="Google Shape;63;p3"/>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発注書：「この内容・この金額で仕事をお願いします」という正式な依頼書類</a:t>
            </a:r>
            <a:endParaRPr b="0" i="0" sz="1450" u="none" cap="none" strike="noStrike">
              <a:solidFill>
                <a:schemeClr val="dk1"/>
              </a:solidFill>
              <a:latin typeface="Calibri"/>
              <a:ea typeface="Calibri"/>
              <a:cs typeface="Calibri"/>
              <a:sym typeface="Calibri"/>
            </a:endParaRPr>
          </a:p>
        </p:txBody>
      </p:sp>
      <p:sp>
        <p:nvSpPr>
          <p:cNvPr id="64" name="Google Shape;64;p3"/>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 name="Google Shape;65;p3"/>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 name="Google Shape;66;p3"/>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納品書：「仕事を完成させてお渡ししました」という証明書類</a:t>
            </a:r>
            <a:endParaRPr b="0" i="0" sz="1450" u="none" cap="none" strike="noStrike">
              <a:solidFill>
                <a:schemeClr val="dk1"/>
              </a:solidFill>
              <a:latin typeface="Calibri"/>
              <a:ea typeface="Calibri"/>
              <a:cs typeface="Calibri"/>
              <a:sym typeface="Calibri"/>
            </a:endParaRPr>
          </a:p>
        </p:txBody>
      </p:sp>
      <p:sp>
        <p:nvSpPr>
          <p:cNvPr id="67" name="Google Shape;67;p3"/>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 name="Google Shape;68;p3"/>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 name="Google Shape;69;p3"/>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請求書：「報酬をお支払いください」という正式な請求書類</a:t>
            </a:r>
            <a:endParaRPr b="0" i="0" sz="1450" u="none" cap="none" strike="noStrike">
              <a:solidFill>
                <a:schemeClr val="dk1"/>
              </a:solidFill>
              <a:latin typeface="Calibri"/>
              <a:ea typeface="Calibri"/>
              <a:cs typeface="Calibri"/>
              <a:sym typeface="Calibri"/>
            </a:endParaRPr>
          </a:p>
        </p:txBody>
      </p:sp>
      <p:sp>
        <p:nvSpPr>
          <p:cNvPr id="70" name="Google Shape;70;p3"/>
          <p:cNvSpPr/>
          <p:nvPr/>
        </p:nvSpPr>
        <p:spPr>
          <a:xfrm>
            <a:off x="310896" y="3931920"/>
            <a:ext cx="8522208" cy="40233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200"/>
              <a:buFont typeface="Meiryo"/>
              <a:buNone/>
            </a:pPr>
            <a:r>
              <a:rPr b="0" i="1" lang="en-US" sz="1200" u="none" cap="none" strike="noStrike">
                <a:solidFill>
                  <a:srgbClr val="6B7280"/>
                </a:solidFill>
                <a:latin typeface="Meiryo"/>
                <a:ea typeface="Meiryo"/>
                <a:cs typeface="Meiryo"/>
                <a:sym typeface="Meiryo"/>
              </a:rPr>
              <a:t>★  どれか一つ欠けても、支払いが遅れる原因になります</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75" name="Shape 75"/>
        <p:cNvGrpSpPr/>
        <p:nvPr/>
      </p:nvGrpSpPr>
      <p:grpSpPr>
        <a:xfrm>
          <a:off x="0" y="0"/>
          <a:ext cx="0" cy="0"/>
          <a:chOff x="0" y="0"/>
          <a:chExt cx="0" cy="0"/>
        </a:xfrm>
      </p:grpSpPr>
      <p:sp>
        <p:nvSpPr>
          <p:cNvPr id="76" name="Google Shape;76;p4"/>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 name="Google Shape;77;p4"/>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実施確定連絡が届いたらまず確認！</a:t>
            </a:r>
            <a:endParaRPr b="0" i="0" sz="2100" u="none" cap="none" strike="noStrike">
              <a:solidFill>
                <a:schemeClr val="dk1"/>
              </a:solidFill>
              <a:latin typeface="Calibri"/>
              <a:ea typeface="Calibri"/>
              <a:cs typeface="Calibri"/>
              <a:sym typeface="Calibri"/>
            </a:endParaRPr>
          </a:p>
        </p:txBody>
      </p:sp>
      <p:sp>
        <p:nvSpPr>
          <p:cNvPr id="78" name="Google Shape;78;p4"/>
          <p:cNvSpPr/>
          <p:nvPr/>
        </p:nvSpPr>
        <p:spPr>
          <a:xfrm>
            <a:off x="310896" y="786384"/>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 name="Google Shape;79;p4"/>
          <p:cNvSpPr/>
          <p:nvPr/>
        </p:nvSpPr>
        <p:spPr>
          <a:xfrm>
            <a:off x="310896" y="786384"/>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 name="Google Shape;80;p4"/>
          <p:cNvSpPr/>
          <p:nvPr/>
        </p:nvSpPr>
        <p:spPr>
          <a:xfrm>
            <a:off x="493776" y="886968"/>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1" name="Google Shape;81;p4"/>
          <p:cNvSpPr/>
          <p:nvPr/>
        </p:nvSpPr>
        <p:spPr>
          <a:xfrm>
            <a:off x="493776" y="8869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82" name="Google Shape;82;p4"/>
          <p:cNvSpPr/>
          <p:nvPr/>
        </p:nvSpPr>
        <p:spPr>
          <a:xfrm>
            <a:off x="950976" y="786384"/>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案件内容・PR商品に間違いはないか</a:t>
            </a:r>
            <a:endParaRPr b="0" i="0" sz="1450" u="none" cap="none" strike="noStrike">
              <a:solidFill>
                <a:schemeClr val="dk1"/>
              </a:solidFill>
              <a:latin typeface="Calibri"/>
              <a:ea typeface="Calibri"/>
              <a:cs typeface="Calibri"/>
              <a:sym typeface="Calibri"/>
            </a:endParaRPr>
          </a:p>
        </p:txBody>
      </p:sp>
      <p:sp>
        <p:nvSpPr>
          <p:cNvPr id="83" name="Google Shape;83;p4"/>
          <p:cNvSpPr/>
          <p:nvPr/>
        </p:nvSpPr>
        <p:spPr>
          <a:xfrm>
            <a:off x="310896" y="1417320"/>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4" name="Google Shape;84;p4"/>
          <p:cNvSpPr/>
          <p:nvPr/>
        </p:nvSpPr>
        <p:spPr>
          <a:xfrm>
            <a:off x="310896" y="1417320"/>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5" name="Google Shape;85;p4"/>
          <p:cNvSpPr/>
          <p:nvPr/>
        </p:nvSpPr>
        <p:spPr>
          <a:xfrm>
            <a:off x="493776" y="1517904"/>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6" name="Google Shape;86;p4"/>
          <p:cNvSpPr/>
          <p:nvPr/>
        </p:nvSpPr>
        <p:spPr>
          <a:xfrm>
            <a:off x="493776" y="1517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87" name="Google Shape;87;p4"/>
          <p:cNvSpPr/>
          <p:nvPr/>
        </p:nvSpPr>
        <p:spPr>
          <a:xfrm>
            <a:off x="950976" y="1417320"/>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報酬金額は想定通りか</a:t>
            </a:r>
            <a:endParaRPr b="0" i="0" sz="1450" u="none" cap="none" strike="noStrike">
              <a:solidFill>
                <a:schemeClr val="dk1"/>
              </a:solidFill>
              <a:latin typeface="Calibri"/>
              <a:ea typeface="Calibri"/>
              <a:cs typeface="Calibri"/>
              <a:sym typeface="Calibri"/>
            </a:endParaRPr>
          </a:p>
        </p:txBody>
      </p:sp>
      <p:sp>
        <p:nvSpPr>
          <p:cNvPr id="88" name="Google Shape;88;p4"/>
          <p:cNvSpPr/>
          <p:nvPr/>
        </p:nvSpPr>
        <p:spPr>
          <a:xfrm>
            <a:off x="310896" y="2048256"/>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p4"/>
          <p:cNvSpPr/>
          <p:nvPr/>
        </p:nvSpPr>
        <p:spPr>
          <a:xfrm>
            <a:off x="310896" y="2048256"/>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4"/>
          <p:cNvSpPr/>
          <p:nvPr/>
        </p:nvSpPr>
        <p:spPr>
          <a:xfrm>
            <a:off x="493776" y="2148840"/>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1" name="Google Shape;91;p4"/>
          <p:cNvSpPr/>
          <p:nvPr/>
        </p:nvSpPr>
        <p:spPr>
          <a:xfrm>
            <a:off x="493776" y="214884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92" name="Google Shape;92;p4"/>
          <p:cNvSpPr/>
          <p:nvPr/>
        </p:nvSpPr>
        <p:spPr>
          <a:xfrm>
            <a:off x="950976" y="2048256"/>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納品物（本数・形式）は正しいか（例：TikTok1本、Instagram Reels1本）</a:t>
            </a:r>
            <a:endParaRPr b="0" i="0" sz="1450" u="none" cap="none" strike="noStrike">
              <a:solidFill>
                <a:schemeClr val="dk1"/>
              </a:solidFill>
              <a:latin typeface="Calibri"/>
              <a:ea typeface="Calibri"/>
              <a:cs typeface="Calibri"/>
              <a:sym typeface="Calibri"/>
            </a:endParaRPr>
          </a:p>
        </p:txBody>
      </p:sp>
      <p:sp>
        <p:nvSpPr>
          <p:cNvPr id="93" name="Google Shape;93;p4"/>
          <p:cNvSpPr/>
          <p:nvPr/>
        </p:nvSpPr>
        <p:spPr>
          <a:xfrm>
            <a:off x="310896" y="2679192"/>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4" name="Google Shape;94;p4"/>
          <p:cNvSpPr/>
          <p:nvPr/>
        </p:nvSpPr>
        <p:spPr>
          <a:xfrm>
            <a:off x="310896" y="2679192"/>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5" name="Google Shape;95;p4"/>
          <p:cNvSpPr/>
          <p:nvPr/>
        </p:nvSpPr>
        <p:spPr>
          <a:xfrm>
            <a:off x="493776" y="2779776"/>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6" name="Google Shape;96;p4"/>
          <p:cNvSpPr/>
          <p:nvPr/>
        </p:nvSpPr>
        <p:spPr>
          <a:xfrm>
            <a:off x="493776" y="277977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97" name="Google Shape;97;p4"/>
          <p:cNvSpPr/>
          <p:nvPr/>
        </p:nvSpPr>
        <p:spPr>
          <a:xfrm>
            <a:off x="950976" y="2679192"/>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納期・スケジュールに無理はないか</a:t>
            </a:r>
            <a:endParaRPr b="0" i="0" sz="1450" u="none" cap="none" strike="noStrike">
              <a:solidFill>
                <a:schemeClr val="dk1"/>
              </a:solidFill>
              <a:latin typeface="Calibri"/>
              <a:ea typeface="Calibri"/>
              <a:cs typeface="Calibri"/>
              <a:sym typeface="Calibri"/>
            </a:endParaRPr>
          </a:p>
        </p:txBody>
      </p:sp>
      <p:sp>
        <p:nvSpPr>
          <p:cNvPr id="98" name="Google Shape;98;p4"/>
          <p:cNvSpPr/>
          <p:nvPr/>
        </p:nvSpPr>
        <p:spPr>
          <a:xfrm>
            <a:off x="310896" y="3401568"/>
            <a:ext cx="8522208" cy="493776"/>
          </a:xfrm>
          <a:prstGeom prst="rect">
            <a:avLst/>
          </a:prstGeom>
          <a:solidFill>
            <a:srgbClr val="FEF3C7"/>
          </a:solidFill>
          <a:ln cap="flat" cmpd="sng" w="9525">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99" name="Google Shape;99;p4"/>
          <p:cNvSpPr/>
          <p:nvPr/>
        </p:nvSpPr>
        <p:spPr>
          <a:xfrm>
            <a:off x="457200" y="3401568"/>
            <a:ext cx="832104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300"/>
              <a:buFont typeface="Meiryo"/>
              <a:buNone/>
            </a:pPr>
            <a:r>
              <a:rPr b="1" i="0" lang="en-US" sz="1300" u="none" cap="none" strike="noStrike">
                <a:solidFill>
                  <a:srgbClr val="92400E"/>
                </a:solidFill>
                <a:latin typeface="Meiryo"/>
                <a:ea typeface="Meiryo"/>
                <a:cs typeface="Meiryo"/>
                <a:sym typeface="Meiryo"/>
              </a:rPr>
              <a:t>⚠️  疑問点はこの段階で必ず確認！撮影が終わってからの「話が違う」は防げません</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104" name="Shape 104"/>
        <p:cNvGrpSpPr/>
        <p:nvPr/>
      </p:nvGrpSpPr>
      <p:grpSpPr>
        <a:xfrm>
          <a:off x="0" y="0"/>
          <a:ext cx="0" cy="0"/>
          <a:chOff x="0" y="0"/>
          <a:chExt cx="0" cy="0"/>
        </a:xfrm>
      </p:grpSpPr>
      <p:sp>
        <p:nvSpPr>
          <p:cNvPr id="105" name="Google Shape;105;p5"/>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6" name="Google Shape;106;p5"/>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書類提出が遅れると…</a:t>
            </a:r>
            <a:endParaRPr b="0" i="0" sz="2100" u="none" cap="none" strike="noStrike">
              <a:solidFill>
                <a:schemeClr val="dk1"/>
              </a:solidFill>
              <a:latin typeface="Calibri"/>
              <a:ea typeface="Calibri"/>
              <a:cs typeface="Calibri"/>
              <a:sym typeface="Calibri"/>
            </a:endParaRPr>
          </a:p>
        </p:txBody>
      </p:sp>
      <p:sp>
        <p:nvSpPr>
          <p:cNvPr id="107" name="Google Shape;107;p5"/>
          <p:cNvSpPr/>
          <p:nvPr/>
        </p:nvSpPr>
        <p:spPr>
          <a:xfrm>
            <a:off x="310896" y="804672"/>
            <a:ext cx="8522208" cy="749808"/>
          </a:xfrm>
          <a:prstGeom prst="rect">
            <a:avLst/>
          </a:prstGeom>
          <a:solidFill>
            <a:srgbClr val="E8EAF6"/>
          </a:solidFill>
          <a:ln cap="flat" cmpd="sng" w="9525">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8" name="Google Shape;108;p5"/>
          <p:cNvSpPr/>
          <p:nvPr/>
        </p:nvSpPr>
        <p:spPr>
          <a:xfrm>
            <a:off x="310896" y="804672"/>
            <a:ext cx="59436" cy="74980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09" name="Google Shape;109;p5"/>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  書類はスピードが命。受け取ったらすぐ確認・提出！</a:t>
            </a:r>
            <a:endParaRPr b="0" i="0" sz="1550" u="none" cap="none" strike="noStrike">
              <a:solidFill>
                <a:schemeClr val="dk1"/>
              </a:solidFill>
              <a:latin typeface="Calibri"/>
              <a:ea typeface="Calibri"/>
              <a:cs typeface="Calibri"/>
              <a:sym typeface="Calibri"/>
            </a:endParaRPr>
          </a:p>
        </p:txBody>
      </p:sp>
      <p:sp>
        <p:nvSpPr>
          <p:cNvPr id="110" name="Google Shape;110;p5"/>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1" name="Google Shape;111;p5"/>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2" name="Google Shape;112;p5"/>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報酬の支払い日が後ろ倒しになる（最悪、翌月回しになる）</a:t>
            </a:r>
            <a:endParaRPr b="0" i="0" sz="1450" u="none" cap="none" strike="noStrike">
              <a:solidFill>
                <a:schemeClr val="dk1"/>
              </a:solidFill>
              <a:latin typeface="Calibri"/>
              <a:ea typeface="Calibri"/>
              <a:cs typeface="Calibri"/>
              <a:sym typeface="Calibri"/>
            </a:endParaRPr>
          </a:p>
        </p:txBody>
      </p:sp>
      <p:sp>
        <p:nvSpPr>
          <p:cNvPr id="113" name="Google Shape;113;p5"/>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4" name="Google Shape;114;p5"/>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5" name="Google Shape;115;p5"/>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次の案件オファーの優先度が下がる可能性がある</a:t>
            </a:r>
            <a:endParaRPr b="0" i="0" sz="1450" u="none" cap="none" strike="noStrike">
              <a:solidFill>
                <a:schemeClr val="dk1"/>
              </a:solidFill>
              <a:latin typeface="Calibri"/>
              <a:ea typeface="Calibri"/>
              <a:cs typeface="Calibri"/>
              <a:sym typeface="Calibri"/>
            </a:endParaRPr>
          </a:p>
        </p:txBody>
      </p:sp>
      <p:sp>
        <p:nvSpPr>
          <p:cNvPr id="116" name="Google Shape;116;p5"/>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7" name="Google Shape;117;p5"/>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18" name="Google Shape;118;p5"/>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TORIHADAの経理処理が止まり、会社全体に影響が出る</a:t>
            </a:r>
            <a:endParaRPr b="0" i="0" sz="1450" u="none" cap="none" strike="noStrike">
              <a:solidFill>
                <a:schemeClr val="dk1"/>
              </a:solidFill>
              <a:latin typeface="Calibri"/>
              <a:ea typeface="Calibri"/>
              <a:cs typeface="Calibri"/>
              <a:sym typeface="Calibri"/>
            </a:endParaRPr>
          </a:p>
        </p:txBody>
      </p:sp>
      <p:sp>
        <p:nvSpPr>
          <p:cNvPr id="119" name="Google Shape;119;p5"/>
          <p:cNvSpPr/>
          <p:nvPr/>
        </p:nvSpPr>
        <p:spPr>
          <a:xfrm>
            <a:off x="310896" y="3950208"/>
            <a:ext cx="8522208" cy="47548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0" name="Google Shape;120;p5"/>
          <p:cNvSpPr/>
          <p:nvPr/>
        </p:nvSpPr>
        <p:spPr>
          <a:xfrm>
            <a:off x="457200" y="3950208"/>
            <a:ext cx="83210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250"/>
              <a:buFont typeface="Meiryo"/>
              <a:buNone/>
            </a:pPr>
            <a:r>
              <a:rPr b="0" i="0" lang="en-US" sz="1250" u="none" cap="none" strike="noStrike">
                <a:solidFill>
                  <a:srgbClr val="B45309"/>
                </a:solidFill>
                <a:latin typeface="Meiryo"/>
                <a:ea typeface="Meiryo"/>
                <a:cs typeface="Meiryo"/>
                <a:sym typeface="Meiryo"/>
              </a:rPr>
              <a:t>💡  書類対応のスピードは、あなたの「プロ度」のバロメーターです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125" name="Shape 125"/>
        <p:cNvGrpSpPr/>
        <p:nvPr/>
      </p:nvGrpSpPr>
      <p:grpSpPr>
        <a:xfrm>
          <a:off x="0" y="0"/>
          <a:ext cx="0" cy="0"/>
          <a:chOff x="0" y="0"/>
          <a:chExt cx="0" cy="0"/>
        </a:xfrm>
      </p:grpSpPr>
      <p:sp>
        <p:nvSpPr>
          <p:cNvPr id="126" name="Google Shape;126;p6"/>
          <p:cNvSpPr/>
          <p:nvPr/>
        </p:nvSpPr>
        <p:spPr>
          <a:xfrm>
            <a:off x="0" y="0"/>
            <a:ext cx="2743200"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7" name="Google Shape;127;p6"/>
          <p:cNvSpPr/>
          <p:nvPr/>
        </p:nvSpPr>
        <p:spPr>
          <a:xfrm>
            <a:off x="237744" y="1005840"/>
            <a:ext cx="2286000" cy="2103120"/>
          </a:xfrm>
          <a:prstGeom prst="rect">
            <a:avLst/>
          </a:prstGeom>
          <a:noFill/>
          <a:ln>
            <a:noFill/>
          </a:ln>
        </p:spPr>
        <p:txBody>
          <a:bodyPr anchorCtr="0" anchor="ctr" bIns="45700" lIns="91425" spcFirstLastPara="1" rIns="91425" wrap="square" tIns="45700">
            <a:noAutofit/>
          </a:bodyPr>
          <a:lstStyle/>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まとめ</a:t>
            </a:r>
            <a:endParaRPr b="0" i="0" sz="2600" u="none" cap="none" strike="noStrike">
              <a:solidFill>
                <a:schemeClr val="dk1"/>
              </a:solidFill>
              <a:latin typeface="Calibri"/>
              <a:ea typeface="Calibri"/>
              <a:cs typeface="Calibri"/>
              <a:sym typeface="Calibri"/>
            </a:endParaRPr>
          </a:p>
        </p:txBody>
      </p:sp>
      <p:sp>
        <p:nvSpPr>
          <p:cNvPr id="128" name="Google Shape;128;p6"/>
          <p:cNvSpPr/>
          <p:nvPr/>
        </p:nvSpPr>
        <p:spPr>
          <a:xfrm>
            <a:off x="237744" y="4114800"/>
            <a:ext cx="2286000"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100"/>
              <a:buFont typeface="Meiryo"/>
              <a:buNone/>
            </a:pPr>
            <a:r>
              <a:rPr b="0" i="0" lang="en-US" sz="1100" u="none" cap="none" strike="noStrike">
                <a:solidFill>
                  <a:srgbClr val="A0B8D8"/>
                </a:solidFill>
                <a:latin typeface="Meiryo"/>
                <a:ea typeface="Meiryo"/>
                <a:cs typeface="Meiryo"/>
                <a:sym typeface="Meiryo"/>
              </a:rPr>
              <a:t>動画まとめ</a:t>
            </a:r>
            <a:endParaRPr b="0" i="0" sz="1100" u="none" cap="none" strike="noStrike">
              <a:solidFill>
                <a:schemeClr val="dk1"/>
              </a:solidFill>
              <a:latin typeface="Calibri"/>
              <a:ea typeface="Calibri"/>
              <a:cs typeface="Calibri"/>
              <a:sym typeface="Calibri"/>
            </a:endParaRPr>
          </a:p>
        </p:txBody>
      </p:sp>
      <p:sp>
        <p:nvSpPr>
          <p:cNvPr id="129" name="Google Shape;129;p6"/>
          <p:cNvSpPr/>
          <p:nvPr/>
        </p:nvSpPr>
        <p:spPr>
          <a:xfrm>
            <a:off x="2944368" y="329184"/>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0" name="Google Shape;130;p6"/>
          <p:cNvSpPr/>
          <p:nvPr/>
        </p:nvSpPr>
        <p:spPr>
          <a:xfrm>
            <a:off x="3072384" y="329184"/>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01</a:t>
            </a:r>
            <a:endParaRPr b="0" i="0" sz="2000" u="none" cap="none" strike="noStrike">
              <a:solidFill>
                <a:schemeClr val="dk1"/>
              </a:solidFill>
              <a:latin typeface="Calibri"/>
              <a:ea typeface="Calibri"/>
              <a:cs typeface="Calibri"/>
              <a:sym typeface="Calibri"/>
            </a:endParaRPr>
          </a:p>
        </p:txBody>
      </p:sp>
      <p:sp>
        <p:nvSpPr>
          <p:cNvPr id="131" name="Google Shape;131;p6"/>
          <p:cNvSpPr/>
          <p:nvPr/>
        </p:nvSpPr>
        <p:spPr>
          <a:xfrm>
            <a:off x="3749040" y="329184"/>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発注書・納品書・請求書は報酬を守る3点セット</a:t>
            </a:r>
            <a:endParaRPr b="0" i="0" sz="1550" u="none" cap="none" strike="noStrike">
              <a:solidFill>
                <a:schemeClr val="dk1"/>
              </a:solidFill>
              <a:latin typeface="Calibri"/>
              <a:ea typeface="Calibri"/>
              <a:cs typeface="Calibri"/>
              <a:sym typeface="Calibri"/>
            </a:endParaRPr>
          </a:p>
        </p:txBody>
      </p:sp>
      <p:cxnSp>
        <p:nvCxnSpPr>
          <p:cNvPr id="132" name="Google Shape;132;p6"/>
          <p:cNvCxnSpPr/>
          <p:nvPr/>
        </p:nvCxnSpPr>
        <p:spPr>
          <a:xfrm>
            <a:off x="2944368" y="1216152"/>
            <a:ext cx="5925312" cy="0"/>
          </a:xfrm>
          <a:prstGeom prst="straightConnector1">
            <a:avLst/>
          </a:prstGeom>
          <a:noFill/>
          <a:ln cap="flat" cmpd="sng" w="9525">
            <a:solidFill>
              <a:srgbClr val="D1D5DB"/>
            </a:solidFill>
            <a:prstDash val="solid"/>
            <a:round/>
            <a:headEnd len="sm" w="sm" type="none"/>
            <a:tailEnd len="sm" w="sm" type="none"/>
          </a:ln>
        </p:spPr>
      </p:cxnSp>
      <p:sp>
        <p:nvSpPr>
          <p:cNvPr id="133" name="Google Shape;133;p6"/>
          <p:cNvSpPr/>
          <p:nvPr/>
        </p:nvSpPr>
        <p:spPr>
          <a:xfrm>
            <a:off x="2944368" y="1261872"/>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4" name="Google Shape;134;p6"/>
          <p:cNvSpPr/>
          <p:nvPr/>
        </p:nvSpPr>
        <p:spPr>
          <a:xfrm>
            <a:off x="3072384" y="1261872"/>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02</a:t>
            </a:r>
            <a:endParaRPr b="0" i="0" sz="2000" u="none" cap="none" strike="noStrike">
              <a:solidFill>
                <a:schemeClr val="dk1"/>
              </a:solidFill>
              <a:latin typeface="Calibri"/>
              <a:ea typeface="Calibri"/>
              <a:cs typeface="Calibri"/>
              <a:sym typeface="Calibri"/>
            </a:endParaRPr>
          </a:p>
        </p:txBody>
      </p:sp>
      <p:sp>
        <p:nvSpPr>
          <p:cNvPr id="135" name="Google Shape;135;p6"/>
          <p:cNvSpPr/>
          <p:nvPr/>
        </p:nvSpPr>
        <p:spPr>
          <a:xfrm>
            <a:off x="3749040" y="1261872"/>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実施確定連絡は「金額・納品物・スケジュール」を必ず確認</a:t>
            </a:r>
            <a:endParaRPr b="0" i="0" sz="1550" u="none" cap="none" strike="noStrike">
              <a:solidFill>
                <a:schemeClr val="dk1"/>
              </a:solidFill>
              <a:latin typeface="Calibri"/>
              <a:ea typeface="Calibri"/>
              <a:cs typeface="Calibri"/>
              <a:sym typeface="Calibri"/>
            </a:endParaRPr>
          </a:p>
        </p:txBody>
      </p:sp>
      <p:cxnSp>
        <p:nvCxnSpPr>
          <p:cNvPr id="136" name="Google Shape;136;p6"/>
          <p:cNvCxnSpPr/>
          <p:nvPr/>
        </p:nvCxnSpPr>
        <p:spPr>
          <a:xfrm>
            <a:off x="2944368" y="2148840"/>
            <a:ext cx="5925312" cy="0"/>
          </a:xfrm>
          <a:prstGeom prst="straightConnector1">
            <a:avLst/>
          </a:prstGeom>
          <a:noFill/>
          <a:ln cap="flat" cmpd="sng" w="9525">
            <a:solidFill>
              <a:srgbClr val="D1D5DB"/>
            </a:solidFill>
            <a:prstDash val="solid"/>
            <a:round/>
            <a:headEnd len="sm" w="sm" type="none"/>
            <a:tailEnd len="sm" w="sm" type="none"/>
          </a:ln>
        </p:spPr>
      </p:cxnSp>
      <p:sp>
        <p:nvSpPr>
          <p:cNvPr id="137" name="Google Shape;137;p6"/>
          <p:cNvSpPr/>
          <p:nvPr/>
        </p:nvSpPr>
        <p:spPr>
          <a:xfrm>
            <a:off x="2944368" y="2194560"/>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38" name="Google Shape;138;p6"/>
          <p:cNvSpPr/>
          <p:nvPr/>
        </p:nvSpPr>
        <p:spPr>
          <a:xfrm>
            <a:off x="3072384" y="2194560"/>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03</a:t>
            </a:r>
            <a:endParaRPr b="0" i="0" sz="2000" u="none" cap="none" strike="noStrike">
              <a:solidFill>
                <a:schemeClr val="dk1"/>
              </a:solidFill>
              <a:latin typeface="Calibri"/>
              <a:ea typeface="Calibri"/>
              <a:cs typeface="Calibri"/>
              <a:sym typeface="Calibri"/>
            </a:endParaRPr>
          </a:p>
        </p:txBody>
      </p:sp>
      <p:sp>
        <p:nvSpPr>
          <p:cNvPr id="139" name="Google Shape;139;p6"/>
          <p:cNvSpPr/>
          <p:nvPr/>
        </p:nvSpPr>
        <p:spPr>
          <a:xfrm>
            <a:off x="3749040" y="2194560"/>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書類はスピード命！遅れると報酬が遅れる</a:t>
            </a:r>
            <a:endParaRPr b="0" i="0" sz="1550" u="none" cap="none" strike="noStrike">
              <a:solidFill>
                <a:schemeClr val="dk1"/>
              </a:solidFill>
              <a:latin typeface="Calibri"/>
              <a:ea typeface="Calibri"/>
              <a:cs typeface="Calibri"/>
              <a:sym typeface="Calibri"/>
            </a:endParaRPr>
          </a:p>
        </p:txBody>
      </p:sp>
      <p:sp>
        <p:nvSpPr>
          <p:cNvPr id="140" name="Google Shape;140;p6"/>
          <p:cNvSpPr/>
          <p:nvPr/>
        </p:nvSpPr>
        <p:spPr>
          <a:xfrm>
            <a:off x="2944368" y="3273552"/>
            <a:ext cx="5925312" cy="65836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1" name="Google Shape;141;p6"/>
          <p:cNvSpPr/>
          <p:nvPr/>
        </p:nvSpPr>
        <p:spPr>
          <a:xfrm>
            <a:off x="2944368" y="3273552"/>
            <a:ext cx="59436" cy="65836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2" name="Google Shape;142;p6"/>
          <p:cNvSpPr/>
          <p:nvPr/>
        </p:nvSpPr>
        <p:spPr>
          <a:xfrm>
            <a:off x="3108960" y="3273552"/>
            <a:ext cx="5687568"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030"/>
              </a:buClr>
              <a:buSzPts val="1350"/>
              <a:buFont typeface="Meiryo"/>
              <a:buNone/>
            </a:pPr>
            <a:r>
              <a:rPr b="1" i="0" lang="en-US" sz="1350" u="none" cap="none" strike="noStrike">
                <a:solidFill>
                  <a:srgbClr val="E87030"/>
                </a:solidFill>
                <a:latin typeface="Meiryo"/>
                <a:ea typeface="Meiryo"/>
                <a:cs typeface="Meiryo"/>
                <a:sym typeface="Meiryo"/>
              </a:rPr>
              <a:t>▶  Next  |  動画②：企画の設計図「字コンテ」</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7"/>
          <p:cNvSpPr/>
          <p:nvPr/>
        </p:nvSpPr>
        <p:spPr>
          <a:xfrm>
            <a:off x="0" y="0"/>
            <a:ext cx="2907792"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9" name="Google Shape;149;p7"/>
          <p:cNvSpPr/>
          <p:nvPr/>
        </p:nvSpPr>
        <p:spPr>
          <a:xfrm>
            <a:off x="274320" y="475488"/>
            <a:ext cx="235915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500"/>
              <a:buFont typeface="Meiryo"/>
              <a:buNone/>
            </a:pPr>
            <a:r>
              <a:rPr b="1" i="0" lang="en-US" sz="1500" u="none" cap="none" strike="noStrike">
                <a:solidFill>
                  <a:srgbClr val="A0B8D8"/>
                </a:solidFill>
                <a:latin typeface="Meiryo"/>
                <a:ea typeface="Meiryo"/>
                <a:cs typeface="Meiryo"/>
                <a:sym typeface="Meiryo"/>
              </a:rPr>
              <a:t>第3章</a:t>
            </a:r>
            <a:endParaRPr b="0" i="0" sz="1500" u="none" cap="none" strike="noStrike">
              <a:solidFill>
                <a:schemeClr val="dk1"/>
              </a:solidFill>
              <a:latin typeface="Calibri"/>
              <a:ea typeface="Calibri"/>
              <a:cs typeface="Calibri"/>
              <a:sym typeface="Calibri"/>
            </a:endParaRPr>
          </a:p>
        </p:txBody>
      </p:sp>
      <p:sp>
        <p:nvSpPr>
          <p:cNvPr id="150" name="Google Shape;150;p7"/>
          <p:cNvSpPr/>
          <p:nvPr/>
        </p:nvSpPr>
        <p:spPr>
          <a:xfrm>
            <a:off x="274320" y="868680"/>
            <a:ext cx="2359152"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5000"/>
              <a:buFont typeface="Meiryo"/>
              <a:buNone/>
            </a:pPr>
            <a:r>
              <a:rPr b="1" i="0" lang="en-US" sz="5000" u="none" cap="none" strike="noStrike">
                <a:solidFill>
                  <a:srgbClr val="FFFFFF"/>
                </a:solidFill>
                <a:latin typeface="Meiryo"/>
                <a:ea typeface="Meiryo"/>
                <a:cs typeface="Meiryo"/>
                <a:sym typeface="Meiryo"/>
              </a:rPr>
              <a:t>動画②</a:t>
            </a:r>
            <a:endParaRPr b="0" i="0" sz="5000" u="none" cap="none" strike="noStrike">
              <a:solidFill>
                <a:schemeClr val="dk1"/>
              </a:solidFill>
              <a:latin typeface="Calibri"/>
              <a:ea typeface="Calibri"/>
              <a:cs typeface="Calibri"/>
              <a:sym typeface="Calibri"/>
            </a:endParaRPr>
          </a:p>
        </p:txBody>
      </p:sp>
      <p:sp>
        <p:nvSpPr>
          <p:cNvPr id="151" name="Google Shape;151;p7"/>
          <p:cNvSpPr/>
          <p:nvPr/>
        </p:nvSpPr>
        <p:spPr>
          <a:xfrm>
            <a:off x="274320" y="2011680"/>
            <a:ext cx="2359152"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300"/>
              <a:buFont typeface="Meiryo"/>
              <a:buNone/>
            </a:pPr>
            <a:r>
              <a:rPr b="0" i="0" lang="en-US" sz="1300" u="none" cap="none" strike="noStrike">
                <a:solidFill>
                  <a:srgbClr val="A0B8D8"/>
                </a:solidFill>
                <a:latin typeface="Meiryo"/>
                <a:ea typeface="Meiryo"/>
                <a:cs typeface="Meiryo"/>
                <a:sym typeface="Meiryo"/>
              </a:rPr>
              <a:t>進行フロー・ビジネス連絡</a:t>
            </a:r>
            <a:endParaRPr b="0" i="0" sz="1300" u="none" cap="none" strike="noStrike">
              <a:solidFill>
                <a:schemeClr val="dk1"/>
              </a:solidFill>
              <a:latin typeface="Calibri"/>
              <a:ea typeface="Calibri"/>
              <a:cs typeface="Calibri"/>
              <a:sym typeface="Calibri"/>
            </a:endParaRPr>
          </a:p>
        </p:txBody>
      </p:sp>
      <p:sp>
        <p:nvSpPr>
          <p:cNvPr id="152" name="Google Shape;152;p7"/>
          <p:cNvSpPr/>
          <p:nvPr/>
        </p:nvSpPr>
        <p:spPr>
          <a:xfrm>
            <a:off x="274320" y="2816352"/>
            <a:ext cx="1389888" cy="4023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3" name="Google Shape;153;p7"/>
          <p:cNvSpPr/>
          <p:nvPr/>
        </p:nvSpPr>
        <p:spPr>
          <a:xfrm>
            <a:off x="274320" y="2816352"/>
            <a:ext cx="1389888"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  約5分</a:t>
            </a:r>
            <a:endParaRPr b="0" i="0" sz="1300" u="none" cap="none" strike="noStrike">
              <a:solidFill>
                <a:schemeClr val="dk1"/>
              </a:solidFill>
              <a:latin typeface="Calibri"/>
              <a:ea typeface="Calibri"/>
              <a:cs typeface="Calibri"/>
              <a:sym typeface="Calibri"/>
            </a:endParaRPr>
          </a:p>
        </p:txBody>
      </p:sp>
      <p:sp>
        <p:nvSpPr>
          <p:cNvPr id="154" name="Google Shape;154;p7"/>
          <p:cNvSpPr/>
          <p:nvPr/>
        </p:nvSpPr>
        <p:spPr>
          <a:xfrm>
            <a:off x="3127248" y="219456"/>
            <a:ext cx="5742432"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800"/>
              <a:buFont typeface="Meiryo"/>
              <a:buNone/>
            </a:pPr>
            <a:r>
              <a:rPr b="0" i="0" lang="en-US" sz="800" u="none" cap="none" strike="noStrike">
                <a:solidFill>
                  <a:srgbClr val="1E3068"/>
                </a:solidFill>
                <a:latin typeface="Meiryo"/>
                <a:ea typeface="Meiryo"/>
                <a:cs typeface="Meiryo"/>
                <a:sym typeface="Meiryo"/>
              </a:rPr>
              <a:t>CREATOR NETWORK TRAINING</a:t>
            </a:r>
            <a:endParaRPr b="0" i="0" sz="800" u="none" cap="none" strike="noStrike">
              <a:solidFill>
                <a:schemeClr val="dk1"/>
              </a:solidFill>
              <a:latin typeface="Calibri"/>
              <a:ea typeface="Calibri"/>
              <a:cs typeface="Calibri"/>
              <a:sym typeface="Calibri"/>
            </a:endParaRPr>
          </a:p>
        </p:txBody>
      </p:sp>
      <p:sp>
        <p:nvSpPr>
          <p:cNvPr id="155" name="Google Shape;155;p7"/>
          <p:cNvSpPr/>
          <p:nvPr/>
        </p:nvSpPr>
        <p:spPr>
          <a:xfrm>
            <a:off x="3127248" y="621792"/>
            <a:ext cx="5577840" cy="2606040"/>
          </a:xfrm>
          <a:prstGeom prst="rect">
            <a:avLst/>
          </a:prstGeom>
          <a:noFill/>
          <a:ln>
            <a:noFill/>
          </a:ln>
        </p:spPr>
        <p:txBody>
          <a:bodyPr anchorCtr="0" anchor="t" bIns="45700" lIns="91425" spcFirstLastPara="1" rIns="91425" wrap="square" tIns="45700">
            <a:noAutofit/>
          </a:bodyPr>
          <a:lstStyle/>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企画の設計図</a:t>
            </a:r>
            <a:endParaRPr b="0" i="0" sz="38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「字コンテ」</a:t>
            </a:r>
            <a:endParaRPr b="0" i="0" sz="3800" u="none" cap="none" strike="noStrike">
              <a:solidFill>
                <a:schemeClr val="dk1"/>
              </a:solidFill>
              <a:latin typeface="Calibri"/>
              <a:ea typeface="Calibri"/>
              <a:cs typeface="Calibri"/>
              <a:sym typeface="Calibri"/>
            </a:endParaRPr>
          </a:p>
        </p:txBody>
      </p:sp>
      <p:sp>
        <p:nvSpPr>
          <p:cNvPr id="156" name="Google Shape;156;p7"/>
          <p:cNvSpPr/>
          <p:nvPr/>
        </p:nvSpPr>
        <p:spPr>
          <a:xfrm>
            <a:off x="3127248" y="3364992"/>
            <a:ext cx="1920240"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57" name="Google Shape;157;p7"/>
          <p:cNvSpPr/>
          <p:nvPr/>
        </p:nvSpPr>
        <p:spPr>
          <a:xfrm>
            <a:off x="3127248" y="3529584"/>
            <a:ext cx="55778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400"/>
              <a:buFont typeface="Meiryo"/>
              <a:buNone/>
            </a:pPr>
            <a:r>
              <a:rPr b="0" i="0" lang="en-US" sz="1400" u="none" cap="none" strike="noStrike">
                <a:solidFill>
                  <a:srgbClr val="6B7280"/>
                </a:solidFill>
                <a:latin typeface="Meiryo"/>
                <a:ea typeface="Meiryo"/>
                <a:cs typeface="Meiryo"/>
                <a:sym typeface="Meiryo"/>
              </a:rPr>
              <a:t>クリエイターネットワーク研修</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162" name="Shape 162"/>
        <p:cNvGrpSpPr/>
        <p:nvPr/>
      </p:nvGrpSpPr>
      <p:grpSpPr>
        <a:xfrm>
          <a:off x="0" y="0"/>
          <a:ext cx="0" cy="0"/>
          <a:chOff x="0" y="0"/>
          <a:chExt cx="0" cy="0"/>
        </a:xfrm>
      </p:grpSpPr>
      <p:sp>
        <p:nvSpPr>
          <p:cNvPr id="163" name="Google Shape;163;p8"/>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4" name="Google Shape;164;p8"/>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この動画で学ぶこと</a:t>
            </a:r>
            <a:endParaRPr b="0" i="0" sz="2100" u="none" cap="none" strike="noStrike">
              <a:solidFill>
                <a:schemeClr val="dk1"/>
              </a:solidFill>
              <a:latin typeface="Calibri"/>
              <a:ea typeface="Calibri"/>
              <a:cs typeface="Calibri"/>
              <a:sym typeface="Calibri"/>
            </a:endParaRPr>
          </a:p>
        </p:txBody>
      </p:sp>
      <p:sp>
        <p:nvSpPr>
          <p:cNvPr id="165" name="Google Shape;165;p8"/>
          <p:cNvSpPr/>
          <p:nvPr/>
        </p:nvSpPr>
        <p:spPr>
          <a:xfrm>
            <a:off x="310896"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6" name="Google Shape;166;p8"/>
          <p:cNvSpPr/>
          <p:nvPr/>
        </p:nvSpPr>
        <p:spPr>
          <a:xfrm>
            <a:off x="310896"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8"/>
          <p:cNvSpPr/>
          <p:nvPr/>
        </p:nvSpPr>
        <p:spPr>
          <a:xfrm>
            <a:off x="566928"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168" name="Google Shape;168;p8"/>
          <p:cNvSpPr/>
          <p:nvPr/>
        </p:nvSpPr>
        <p:spPr>
          <a:xfrm>
            <a:off x="512064"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字コンテとは</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何か</a:t>
            </a:r>
            <a:endParaRPr b="0" i="0" sz="1550" u="none" cap="none" strike="noStrike">
              <a:solidFill>
                <a:schemeClr val="dk1"/>
              </a:solidFill>
              <a:latin typeface="Calibri"/>
              <a:ea typeface="Calibri"/>
              <a:cs typeface="Calibri"/>
              <a:sym typeface="Calibri"/>
            </a:endParaRPr>
          </a:p>
        </p:txBody>
      </p:sp>
      <p:sp>
        <p:nvSpPr>
          <p:cNvPr id="169" name="Google Shape;169;p8"/>
          <p:cNvSpPr/>
          <p:nvPr/>
        </p:nvSpPr>
        <p:spPr>
          <a:xfrm>
            <a:off x="512064"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撮影前に必要な</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設計図の意味を</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理解する</a:t>
            </a:r>
            <a:endParaRPr b="0" i="0" sz="1300" u="none" cap="none" strike="noStrike">
              <a:solidFill>
                <a:schemeClr val="dk1"/>
              </a:solidFill>
              <a:latin typeface="Calibri"/>
              <a:ea typeface="Calibri"/>
              <a:cs typeface="Calibri"/>
              <a:sym typeface="Calibri"/>
            </a:endParaRPr>
          </a:p>
        </p:txBody>
      </p:sp>
      <p:sp>
        <p:nvSpPr>
          <p:cNvPr id="170" name="Google Shape;170;p8"/>
          <p:cNvSpPr/>
          <p:nvPr/>
        </p:nvSpPr>
        <p:spPr>
          <a:xfrm>
            <a:off x="3081528"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1" name="Google Shape;171;p8"/>
          <p:cNvSpPr/>
          <p:nvPr/>
        </p:nvSpPr>
        <p:spPr>
          <a:xfrm>
            <a:off x="3081528"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2" name="Google Shape;172;p8"/>
          <p:cNvSpPr/>
          <p:nvPr/>
        </p:nvSpPr>
        <p:spPr>
          <a:xfrm>
            <a:off x="3337560"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173" name="Google Shape;173;p8"/>
          <p:cNvSpPr/>
          <p:nvPr/>
        </p:nvSpPr>
        <p:spPr>
          <a:xfrm>
            <a:off x="3282696"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なぜ字コンテが</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必要なのか</a:t>
            </a:r>
            <a:endParaRPr b="0" i="0" sz="1550" u="none" cap="none" strike="noStrike">
              <a:solidFill>
                <a:schemeClr val="dk1"/>
              </a:solidFill>
              <a:latin typeface="Calibri"/>
              <a:ea typeface="Calibri"/>
              <a:cs typeface="Calibri"/>
              <a:sym typeface="Calibri"/>
            </a:endParaRPr>
          </a:p>
        </p:txBody>
      </p:sp>
      <p:sp>
        <p:nvSpPr>
          <p:cNvPr id="174" name="Google Shape;174;p8"/>
          <p:cNvSpPr/>
          <p:nvPr/>
        </p:nvSpPr>
        <p:spPr>
          <a:xfrm>
            <a:off x="3282696"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字コンテなしで</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進むリスクを知る</a:t>
            </a:r>
            <a:endParaRPr b="0" i="0" sz="1300" u="none" cap="none" strike="noStrike">
              <a:solidFill>
                <a:schemeClr val="dk1"/>
              </a:solidFill>
              <a:latin typeface="Calibri"/>
              <a:ea typeface="Calibri"/>
              <a:cs typeface="Calibri"/>
              <a:sym typeface="Calibri"/>
            </a:endParaRPr>
          </a:p>
        </p:txBody>
      </p:sp>
      <p:sp>
        <p:nvSpPr>
          <p:cNvPr id="175" name="Google Shape;175;p8"/>
          <p:cNvSpPr/>
          <p:nvPr/>
        </p:nvSpPr>
        <p:spPr>
          <a:xfrm>
            <a:off x="5852160"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6" name="Google Shape;176;p8"/>
          <p:cNvSpPr/>
          <p:nvPr/>
        </p:nvSpPr>
        <p:spPr>
          <a:xfrm>
            <a:off x="5852160"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8"/>
          <p:cNvSpPr/>
          <p:nvPr/>
        </p:nvSpPr>
        <p:spPr>
          <a:xfrm>
            <a:off x="6108192"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178" name="Google Shape;178;p8"/>
          <p:cNvSpPr/>
          <p:nvPr/>
        </p:nvSpPr>
        <p:spPr>
          <a:xfrm>
            <a:off x="6053328"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字コンテ提出の</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ルール</a:t>
            </a:r>
            <a:endParaRPr b="0" i="0" sz="1550" u="none" cap="none" strike="noStrike">
              <a:solidFill>
                <a:schemeClr val="dk1"/>
              </a:solidFill>
              <a:latin typeface="Calibri"/>
              <a:ea typeface="Calibri"/>
              <a:cs typeface="Calibri"/>
              <a:sym typeface="Calibri"/>
            </a:endParaRPr>
          </a:p>
        </p:txBody>
      </p:sp>
      <p:sp>
        <p:nvSpPr>
          <p:cNvPr id="179" name="Google Shape;179;p8"/>
          <p:cNvSpPr/>
          <p:nvPr/>
        </p:nvSpPr>
        <p:spPr>
          <a:xfrm>
            <a:off x="6053328"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テンプレート・</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期限・具体的な</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書き方のポイント</a:t>
            </a:r>
            <a:endParaRPr b="0" i="0" sz="1300" u="none" cap="none" strike="noStrike">
              <a:solidFill>
                <a:schemeClr val="dk1"/>
              </a:solidFill>
              <a:latin typeface="Calibri"/>
              <a:ea typeface="Calibri"/>
              <a:cs typeface="Calibri"/>
              <a:sym typeface="Calibri"/>
            </a:endParaRPr>
          </a:p>
        </p:txBody>
      </p:sp>
      <p:sp>
        <p:nvSpPr>
          <p:cNvPr id="180" name="Google Shape;180;p8"/>
          <p:cNvSpPr/>
          <p:nvPr/>
        </p:nvSpPr>
        <p:spPr>
          <a:xfrm>
            <a:off x="2140055" y="884713"/>
            <a:ext cx="859200" cy="4800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t/>
            </a:r>
            <a:endParaRPr b="1" sz="2400">
              <a:solidFill>
                <a:srgbClr val="D1D5DB"/>
              </a:solidFill>
              <a:latin typeface="Meiryo"/>
              <a:ea typeface="Meiryo"/>
              <a:cs typeface="Meiryo"/>
              <a:sym typeface="Meiryo"/>
            </a:endParaRPr>
          </a:p>
          <a:p>
            <a:pPr indent="0" lvl="0" marL="0" marR="0" rtl="0" algn="r">
              <a:spcBef>
                <a:spcPts val="0"/>
              </a:spcBef>
              <a:spcAft>
                <a:spcPts val="0"/>
              </a:spcAft>
              <a:buClr>
                <a:srgbClr val="D1D5DB"/>
              </a:buClr>
              <a:buSzPts val="2400"/>
              <a:buFont typeface="Meiryo"/>
              <a:buNone/>
            </a:pPr>
            <a:r>
              <a:rPr b="1" lang="en-US" sz="2400">
                <a:solidFill>
                  <a:srgbClr val="D1D5DB"/>
                </a:solidFill>
                <a:latin typeface="Meiryo"/>
                <a:ea typeface="Meiryo"/>
                <a:cs typeface="Meiryo"/>
                <a:sym typeface="Meiryo"/>
              </a:rPr>
              <a:t>0</a:t>
            </a:r>
            <a:r>
              <a:rPr b="1" i="0" lang="en-US" sz="2400" u="none" cap="none" strike="noStrike">
                <a:solidFill>
                  <a:srgbClr val="D1D5DB"/>
                </a:solidFill>
                <a:latin typeface="Meiryo"/>
                <a:ea typeface="Meiryo"/>
                <a:cs typeface="Meiryo"/>
                <a:sym typeface="Meiryo"/>
              </a:rPr>
              <a:t>1</a:t>
            </a:r>
            <a:endParaRPr b="0" i="0" sz="2400" u="none" cap="none" strike="noStrike">
              <a:solidFill>
                <a:schemeClr val="dk1"/>
              </a:solidFill>
              <a:latin typeface="Calibri"/>
              <a:ea typeface="Calibri"/>
              <a:cs typeface="Calibri"/>
              <a:sym typeface="Calibri"/>
            </a:endParaRPr>
          </a:p>
        </p:txBody>
      </p:sp>
      <p:sp>
        <p:nvSpPr>
          <p:cNvPr id="181" name="Google Shape;181;p8"/>
          <p:cNvSpPr/>
          <p:nvPr/>
        </p:nvSpPr>
        <p:spPr>
          <a:xfrm>
            <a:off x="5074926"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02</a:t>
            </a:r>
            <a:endParaRPr b="0" i="0" sz="2400" u="none" cap="none" strike="noStrike">
              <a:solidFill>
                <a:schemeClr val="dk1"/>
              </a:solidFill>
              <a:latin typeface="Calibri"/>
              <a:ea typeface="Calibri"/>
              <a:cs typeface="Calibri"/>
              <a:sym typeface="Calibri"/>
            </a:endParaRPr>
          </a:p>
        </p:txBody>
      </p:sp>
      <p:sp>
        <p:nvSpPr>
          <p:cNvPr id="182" name="Google Shape;182;p8"/>
          <p:cNvSpPr/>
          <p:nvPr/>
        </p:nvSpPr>
        <p:spPr>
          <a:xfrm>
            <a:off x="7845550"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03</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187" name="Shape 187"/>
        <p:cNvGrpSpPr/>
        <p:nvPr/>
      </p:nvGrpSpPr>
      <p:grpSpPr>
        <a:xfrm>
          <a:off x="0" y="0"/>
          <a:ext cx="0" cy="0"/>
          <a:chOff x="0" y="0"/>
          <a:chExt cx="0" cy="0"/>
        </a:xfrm>
      </p:grpSpPr>
      <p:sp>
        <p:nvSpPr>
          <p:cNvPr id="188" name="Google Shape;188;p9"/>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89" name="Google Shape;189;p9"/>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字コンテとは？</a:t>
            </a:r>
            <a:endParaRPr b="0" i="0" sz="2100" u="none" cap="none" strike="noStrike">
              <a:solidFill>
                <a:schemeClr val="dk1"/>
              </a:solidFill>
              <a:latin typeface="Calibri"/>
              <a:ea typeface="Calibri"/>
              <a:cs typeface="Calibri"/>
              <a:sym typeface="Calibri"/>
            </a:endParaRPr>
          </a:p>
        </p:txBody>
      </p:sp>
      <p:sp>
        <p:nvSpPr>
          <p:cNvPr id="190" name="Google Shape;190;p9"/>
          <p:cNvSpPr/>
          <p:nvPr/>
        </p:nvSpPr>
        <p:spPr>
          <a:xfrm>
            <a:off x="310896" y="804672"/>
            <a:ext cx="8522208" cy="74980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1" name="Google Shape;191;p9"/>
          <p:cNvSpPr/>
          <p:nvPr/>
        </p:nvSpPr>
        <p:spPr>
          <a:xfrm>
            <a:off x="310896" y="804672"/>
            <a:ext cx="59436" cy="74980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9"/>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450"/>
              <a:buFont typeface="Meiryo"/>
              <a:buNone/>
            </a:pPr>
            <a:r>
              <a:rPr b="1" i="0" lang="en-US" sz="1450" u="none" cap="none" strike="noStrike">
                <a:solidFill>
                  <a:srgbClr val="B45309"/>
                </a:solidFill>
                <a:latin typeface="Meiryo"/>
                <a:ea typeface="Meiryo"/>
                <a:cs typeface="Meiryo"/>
                <a:sym typeface="Meiryo"/>
              </a:rPr>
              <a:t>📌  動画を撮る前に「どんなセリフ・どんな動き・どんな流れ」を文字で書いた設計図</a:t>
            </a:r>
            <a:endParaRPr b="0" i="0" sz="1450" u="none" cap="none" strike="noStrike">
              <a:solidFill>
                <a:schemeClr val="dk1"/>
              </a:solidFill>
              <a:latin typeface="Calibri"/>
              <a:ea typeface="Calibri"/>
              <a:cs typeface="Calibri"/>
              <a:sym typeface="Calibri"/>
            </a:endParaRPr>
          </a:p>
        </p:txBody>
      </p:sp>
      <p:sp>
        <p:nvSpPr>
          <p:cNvPr id="193" name="Google Shape;193;p9"/>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4" name="Google Shape;194;p9"/>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5" name="Google Shape;195;p9"/>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話すセリフや内容を文章で書く（「最初に商品を手に取りながら…」）</a:t>
            </a:r>
            <a:endParaRPr b="0" i="0" sz="1450" u="none" cap="none" strike="noStrike">
              <a:solidFill>
                <a:schemeClr val="dk1"/>
              </a:solidFill>
              <a:latin typeface="Calibri"/>
              <a:ea typeface="Calibri"/>
              <a:cs typeface="Calibri"/>
              <a:sym typeface="Calibri"/>
            </a:endParaRPr>
          </a:p>
        </p:txBody>
      </p:sp>
      <p:sp>
        <p:nvSpPr>
          <p:cNvPr id="196" name="Google Shape;196;p9"/>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7" name="Google Shape;197;p9"/>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8" name="Google Shape;198;p9"/>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シーンの流れを整理する（冒頭フック → 本題 → CTA）</a:t>
            </a:r>
            <a:endParaRPr b="0" i="0" sz="1450" u="none" cap="none" strike="noStrike">
              <a:solidFill>
                <a:schemeClr val="dk1"/>
              </a:solidFill>
              <a:latin typeface="Calibri"/>
              <a:ea typeface="Calibri"/>
              <a:cs typeface="Calibri"/>
              <a:sym typeface="Calibri"/>
            </a:endParaRPr>
          </a:p>
        </p:txBody>
      </p:sp>
      <p:sp>
        <p:nvSpPr>
          <p:cNvPr id="199" name="Google Shape;199;p9"/>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0" name="Google Shape;200;p9"/>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1" name="Google Shape;201;p9"/>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テロップや見せ方のイメージを具体的に記載する</a:t>
            </a:r>
            <a:endParaRPr b="0" i="0" sz="1450" u="none" cap="none" strike="noStrike">
              <a:solidFill>
                <a:schemeClr val="dk1"/>
              </a:solidFill>
              <a:latin typeface="Calibri"/>
              <a:ea typeface="Calibri"/>
              <a:cs typeface="Calibri"/>
              <a:sym typeface="Calibri"/>
            </a:endParaRPr>
          </a:p>
        </p:txBody>
      </p:sp>
      <p:sp>
        <p:nvSpPr>
          <p:cNvPr id="202" name="Google Shape;202;p9"/>
          <p:cNvSpPr/>
          <p:nvPr/>
        </p:nvSpPr>
        <p:spPr>
          <a:xfrm>
            <a:off x="310896" y="3931920"/>
            <a:ext cx="8522208" cy="40233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200"/>
              <a:buFont typeface="Meiryo"/>
              <a:buNone/>
            </a:pPr>
            <a:r>
              <a:rPr b="0" i="1" lang="en-US" sz="1200" u="none" cap="none" strike="noStrike">
                <a:solidFill>
                  <a:srgbClr val="6B7280"/>
                </a:solidFill>
                <a:latin typeface="Meiryo"/>
                <a:ea typeface="Meiryo"/>
                <a:cs typeface="Meiryo"/>
                <a:sym typeface="Meiryo"/>
              </a:rPr>
              <a:t>★  建物の設計図と同じ。設計図なしに工事（撮影）は始められない！</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207" name="Shape 207"/>
        <p:cNvGrpSpPr/>
        <p:nvPr/>
      </p:nvGrpSpPr>
      <p:grpSpPr>
        <a:xfrm>
          <a:off x="0" y="0"/>
          <a:ext cx="0" cy="0"/>
          <a:chOff x="0" y="0"/>
          <a:chExt cx="0" cy="0"/>
        </a:xfrm>
      </p:grpSpPr>
      <p:sp>
        <p:nvSpPr>
          <p:cNvPr id="208" name="Google Shape;208;p10"/>
          <p:cNvSpPr/>
          <p:nvPr/>
        </p:nvSpPr>
        <p:spPr>
          <a:xfrm>
            <a:off x="310896" y="164592"/>
            <a:ext cx="8522208" cy="53035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500"/>
              <a:buFont typeface="Meiryo"/>
              <a:buNone/>
            </a:pPr>
            <a:r>
              <a:rPr b="1" i="0" lang="en-US" sz="2500" u="none" cap="none" strike="noStrike">
                <a:solidFill>
                  <a:srgbClr val="1E3068"/>
                </a:solidFill>
                <a:latin typeface="Meiryo"/>
                <a:ea typeface="Meiryo"/>
                <a:cs typeface="Meiryo"/>
                <a:sym typeface="Meiryo"/>
              </a:rPr>
              <a:t>字コンテなしで撮ると何が起きる？</a:t>
            </a:r>
            <a:endParaRPr b="0" i="0" sz="2500" u="none" cap="none" strike="noStrike">
              <a:solidFill>
                <a:schemeClr val="dk1"/>
              </a:solidFill>
              <a:latin typeface="Calibri"/>
              <a:ea typeface="Calibri"/>
              <a:cs typeface="Calibri"/>
              <a:sym typeface="Calibri"/>
            </a:endParaRPr>
          </a:p>
        </p:txBody>
      </p:sp>
      <p:sp>
        <p:nvSpPr>
          <p:cNvPr id="209" name="Google Shape;209;p10"/>
          <p:cNvSpPr/>
          <p:nvPr/>
        </p:nvSpPr>
        <p:spPr>
          <a:xfrm>
            <a:off x="310896" y="694944"/>
            <a:ext cx="8522208" cy="59436"/>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0" name="Google Shape;210;p10"/>
          <p:cNvSpPr/>
          <p:nvPr/>
        </p:nvSpPr>
        <p:spPr>
          <a:xfrm>
            <a:off x="310896" y="877824"/>
            <a:ext cx="3895344" cy="3877056"/>
          </a:xfrm>
          <a:prstGeom prst="rect">
            <a:avLst/>
          </a:prstGeom>
          <a:solidFill>
            <a:srgbClr val="FEF2F2"/>
          </a:solidFill>
          <a:ln cap="flat" cmpd="sng" w="12700">
            <a:solidFill>
              <a:srgbClr val="FECACA"/>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1" name="Google Shape;211;p10"/>
          <p:cNvSpPr/>
          <p:nvPr/>
        </p:nvSpPr>
        <p:spPr>
          <a:xfrm>
            <a:off x="457200" y="1024128"/>
            <a:ext cx="3602736"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DC2626"/>
              </a:buClr>
              <a:buSzPts val="1700"/>
              <a:buFont typeface="Meiryo"/>
              <a:buNone/>
            </a:pPr>
            <a:r>
              <a:rPr b="1" i="0" lang="en-US" sz="1700" u="none" cap="none" strike="noStrike">
                <a:solidFill>
                  <a:srgbClr val="DC2626"/>
                </a:solidFill>
                <a:latin typeface="Meiryo"/>
                <a:ea typeface="Meiryo"/>
                <a:cs typeface="Meiryo"/>
                <a:sym typeface="Meiryo"/>
              </a:rPr>
              <a:t>❌  字コンテなし</a:t>
            </a:r>
            <a:endParaRPr b="0" i="0" sz="1700" u="none" cap="none" strike="noStrike">
              <a:solidFill>
                <a:schemeClr val="dk1"/>
              </a:solidFill>
              <a:latin typeface="Calibri"/>
              <a:ea typeface="Calibri"/>
              <a:cs typeface="Calibri"/>
              <a:sym typeface="Calibri"/>
            </a:endParaRPr>
          </a:p>
        </p:txBody>
      </p:sp>
      <p:sp>
        <p:nvSpPr>
          <p:cNvPr id="212" name="Google Shape;212;p10"/>
          <p:cNvSpPr/>
          <p:nvPr/>
        </p:nvSpPr>
        <p:spPr>
          <a:xfrm>
            <a:off x="457200" y="1627632"/>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撮影後「イメージと違う」と言われる</a:t>
            </a:r>
            <a:endParaRPr b="0" i="0" sz="1400" u="none" cap="none" strike="noStrike">
              <a:solidFill>
                <a:schemeClr val="dk1"/>
              </a:solidFill>
              <a:latin typeface="Calibri"/>
              <a:ea typeface="Calibri"/>
              <a:cs typeface="Calibri"/>
              <a:sym typeface="Calibri"/>
            </a:endParaRPr>
          </a:p>
        </p:txBody>
      </p:sp>
      <p:sp>
        <p:nvSpPr>
          <p:cNvPr id="213" name="Google Shape;213;p10"/>
          <p:cNvSpPr/>
          <p:nvPr/>
        </p:nvSpPr>
        <p:spPr>
          <a:xfrm>
            <a:off x="457200" y="2432304"/>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撮り直しで時間もコストもムダに</a:t>
            </a:r>
            <a:endParaRPr b="0" i="0" sz="1400" u="none" cap="none" strike="noStrike">
              <a:solidFill>
                <a:schemeClr val="dk1"/>
              </a:solidFill>
              <a:latin typeface="Calibri"/>
              <a:ea typeface="Calibri"/>
              <a:cs typeface="Calibri"/>
              <a:sym typeface="Calibri"/>
            </a:endParaRPr>
          </a:p>
        </p:txBody>
      </p:sp>
      <p:sp>
        <p:nvSpPr>
          <p:cNvPr id="214" name="Google Shape;214;p10"/>
          <p:cNvSpPr/>
          <p:nvPr/>
        </p:nvSpPr>
        <p:spPr>
          <a:xfrm>
            <a:off x="457200" y="3236976"/>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期待値が不明なまま作業が進む</a:t>
            </a:r>
            <a:endParaRPr b="0" i="0" sz="1400" u="none" cap="none" strike="noStrike">
              <a:solidFill>
                <a:schemeClr val="dk1"/>
              </a:solidFill>
              <a:latin typeface="Calibri"/>
              <a:ea typeface="Calibri"/>
              <a:cs typeface="Calibri"/>
              <a:sym typeface="Calibri"/>
            </a:endParaRPr>
          </a:p>
        </p:txBody>
      </p:sp>
      <p:sp>
        <p:nvSpPr>
          <p:cNvPr id="215" name="Google Shape;215;p10"/>
          <p:cNvSpPr/>
          <p:nvPr/>
        </p:nvSpPr>
        <p:spPr>
          <a:xfrm>
            <a:off x="4140713" y="2377452"/>
            <a:ext cx="768000" cy="768000"/>
          </a:xfrm>
          <a:prstGeom prst="ellipse">
            <a:avLst/>
          </a:prstGeom>
          <a:solidFill>
            <a:srgbClr val="1E3068"/>
          </a:solidFill>
          <a:ln cap="flat" cmpd="sng" w="15225">
            <a:solidFill>
              <a:srgbClr val="1E3068"/>
            </a:solidFill>
            <a:prstDash val="solid"/>
            <a:round/>
            <a:headEnd len="sm" w="sm" type="none"/>
            <a:tailEnd len="sm" w="sm" type="none"/>
          </a:ln>
        </p:spPr>
        <p:txBody>
          <a:bodyPr anchorCtr="0" anchor="ctr" bIns="109700" lIns="109700" spcFirstLastPara="1" rIns="109700" wrap="square" tIns="109700">
            <a:noAutofit/>
          </a:bodyPr>
          <a:lstStyle/>
          <a:p>
            <a:pPr indent="0" lvl="0" marL="0" rtl="0" algn="l">
              <a:spcBef>
                <a:spcPts val="0"/>
              </a:spcBef>
              <a:spcAft>
                <a:spcPts val="0"/>
              </a:spcAft>
              <a:buNone/>
            </a:pPr>
            <a:r>
              <a:t/>
            </a:r>
            <a:endParaRPr/>
          </a:p>
        </p:txBody>
      </p:sp>
      <p:sp>
        <p:nvSpPr>
          <p:cNvPr id="216" name="Google Shape;216;p10"/>
          <p:cNvSpPr/>
          <p:nvPr/>
        </p:nvSpPr>
        <p:spPr>
          <a:xfrm>
            <a:off x="4128042" y="2377452"/>
            <a:ext cx="768000" cy="76800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560"/>
              <a:buFont typeface="Meiryo"/>
              <a:buNone/>
            </a:pPr>
            <a:r>
              <a:rPr b="1" i="0" lang="en-US" sz="1560" u="none" cap="none" strike="noStrike">
                <a:solidFill>
                  <a:srgbClr val="FFFFFF"/>
                </a:solidFill>
                <a:latin typeface="Meiryo"/>
                <a:ea typeface="Meiryo"/>
                <a:cs typeface="Meiryo"/>
                <a:sym typeface="Meiryo"/>
              </a:rPr>
              <a:t>VS</a:t>
            </a:r>
            <a:endParaRPr b="0" i="0" sz="1560" u="none" cap="none" strike="noStrike">
              <a:solidFill>
                <a:schemeClr val="dk1"/>
              </a:solidFill>
              <a:latin typeface="Calibri"/>
              <a:ea typeface="Calibri"/>
              <a:cs typeface="Calibri"/>
              <a:sym typeface="Calibri"/>
            </a:endParaRPr>
          </a:p>
        </p:txBody>
      </p:sp>
      <p:sp>
        <p:nvSpPr>
          <p:cNvPr id="217" name="Google Shape;217;p10"/>
          <p:cNvSpPr/>
          <p:nvPr/>
        </p:nvSpPr>
        <p:spPr>
          <a:xfrm>
            <a:off x="4864608" y="877824"/>
            <a:ext cx="3895344" cy="3877056"/>
          </a:xfrm>
          <a:prstGeom prst="rect">
            <a:avLst/>
          </a:prstGeom>
          <a:solidFill>
            <a:srgbClr val="F0FDF4"/>
          </a:solidFill>
          <a:ln cap="flat" cmpd="sng" w="12700">
            <a:solidFill>
              <a:srgbClr val="86EFAC"/>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8" name="Google Shape;218;p10"/>
          <p:cNvSpPr/>
          <p:nvPr/>
        </p:nvSpPr>
        <p:spPr>
          <a:xfrm>
            <a:off x="5010912" y="1024128"/>
            <a:ext cx="3602736"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6A34A"/>
              </a:buClr>
              <a:buSzPts val="1700"/>
              <a:buFont typeface="Meiryo"/>
              <a:buNone/>
            </a:pPr>
            <a:r>
              <a:rPr b="1" i="0" lang="en-US" sz="1700" u="none" cap="none" strike="noStrike">
                <a:solidFill>
                  <a:srgbClr val="16A34A"/>
                </a:solidFill>
                <a:latin typeface="Meiryo"/>
                <a:ea typeface="Meiryo"/>
                <a:cs typeface="Meiryo"/>
                <a:sym typeface="Meiryo"/>
              </a:rPr>
              <a:t>✅  字コンテあり</a:t>
            </a:r>
            <a:endParaRPr b="0" i="0" sz="1700" u="none" cap="none" strike="noStrike">
              <a:solidFill>
                <a:schemeClr val="dk1"/>
              </a:solidFill>
              <a:latin typeface="Calibri"/>
              <a:ea typeface="Calibri"/>
              <a:cs typeface="Calibri"/>
              <a:sym typeface="Calibri"/>
            </a:endParaRPr>
          </a:p>
        </p:txBody>
      </p:sp>
      <p:sp>
        <p:nvSpPr>
          <p:cNvPr id="219" name="Google Shape;219;p10"/>
          <p:cNvSpPr/>
          <p:nvPr/>
        </p:nvSpPr>
        <p:spPr>
          <a:xfrm>
            <a:off x="5010912" y="1627632"/>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撮影前にクライアントと合意を取れる</a:t>
            </a:r>
            <a:endParaRPr b="0" i="0" sz="1400" u="none" cap="none" strike="noStrike">
              <a:solidFill>
                <a:schemeClr val="dk1"/>
              </a:solidFill>
              <a:latin typeface="Calibri"/>
              <a:ea typeface="Calibri"/>
              <a:cs typeface="Calibri"/>
              <a:sym typeface="Calibri"/>
            </a:endParaRPr>
          </a:p>
        </p:txBody>
      </p:sp>
      <p:sp>
        <p:nvSpPr>
          <p:cNvPr id="220" name="Google Shape;220;p10"/>
          <p:cNvSpPr/>
          <p:nvPr/>
        </p:nvSpPr>
        <p:spPr>
          <a:xfrm>
            <a:off x="5010912" y="2432304"/>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修正は文字の段階で完結（最小コスト）</a:t>
            </a:r>
            <a:endParaRPr b="0" i="0" sz="1400" u="none" cap="none" strike="noStrike">
              <a:solidFill>
                <a:schemeClr val="dk1"/>
              </a:solidFill>
              <a:latin typeface="Calibri"/>
              <a:ea typeface="Calibri"/>
              <a:cs typeface="Calibri"/>
              <a:sym typeface="Calibri"/>
            </a:endParaRPr>
          </a:p>
        </p:txBody>
      </p:sp>
      <p:sp>
        <p:nvSpPr>
          <p:cNvPr id="221" name="Google Shape;221;p10"/>
          <p:cNvSpPr/>
          <p:nvPr/>
        </p:nvSpPr>
        <p:spPr>
          <a:xfrm>
            <a:off x="5010912" y="3236976"/>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一発OKが狙えて信頼感もアップ</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226" name="Shape 226"/>
        <p:cNvGrpSpPr/>
        <p:nvPr/>
      </p:nvGrpSpPr>
      <p:grpSpPr>
        <a:xfrm>
          <a:off x="0" y="0"/>
          <a:ext cx="0" cy="0"/>
          <a:chOff x="0" y="0"/>
          <a:chExt cx="0" cy="0"/>
        </a:xfrm>
      </p:grpSpPr>
      <p:sp>
        <p:nvSpPr>
          <p:cNvPr id="227" name="Google Shape;227;p11"/>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8" name="Google Shape;228;p11"/>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字コンテ提出のルール</a:t>
            </a:r>
            <a:endParaRPr b="0" i="0" sz="2100" u="none" cap="none" strike="noStrike">
              <a:solidFill>
                <a:schemeClr val="dk1"/>
              </a:solidFill>
              <a:latin typeface="Calibri"/>
              <a:ea typeface="Calibri"/>
              <a:cs typeface="Calibri"/>
              <a:sym typeface="Calibri"/>
            </a:endParaRPr>
          </a:p>
        </p:txBody>
      </p:sp>
      <p:sp>
        <p:nvSpPr>
          <p:cNvPr id="229" name="Google Shape;229;p11"/>
          <p:cNvSpPr/>
          <p:nvPr/>
        </p:nvSpPr>
        <p:spPr>
          <a:xfrm>
            <a:off x="310896" y="786384"/>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0" name="Google Shape;230;p11"/>
          <p:cNvSpPr/>
          <p:nvPr/>
        </p:nvSpPr>
        <p:spPr>
          <a:xfrm>
            <a:off x="310896" y="786384"/>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1" name="Google Shape;231;p11"/>
          <p:cNvSpPr/>
          <p:nvPr/>
        </p:nvSpPr>
        <p:spPr>
          <a:xfrm>
            <a:off x="493776" y="886968"/>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2" name="Google Shape;232;p11"/>
          <p:cNvSpPr/>
          <p:nvPr/>
        </p:nvSpPr>
        <p:spPr>
          <a:xfrm>
            <a:off x="493776" y="8869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233" name="Google Shape;233;p11"/>
          <p:cNvSpPr/>
          <p:nvPr/>
        </p:nvSpPr>
        <p:spPr>
          <a:xfrm>
            <a:off x="950976" y="786384"/>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TORIHADAが指定したテンプレートを必ず使用する（★Notionリンク参照）</a:t>
            </a:r>
            <a:endParaRPr b="0" i="0" sz="1450" u="none" cap="none" strike="noStrike">
              <a:solidFill>
                <a:schemeClr val="dk1"/>
              </a:solidFill>
              <a:latin typeface="Calibri"/>
              <a:ea typeface="Calibri"/>
              <a:cs typeface="Calibri"/>
              <a:sym typeface="Calibri"/>
            </a:endParaRPr>
          </a:p>
        </p:txBody>
      </p:sp>
      <p:sp>
        <p:nvSpPr>
          <p:cNvPr id="234" name="Google Shape;234;p11"/>
          <p:cNvSpPr/>
          <p:nvPr/>
        </p:nvSpPr>
        <p:spPr>
          <a:xfrm>
            <a:off x="310896" y="1417320"/>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5" name="Google Shape;235;p11"/>
          <p:cNvSpPr/>
          <p:nvPr/>
        </p:nvSpPr>
        <p:spPr>
          <a:xfrm>
            <a:off x="310896" y="1417320"/>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6" name="Google Shape;236;p11"/>
          <p:cNvSpPr/>
          <p:nvPr/>
        </p:nvSpPr>
        <p:spPr>
          <a:xfrm>
            <a:off x="493776" y="1517904"/>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7" name="Google Shape;237;p11"/>
          <p:cNvSpPr/>
          <p:nvPr/>
        </p:nvSpPr>
        <p:spPr>
          <a:xfrm>
            <a:off x="493776" y="1517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238" name="Google Shape;238;p11"/>
          <p:cNvSpPr/>
          <p:nvPr/>
        </p:nvSpPr>
        <p:spPr>
          <a:xfrm>
            <a:off x="950976" y="1417320"/>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冒頭フック・本題・CTA（行動促進）の3構成で書く</a:t>
            </a:r>
            <a:endParaRPr b="0" i="0" sz="1450" u="none" cap="none" strike="noStrike">
              <a:solidFill>
                <a:schemeClr val="dk1"/>
              </a:solidFill>
              <a:latin typeface="Calibri"/>
              <a:ea typeface="Calibri"/>
              <a:cs typeface="Calibri"/>
              <a:sym typeface="Calibri"/>
            </a:endParaRPr>
          </a:p>
        </p:txBody>
      </p:sp>
      <p:sp>
        <p:nvSpPr>
          <p:cNvPr id="239" name="Google Shape;239;p11"/>
          <p:cNvSpPr/>
          <p:nvPr/>
        </p:nvSpPr>
        <p:spPr>
          <a:xfrm>
            <a:off x="310896" y="2048256"/>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0" name="Google Shape;240;p11"/>
          <p:cNvSpPr/>
          <p:nvPr/>
        </p:nvSpPr>
        <p:spPr>
          <a:xfrm>
            <a:off x="310896" y="2048256"/>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1" name="Google Shape;241;p11"/>
          <p:cNvSpPr/>
          <p:nvPr/>
        </p:nvSpPr>
        <p:spPr>
          <a:xfrm>
            <a:off x="493776" y="2148840"/>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2" name="Google Shape;242;p11"/>
          <p:cNvSpPr/>
          <p:nvPr/>
        </p:nvSpPr>
        <p:spPr>
          <a:xfrm>
            <a:off x="493776" y="214884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243" name="Google Shape;243;p11"/>
          <p:cNvSpPr/>
          <p:nvPr/>
        </p:nvSpPr>
        <p:spPr>
          <a:xfrm>
            <a:off x="950976" y="2048256"/>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曖昧な表現を避ける（「楽しい感じで」→「笑顔でテンポよく話す」）</a:t>
            </a:r>
            <a:endParaRPr b="0" i="0" sz="1450" u="none" cap="none" strike="noStrike">
              <a:solidFill>
                <a:schemeClr val="dk1"/>
              </a:solidFill>
              <a:latin typeface="Calibri"/>
              <a:ea typeface="Calibri"/>
              <a:cs typeface="Calibri"/>
              <a:sym typeface="Calibri"/>
            </a:endParaRPr>
          </a:p>
        </p:txBody>
      </p:sp>
      <p:sp>
        <p:nvSpPr>
          <p:cNvPr id="244" name="Google Shape;244;p11"/>
          <p:cNvSpPr/>
          <p:nvPr/>
        </p:nvSpPr>
        <p:spPr>
          <a:xfrm>
            <a:off x="310896" y="2679192"/>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5" name="Google Shape;245;p11"/>
          <p:cNvSpPr/>
          <p:nvPr/>
        </p:nvSpPr>
        <p:spPr>
          <a:xfrm>
            <a:off x="310896" y="2679192"/>
            <a:ext cx="59436" cy="54864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6" name="Google Shape;246;p11"/>
          <p:cNvSpPr/>
          <p:nvPr/>
        </p:nvSpPr>
        <p:spPr>
          <a:xfrm>
            <a:off x="493776" y="2779776"/>
            <a:ext cx="347472" cy="347472"/>
          </a:xfrm>
          <a:prstGeom prst="ellipse">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47" name="Google Shape;247;p11"/>
          <p:cNvSpPr/>
          <p:nvPr/>
        </p:nvSpPr>
        <p:spPr>
          <a:xfrm>
            <a:off x="493776" y="277977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248" name="Google Shape;248;p11"/>
          <p:cNvSpPr/>
          <p:nvPr/>
        </p:nvSpPr>
        <p:spPr>
          <a:xfrm>
            <a:off x="950976" y="2679192"/>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提出期限を必ず守る（案件ごとにスケジュールを確認）</a:t>
            </a:r>
            <a:endParaRPr b="0" i="0" sz="1450" u="none" cap="none" strike="noStrike">
              <a:solidFill>
                <a:schemeClr val="dk1"/>
              </a:solidFill>
              <a:latin typeface="Calibri"/>
              <a:ea typeface="Calibri"/>
              <a:cs typeface="Calibri"/>
              <a:sym typeface="Calibri"/>
            </a:endParaRPr>
          </a:p>
        </p:txBody>
      </p:sp>
      <p:sp>
        <p:nvSpPr>
          <p:cNvPr id="249" name="Google Shape;249;p11"/>
          <p:cNvSpPr/>
          <p:nvPr/>
        </p:nvSpPr>
        <p:spPr>
          <a:xfrm>
            <a:off x="310896" y="3401568"/>
            <a:ext cx="8522208" cy="493776"/>
          </a:xfrm>
          <a:prstGeom prst="rect">
            <a:avLst/>
          </a:prstGeom>
          <a:solidFill>
            <a:srgbClr val="FEF3C7"/>
          </a:solidFill>
          <a:ln cap="flat" cmpd="sng" w="9525">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0" name="Google Shape;250;p11"/>
          <p:cNvSpPr/>
          <p:nvPr/>
        </p:nvSpPr>
        <p:spPr>
          <a:xfrm>
            <a:off x="457200" y="3401568"/>
            <a:ext cx="832104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300"/>
              <a:buFont typeface="Meiryo"/>
              <a:buNone/>
            </a:pPr>
            <a:r>
              <a:rPr b="1" i="0" lang="en-US" sz="1300" u="none" cap="none" strike="noStrike">
                <a:solidFill>
                  <a:srgbClr val="92400E"/>
                </a:solidFill>
                <a:latin typeface="Meiryo"/>
                <a:ea typeface="Meiryo"/>
                <a:cs typeface="Meiryo"/>
                <a:sym typeface="Meiryo"/>
              </a:rPr>
              <a:t>⚠️  字コンテは「合意の証明書」。あいまいなまま提出しないこと！</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255" name="Shape 255"/>
        <p:cNvGrpSpPr/>
        <p:nvPr/>
      </p:nvGrpSpPr>
      <p:grpSpPr>
        <a:xfrm>
          <a:off x="0" y="0"/>
          <a:ext cx="0" cy="0"/>
          <a:chOff x="0" y="0"/>
          <a:chExt cx="0" cy="0"/>
        </a:xfrm>
      </p:grpSpPr>
      <p:sp>
        <p:nvSpPr>
          <p:cNvPr id="256" name="Google Shape;256;p12"/>
          <p:cNvSpPr/>
          <p:nvPr/>
        </p:nvSpPr>
        <p:spPr>
          <a:xfrm>
            <a:off x="0" y="0"/>
            <a:ext cx="2743200"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57" name="Google Shape;257;p12"/>
          <p:cNvSpPr/>
          <p:nvPr/>
        </p:nvSpPr>
        <p:spPr>
          <a:xfrm>
            <a:off x="237744" y="1005840"/>
            <a:ext cx="2286000" cy="2103120"/>
          </a:xfrm>
          <a:prstGeom prst="rect">
            <a:avLst/>
          </a:prstGeom>
          <a:noFill/>
          <a:ln>
            <a:noFill/>
          </a:ln>
        </p:spPr>
        <p:txBody>
          <a:bodyPr anchorCtr="0" anchor="ctr" bIns="45700" lIns="91425" spcFirstLastPara="1" rIns="91425" wrap="square" tIns="45700">
            <a:noAutofit/>
          </a:bodyPr>
          <a:lstStyle/>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まとめ</a:t>
            </a:r>
            <a:endParaRPr b="0" i="0" sz="2600" u="none" cap="none" strike="noStrike">
              <a:solidFill>
                <a:schemeClr val="dk1"/>
              </a:solidFill>
              <a:latin typeface="Calibri"/>
              <a:ea typeface="Calibri"/>
              <a:cs typeface="Calibri"/>
              <a:sym typeface="Calibri"/>
            </a:endParaRPr>
          </a:p>
        </p:txBody>
      </p:sp>
      <p:sp>
        <p:nvSpPr>
          <p:cNvPr id="258" name="Google Shape;258;p12"/>
          <p:cNvSpPr/>
          <p:nvPr/>
        </p:nvSpPr>
        <p:spPr>
          <a:xfrm>
            <a:off x="237744" y="4114800"/>
            <a:ext cx="2286000"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100"/>
              <a:buFont typeface="Meiryo"/>
              <a:buNone/>
            </a:pPr>
            <a:r>
              <a:rPr b="0" i="0" lang="en-US" sz="1100" u="none" cap="none" strike="noStrike">
                <a:solidFill>
                  <a:srgbClr val="A0B8D8"/>
                </a:solidFill>
                <a:latin typeface="Meiryo"/>
                <a:ea typeface="Meiryo"/>
                <a:cs typeface="Meiryo"/>
                <a:sym typeface="Meiryo"/>
              </a:rPr>
              <a:t>動画まとめ</a:t>
            </a:r>
            <a:endParaRPr b="0" i="0" sz="1100" u="none" cap="none" strike="noStrike">
              <a:solidFill>
                <a:schemeClr val="dk1"/>
              </a:solidFill>
              <a:latin typeface="Calibri"/>
              <a:ea typeface="Calibri"/>
              <a:cs typeface="Calibri"/>
              <a:sym typeface="Calibri"/>
            </a:endParaRPr>
          </a:p>
        </p:txBody>
      </p:sp>
      <p:sp>
        <p:nvSpPr>
          <p:cNvPr id="259" name="Google Shape;259;p12"/>
          <p:cNvSpPr/>
          <p:nvPr/>
        </p:nvSpPr>
        <p:spPr>
          <a:xfrm>
            <a:off x="2944368" y="329184"/>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0" name="Google Shape;260;p12"/>
          <p:cNvSpPr/>
          <p:nvPr/>
        </p:nvSpPr>
        <p:spPr>
          <a:xfrm>
            <a:off x="3072384" y="329184"/>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01</a:t>
            </a:r>
            <a:endParaRPr b="0" i="0" sz="2000" u="none" cap="none" strike="noStrike">
              <a:solidFill>
                <a:schemeClr val="dk1"/>
              </a:solidFill>
              <a:latin typeface="Calibri"/>
              <a:ea typeface="Calibri"/>
              <a:cs typeface="Calibri"/>
              <a:sym typeface="Calibri"/>
            </a:endParaRPr>
          </a:p>
        </p:txBody>
      </p:sp>
      <p:sp>
        <p:nvSpPr>
          <p:cNvPr id="261" name="Google Shape;261;p12"/>
          <p:cNvSpPr/>
          <p:nvPr/>
        </p:nvSpPr>
        <p:spPr>
          <a:xfrm>
            <a:off x="3749040" y="329184"/>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字コンテ＝撮影前の「設計図」。省略すると撮り直しリスクが上がる</a:t>
            </a:r>
            <a:endParaRPr b="0" i="0" sz="1550" u="none" cap="none" strike="noStrike">
              <a:solidFill>
                <a:schemeClr val="dk1"/>
              </a:solidFill>
              <a:latin typeface="Calibri"/>
              <a:ea typeface="Calibri"/>
              <a:cs typeface="Calibri"/>
              <a:sym typeface="Calibri"/>
            </a:endParaRPr>
          </a:p>
        </p:txBody>
      </p:sp>
      <p:cxnSp>
        <p:nvCxnSpPr>
          <p:cNvPr id="262" name="Google Shape;262;p12"/>
          <p:cNvCxnSpPr/>
          <p:nvPr/>
        </p:nvCxnSpPr>
        <p:spPr>
          <a:xfrm>
            <a:off x="2944368" y="1216152"/>
            <a:ext cx="5925312" cy="0"/>
          </a:xfrm>
          <a:prstGeom prst="straightConnector1">
            <a:avLst/>
          </a:prstGeom>
          <a:noFill/>
          <a:ln cap="flat" cmpd="sng" w="9525">
            <a:solidFill>
              <a:srgbClr val="D1D5DB"/>
            </a:solidFill>
            <a:prstDash val="solid"/>
            <a:round/>
            <a:headEnd len="sm" w="sm" type="none"/>
            <a:tailEnd len="sm" w="sm" type="none"/>
          </a:ln>
        </p:spPr>
      </p:cxnSp>
      <p:sp>
        <p:nvSpPr>
          <p:cNvPr id="263" name="Google Shape;263;p12"/>
          <p:cNvSpPr/>
          <p:nvPr/>
        </p:nvSpPr>
        <p:spPr>
          <a:xfrm>
            <a:off x="2944368" y="1261872"/>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4" name="Google Shape;264;p12"/>
          <p:cNvSpPr/>
          <p:nvPr/>
        </p:nvSpPr>
        <p:spPr>
          <a:xfrm>
            <a:off x="3072384" y="1261872"/>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02</a:t>
            </a:r>
            <a:endParaRPr b="0" i="0" sz="2000" u="none" cap="none" strike="noStrike">
              <a:solidFill>
                <a:schemeClr val="dk1"/>
              </a:solidFill>
              <a:latin typeface="Calibri"/>
              <a:ea typeface="Calibri"/>
              <a:cs typeface="Calibri"/>
              <a:sym typeface="Calibri"/>
            </a:endParaRPr>
          </a:p>
        </p:txBody>
      </p:sp>
      <p:sp>
        <p:nvSpPr>
          <p:cNvPr id="265" name="Google Shape;265;p12"/>
          <p:cNvSpPr/>
          <p:nvPr/>
        </p:nvSpPr>
        <p:spPr>
          <a:xfrm>
            <a:off x="3749040" y="1261872"/>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字コンテで合意を取ることが「一発OK」の近道</a:t>
            </a:r>
            <a:endParaRPr b="0" i="0" sz="1550" u="none" cap="none" strike="noStrike">
              <a:solidFill>
                <a:schemeClr val="dk1"/>
              </a:solidFill>
              <a:latin typeface="Calibri"/>
              <a:ea typeface="Calibri"/>
              <a:cs typeface="Calibri"/>
              <a:sym typeface="Calibri"/>
            </a:endParaRPr>
          </a:p>
        </p:txBody>
      </p:sp>
      <p:cxnSp>
        <p:nvCxnSpPr>
          <p:cNvPr id="266" name="Google Shape;266;p12"/>
          <p:cNvCxnSpPr/>
          <p:nvPr/>
        </p:nvCxnSpPr>
        <p:spPr>
          <a:xfrm>
            <a:off x="2944368" y="2148840"/>
            <a:ext cx="5925312" cy="0"/>
          </a:xfrm>
          <a:prstGeom prst="straightConnector1">
            <a:avLst/>
          </a:prstGeom>
          <a:noFill/>
          <a:ln cap="flat" cmpd="sng" w="9525">
            <a:solidFill>
              <a:srgbClr val="D1D5DB"/>
            </a:solidFill>
            <a:prstDash val="solid"/>
            <a:round/>
            <a:headEnd len="sm" w="sm" type="none"/>
            <a:tailEnd len="sm" w="sm" type="none"/>
          </a:ln>
        </p:spPr>
      </p:cxnSp>
      <p:sp>
        <p:nvSpPr>
          <p:cNvPr id="267" name="Google Shape;267;p12"/>
          <p:cNvSpPr/>
          <p:nvPr/>
        </p:nvSpPr>
        <p:spPr>
          <a:xfrm>
            <a:off x="2944368" y="2194560"/>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68" name="Google Shape;268;p12"/>
          <p:cNvSpPr/>
          <p:nvPr/>
        </p:nvSpPr>
        <p:spPr>
          <a:xfrm>
            <a:off x="3072384" y="2194560"/>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03</a:t>
            </a:r>
            <a:endParaRPr b="0" i="0" sz="2000" u="none" cap="none" strike="noStrike">
              <a:solidFill>
                <a:schemeClr val="dk1"/>
              </a:solidFill>
              <a:latin typeface="Calibri"/>
              <a:ea typeface="Calibri"/>
              <a:cs typeface="Calibri"/>
              <a:sym typeface="Calibri"/>
            </a:endParaRPr>
          </a:p>
        </p:txBody>
      </p:sp>
      <p:sp>
        <p:nvSpPr>
          <p:cNvPr id="269" name="Google Shape;269;p12"/>
          <p:cNvSpPr/>
          <p:nvPr/>
        </p:nvSpPr>
        <p:spPr>
          <a:xfrm>
            <a:off x="3749040" y="2194560"/>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テンプレート使用・期限厳守・具体的な表現が提出のルール</a:t>
            </a:r>
            <a:endParaRPr b="0" i="0" sz="1550" u="none" cap="none" strike="noStrike">
              <a:solidFill>
                <a:schemeClr val="dk1"/>
              </a:solidFill>
              <a:latin typeface="Calibri"/>
              <a:ea typeface="Calibri"/>
              <a:cs typeface="Calibri"/>
              <a:sym typeface="Calibri"/>
            </a:endParaRPr>
          </a:p>
        </p:txBody>
      </p:sp>
      <p:sp>
        <p:nvSpPr>
          <p:cNvPr id="270" name="Google Shape;270;p12"/>
          <p:cNvSpPr/>
          <p:nvPr/>
        </p:nvSpPr>
        <p:spPr>
          <a:xfrm>
            <a:off x="2944368" y="3273552"/>
            <a:ext cx="5925312" cy="65836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1" name="Google Shape;271;p12"/>
          <p:cNvSpPr/>
          <p:nvPr/>
        </p:nvSpPr>
        <p:spPr>
          <a:xfrm>
            <a:off x="2944368" y="3273552"/>
            <a:ext cx="59436" cy="65836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2" name="Google Shape;272;p12"/>
          <p:cNvSpPr/>
          <p:nvPr/>
        </p:nvSpPr>
        <p:spPr>
          <a:xfrm>
            <a:off x="3108960" y="3273552"/>
            <a:ext cx="5687568"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030"/>
              </a:buClr>
              <a:buSzPts val="1350"/>
              <a:buFont typeface="Meiryo"/>
              <a:buNone/>
            </a:pPr>
            <a:r>
              <a:rPr b="1" i="0" lang="en-US" sz="1350" u="none" cap="none" strike="noStrike">
                <a:solidFill>
                  <a:srgbClr val="E87030"/>
                </a:solidFill>
                <a:latin typeface="Meiryo"/>
                <a:ea typeface="Meiryo"/>
                <a:cs typeface="Meiryo"/>
                <a:sym typeface="Meiryo"/>
              </a:rPr>
              <a:t>▶  Next  |  動画③：撮影・編集のルール</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3"/>
          <p:cNvSpPr/>
          <p:nvPr/>
        </p:nvSpPr>
        <p:spPr>
          <a:xfrm>
            <a:off x="0" y="0"/>
            <a:ext cx="2907792"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79" name="Google Shape;279;p13"/>
          <p:cNvSpPr/>
          <p:nvPr/>
        </p:nvSpPr>
        <p:spPr>
          <a:xfrm>
            <a:off x="274320" y="475488"/>
            <a:ext cx="235915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500"/>
              <a:buFont typeface="Meiryo"/>
              <a:buNone/>
            </a:pPr>
            <a:r>
              <a:rPr b="1" i="0" lang="en-US" sz="1500" u="none" cap="none" strike="noStrike">
                <a:solidFill>
                  <a:srgbClr val="A0B8D8"/>
                </a:solidFill>
                <a:latin typeface="Meiryo"/>
                <a:ea typeface="Meiryo"/>
                <a:cs typeface="Meiryo"/>
                <a:sym typeface="Meiryo"/>
              </a:rPr>
              <a:t>第3章</a:t>
            </a:r>
            <a:endParaRPr b="0" i="0" sz="1500" u="none" cap="none" strike="noStrike">
              <a:solidFill>
                <a:schemeClr val="dk1"/>
              </a:solidFill>
              <a:latin typeface="Calibri"/>
              <a:ea typeface="Calibri"/>
              <a:cs typeface="Calibri"/>
              <a:sym typeface="Calibri"/>
            </a:endParaRPr>
          </a:p>
        </p:txBody>
      </p:sp>
      <p:sp>
        <p:nvSpPr>
          <p:cNvPr id="280" name="Google Shape;280;p13"/>
          <p:cNvSpPr/>
          <p:nvPr/>
        </p:nvSpPr>
        <p:spPr>
          <a:xfrm>
            <a:off x="274320" y="868680"/>
            <a:ext cx="2359152"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5000"/>
              <a:buFont typeface="Meiryo"/>
              <a:buNone/>
            </a:pPr>
            <a:r>
              <a:rPr b="1" i="0" lang="en-US" sz="5000" u="none" cap="none" strike="noStrike">
                <a:solidFill>
                  <a:srgbClr val="FFFFFF"/>
                </a:solidFill>
                <a:latin typeface="Meiryo"/>
                <a:ea typeface="Meiryo"/>
                <a:cs typeface="Meiryo"/>
                <a:sym typeface="Meiryo"/>
              </a:rPr>
              <a:t>動画③</a:t>
            </a:r>
            <a:endParaRPr b="0" i="0" sz="5000" u="none" cap="none" strike="noStrike">
              <a:solidFill>
                <a:schemeClr val="dk1"/>
              </a:solidFill>
              <a:latin typeface="Calibri"/>
              <a:ea typeface="Calibri"/>
              <a:cs typeface="Calibri"/>
              <a:sym typeface="Calibri"/>
            </a:endParaRPr>
          </a:p>
        </p:txBody>
      </p:sp>
      <p:sp>
        <p:nvSpPr>
          <p:cNvPr id="281" name="Google Shape;281;p13"/>
          <p:cNvSpPr/>
          <p:nvPr/>
        </p:nvSpPr>
        <p:spPr>
          <a:xfrm>
            <a:off x="274320" y="2011680"/>
            <a:ext cx="2359152"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300"/>
              <a:buFont typeface="Meiryo"/>
              <a:buNone/>
            </a:pPr>
            <a:r>
              <a:rPr b="0" i="0" lang="en-US" sz="1300" u="none" cap="none" strike="noStrike">
                <a:solidFill>
                  <a:srgbClr val="A0B8D8"/>
                </a:solidFill>
                <a:latin typeface="Meiryo"/>
                <a:ea typeface="Meiryo"/>
                <a:cs typeface="Meiryo"/>
                <a:sym typeface="Meiryo"/>
              </a:rPr>
              <a:t>進行フロー・ビジネス連絡</a:t>
            </a:r>
            <a:endParaRPr b="0" i="0" sz="1300" u="none" cap="none" strike="noStrike">
              <a:solidFill>
                <a:schemeClr val="dk1"/>
              </a:solidFill>
              <a:latin typeface="Calibri"/>
              <a:ea typeface="Calibri"/>
              <a:cs typeface="Calibri"/>
              <a:sym typeface="Calibri"/>
            </a:endParaRPr>
          </a:p>
        </p:txBody>
      </p:sp>
      <p:sp>
        <p:nvSpPr>
          <p:cNvPr id="282" name="Google Shape;282;p13"/>
          <p:cNvSpPr/>
          <p:nvPr/>
        </p:nvSpPr>
        <p:spPr>
          <a:xfrm>
            <a:off x="274320" y="2816352"/>
            <a:ext cx="1389888" cy="4023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3" name="Google Shape;283;p13"/>
          <p:cNvSpPr/>
          <p:nvPr/>
        </p:nvSpPr>
        <p:spPr>
          <a:xfrm>
            <a:off x="274320" y="2816352"/>
            <a:ext cx="1389888"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  約5分</a:t>
            </a:r>
            <a:endParaRPr b="0" i="0" sz="1300" u="none" cap="none" strike="noStrike">
              <a:solidFill>
                <a:schemeClr val="dk1"/>
              </a:solidFill>
              <a:latin typeface="Calibri"/>
              <a:ea typeface="Calibri"/>
              <a:cs typeface="Calibri"/>
              <a:sym typeface="Calibri"/>
            </a:endParaRPr>
          </a:p>
        </p:txBody>
      </p:sp>
      <p:sp>
        <p:nvSpPr>
          <p:cNvPr id="284" name="Google Shape;284;p13"/>
          <p:cNvSpPr/>
          <p:nvPr/>
        </p:nvSpPr>
        <p:spPr>
          <a:xfrm>
            <a:off x="3127248" y="219456"/>
            <a:ext cx="5742432"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800"/>
              <a:buFont typeface="Meiryo"/>
              <a:buNone/>
            </a:pPr>
            <a:r>
              <a:rPr b="0" i="0" lang="en-US" sz="800" u="none" cap="none" strike="noStrike">
                <a:solidFill>
                  <a:srgbClr val="1E3068"/>
                </a:solidFill>
                <a:latin typeface="Meiryo"/>
                <a:ea typeface="Meiryo"/>
                <a:cs typeface="Meiryo"/>
                <a:sym typeface="Meiryo"/>
              </a:rPr>
              <a:t>CREATOR NETWORK TRAINING</a:t>
            </a:r>
            <a:endParaRPr b="0" i="0" sz="800" u="none" cap="none" strike="noStrike">
              <a:solidFill>
                <a:schemeClr val="dk1"/>
              </a:solidFill>
              <a:latin typeface="Calibri"/>
              <a:ea typeface="Calibri"/>
              <a:cs typeface="Calibri"/>
              <a:sym typeface="Calibri"/>
            </a:endParaRPr>
          </a:p>
        </p:txBody>
      </p:sp>
      <p:sp>
        <p:nvSpPr>
          <p:cNvPr id="285" name="Google Shape;285;p13"/>
          <p:cNvSpPr/>
          <p:nvPr/>
        </p:nvSpPr>
        <p:spPr>
          <a:xfrm>
            <a:off x="3127248" y="621792"/>
            <a:ext cx="5577840" cy="2606040"/>
          </a:xfrm>
          <a:prstGeom prst="rect">
            <a:avLst/>
          </a:prstGeom>
          <a:noFill/>
          <a:ln>
            <a:noFill/>
          </a:ln>
        </p:spPr>
        <p:txBody>
          <a:bodyPr anchorCtr="0" anchor="t" bIns="45700" lIns="91425" spcFirstLastPara="1" rIns="91425" wrap="square" tIns="45700">
            <a:noAutofit/>
          </a:bodyPr>
          <a:lstStyle/>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撮影・編集の</a:t>
            </a:r>
            <a:endParaRPr b="0" i="0" sz="38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ルール</a:t>
            </a:r>
            <a:endParaRPr b="0" i="0" sz="3800" u="none" cap="none" strike="noStrike">
              <a:solidFill>
                <a:schemeClr val="dk1"/>
              </a:solidFill>
              <a:latin typeface="Calibri"/>
              <a:ea typeface="Calibri"/>
              <a:cs typeface="Calibri"/>
              <a:sym typeface="Calibri"/>
            </a:endParaRPr>
          </a:p>
        </p:txBody>
      </p:sp>
      <p:sp>
        <p:nvSpPr>
          <p:cNvPr id="286" name="Google Shape;286;p13"/>
          <p:cNvSpPr/>
          <p:nvPr/>
        </p:nvSpPr>
        <p:spPr>
          <a:xfrm>
            <a:off x="3127248" y="3364992"/>
            <a:ext cx="1920240"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87" name="Google Shape;287;p13"/>
          <p:cNvSpPr/>
          <p:nvPr/>
        </p:nvSpPr>
        <p:spPr>
          <a:xfrm>
            <a:off x="3127248" y="3529584"/>
            <a:ext cx="55778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400"/>
              <a:buFont typeface="Meiryo"/>
              <a:buNone/>
            </a:pPr>
            <a:r>
              <a:rPr b="0" i="0" lang="en-US" sz="1400" u="none" cap="none" strike="noStrike">
                <a:solidFill>
                  <a:srgbClr val="6B7280"/>
                </a:solidFill>
                <a:latin typeface="Meiryo"/>
                <a:ea typeface="Meiryo"/>
                <a:cs typeface="Meiryo"/>
                <a:sym typeface="Meiryo"/>
              </a:rPr>
              <a:t>クリエイターネットワーク研修</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292" name="Shape 292"/>
        <p:cNvGrpSpPr/>
        <p:nvPr/>
      </p:nvGrpSpPr>
      <p:grpSpPr>
        <a:xfrm>
          <a:off x="0" y="0"/>
          <a:ext cx="0" cy="0"/>
          <a:chOff x="0" y="0"/>
          <a:chExt cx="0" cy="0"/>
        </a:xfrm>
      </p:grpSpPr>
      <p:sp>
        <p:nvSpPr>
          <p:cNvPr id="293" name="Google Shape;293;p14"/>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4" name="Google Shape;294;p14"/>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この動画で学ぶこと</a:t>
            </a:r>
            <a:endParaRPr b="0" i="0" sz="2100" u="none" cap="none" strike="noStrike">
              <a:solidFill>
                <a:schemeClr val="dk1"/>
              </a:solidFill>
              <a:latin typeface="Calibri"/>
              <a:ea typeface="Calibri"/>
              <a:cs typeface="Calibri"/>
              <a:sym typeface="Calibri"/>
            </a:endParaRPr>
          </a:p>
        </p:txBody>
      </p:sp>
      <p:sp>
        <p:nvSpPr>
          <p:cNvPr id="295" name="Google Shape;295;p14"/>
          <p:cNvSpPr/>
          <p:nvPr/>
        </p:nvSpPr>
        <p:spPr>
          <a:xfrm>
            <a:off x="310896"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6" name="Google Shape;296;p14"/>
          <p:cNvSpPr/>
          <p:nvPr/>
        </p:nvSpPr>
        <p:spPr>
          <a:xfrm>
            <a:off x="310896"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97" name="Google Shape;297;p14"/>
          <p:cNvSpPr/>
          <p:nvPr/>
        </p:nvSpPr>
        <p:spPr>
          <a:xfrm>
            <a:off x="566928"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298" name="Google Shape;298;p14"/>
          <p:cNvSpPr/>
          <p:nvPr/>
        </p:nvSpPr>
        <p:spPr>
          <a:xfrm>
            <a:off x="512064"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字コンテFIX後の</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鉄則</a:t>
            </a:r>
            <a:endParaRPr b="0" i="0" sz="1550" u="none" cap="none" strike="noStrike">
              <a:solidFill>
                <a:schemeClr val="dk1"/>
              </a:solidFill>
              <a:latin typeface="Calibri"/>
              <a:ea typeface="Calibri"/>
              <a:cs typeface="Calibri"/>
              <a:sym typeface="Calibri"/>
            </a:endParaRPr>
          </a:p>
        </p:txBody>
      </p:sp>
      <p:sp>
        <p:nvSpPr>
          <p:cNvPr id="299" name="Google Shape;299;p14"/>
          <p:cNvSpPr/>
          <p:nvPr/>
        </p:nvSpPr>
        <p:spPr>
          <a:xfrm>
            <a:off x="512064"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FIX＝確定。</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勝手に変えると</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トラブルになる</a:t>
            </a:r>
            <a:endParaRPr b="0" i="0" sz="1300" u="none" cap="none" strike="noStrike">
              <a:solidFill>
                <a:schemeClr val="dk1"/>
              </a:solidFill>
              <a:latin typeface="Calibri"/>
              <a:ea typeface="Calibri"/>
              <a:cs typeface="Calibri"/>
              <a:sym typeface="Calibri"/>
            </a:endParaRPr>
          </a:p>
        </p:txBody>
      </p:sp>
      <p:sp>
        <p:nvSpPr>
          <p:cNvPr id="300" name="Google Shape;300;p14"/>
          <p:cNvSpPr/>
          <p:nvPr/>
        </p:nvSpPr>
        <p:spPr>
          <a:xfrm>
            <a:off x="3081528"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1" name="Google Shape;301;p14"/>
          <p:cNvSpPr/>
          <p:nvPr/>
        </p:nvSpPr>
        <p:spPr>
          <a:xfrm>
            <a:off x="3081528"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2" name="Google Shape;302;p14"/>
          <p:cNvSpPr/>
          <p:nvPr/>
        </p:nvSpPr>
        <p:spPr>
          <a:xfrm>
            <a:off x="3337560"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303" name="Google Shape;303;p14"/>
          <p:cNvSpPr/>
          <p:nvPr/>
        </p:nvSpPr>
        <p:spPr>
          <a:xfrm>
            <a:off x="3282696"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セーフティーゾーン</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とは</a:t>
            </a:r>
            <a:endParaRPr b="0" i="0" sz="1550" u="none" cap="none" strike="noStrike">
              <a:solidFill>
                <a:schemeClr val="dk1"/>
              </a:solidFill>
              <a:latin typeface="Calibri"/>
              <a:ea typeface="Calibri"/>
              <a:cs typeface="Calibri"/>
              <a:sym typeface="Calibri"/>
            </a:endParaRPr>
          </a:p>
        </p:txBody>
      </p:sp>
      <p:sp>
        <p:nvSpPr>
          <p:cNvPr id="304" name="Google Shape;304;p14"/>
          <p:cNvSpPr/>
          <p:nvPr/>
        </p:nvSpPr>
        <p:spPr>
          <a:xfrm>
            <a:off x="3282696"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UIに隠れない</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安全なテキスト</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表示エリア</a:t>
            </a:r>
            <a:endParaRPr b="0" i="0" sz="1300" u="none" cap="none" strike="noStrike">
              <a:solidFill>
                <a:schemeClr val="dk1"/>
              </a:solidFill>
              <a:latin typeface="Calibri"/>
              <a:ea typeface="Calibri"/>
              <a:cs typeface="Calibri"/>
              <a:sym typeface="Calibri"/>
            </a:endParaRPr>
          </a:p>
        </p:txBody>
      </p:sp>
      <p:sp>
        <p:nvSpPr>
          <p:cNvPr id="305" name="Google Shape;305;p14"/>
          <p:cNvSpPr/>
          <p:nvPr/>
        </p:nvSpPr>
        <p:spPr>
          <a:xfrm>
            <a:off x="5852160"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6" name="Google Shape;306;p14"/>
          <p:cNvSpPr/>
          <p:nvPr/>
        </p:nvSpPr>
        <p:spPr>
          <a:xfrm>
            <a:off x="5852160"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07" name="Google Shape;307;p14"/>
          <p:cNvSpPr/>
          <p:nvPr/>
        </p:nvSpPr>
        <p:spPr>
          <a:xfrm>
            <a:off x="6108192"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308" name="Google Shape;308;p14"/>
          <p:cNvSpPr/>
          <p:nvPr/>
        </p:nvSpPr>
        <p:spPr>
          <a:xfrm>
            <a:off x="6053328"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下書き画面録画</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とカバー画像</a:t>
            </a:r>
            <a:endParaRPr b="0" i="0" sz="1550" u="none" cap="none" strike="noStrike">
              <a:solidFill>
                <a:schemeClr val="dk1"/>
              </a:solidFill>
              <a:latin typeface="Calibri"/>
              <a:ea typeface="Calibri"/>
              <a:cs typeface="Calibri"/>
              <a:sym typeface="Calibri"/>
            </a:endParaRPr>
          </a:p>
        </p:txBody>
      </p:sp>
      <p:sp>
        <p:nvSpPr>
          <p:cNvPr id="309" name="Google Shape;309;p14"/>
          <p:cNvSpPr/>
          <p:nvPr/>
        </p:nvSpPr>
        <p:spPr>
          <a:xfrm>
            <a:off x="6053328"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提出前の最終確認</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とサムネイルの</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ルール</a:t>
            </a:r>
            <a:endParaRPr b="0" i="0" sz="1300" u="none" cap="none" strike="noStrike">
              <a:solidFill>
                <a:schemeClr val="dk1"/>
              </a:solidFill>
              <a:latin typeface="Calibri"/>
              <a:ea typeface="Calibri"/>
              <a:cs typeface="Calibri"/>
              <a:sym typeface="Calibri"/>
            </a:endParaRPr>
          </a:p>
        </p:txBody>
      </p:sp>
      <p:sp>
        <p:nvSpPr>
          <p:cNvPr id="310" name="Google Shape;310;p14"/>
          <p:cNvSpPr/>
          <p:nvPr/>
        </p:nvSpPr>
        <p:spPr>
          <a:xfrm>
            <a:off x="2140055" y="884713"/>
            <a:ext cx="859200" cy="4800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t/>
            </a:r>
            <a:endParaRPr b="1" sz="2400">
              <a:solidFill>
                <a:srgbClr val="D1D5DB"/>
              </a:solidFill>
              <a:latin typeface="Meiryo"/>
              <a:ea typeface="Meiryo"/>
              <a:cs typeface="Meiryo"/>
              <a:sym typeface="Meiryo"/>
            </a:endParaRPr>
          </a:p>
          <a:p>
            <a:pPr indent="0" lvl="0" marL="0" marR="0" rtl="0" algn="r">
              <a:spcBef>
                <a:spcPts val="0"/>
              </a:spcBef>
              <a:spcAft>
                <a:spcPts val="0"/>
              </a:spcAft>
              <a:buClr>
                <a:srgbClr val="D1D5DB"/>
              </a:buClr>
              <a:buSzPts val="2400"/>
              <a:buFont typeface="Meiryo"/>
              <a:buNone/>
            </a:pPr>
            <a:r>
              <a:rPr b="1" lang="en-US" sz="2400">
                <a:solidFill>
                  <a:srgbClr val="D1D5DB"/>
                </a:solidFill>
                <a:latin typeface="Meiryo"/>
                <a:ea typeface="Meiryo"/>
                <a:cs typeface="Meiryo"/>
                <a:sym typeface="Meiryo"/>
              </a:rPr>
              <a:t>0</a:t>
            </a:r>
            <a:r>
              <a:rPr b="1" i="0" lang="en-US" sz="2400" u="none" cap="none" strike="noStrike">
                <a:solidFill>
                  <a:srgbClr val="D1D5DB"/>
                </a:solidFill>
                <a:latin typeface="Meiryo"/>
                <a:ea typeface="Meiryo"/>
                <a:cs typeface="Meiryo"/>
                <a:sym typeface="Meiryo"/>
              </a:rPr>
              <a:t>1</a:t>
            </a:r>
            <a:endParaRPr b="0" i="0" sz="2400" u="none" cap="none" strike="noStrike">
              <a:solidFill>
                <a:schemeClr val="dk1"/>
              </a:solidFill>
              <a:latin typeface="Calibri"/>
              <a:ea typeface="Calibri"/>
              <a:cs typeface="Calibri"/>
              <a:sym typeface="Calibri"/>
            </a:endParaRPr>
          </a:p>
        </p:txBody>
      </p:sp>
      <p:sp>
        <p:nvSpPr>
          <p:cNvPr id="311" name="Google Shape;311;p14"/>
          <p:cNvSpPr/>
          <p:nvPr/>
        </p:nvSpPr>
        <p:spPr>
          <a:xfrm>
            <a:off x="5074926"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02</a:t>
            </a:r>
            <a:endParaRPr b="0" i="0" sz="2400" u="none" cap="none" strike="noStrike">
              <a:solidFill>
                <a:schemeClr val="dk1"/>
              </a:solidFill>
              <a:latin typeface="Calibri"/>
              <a:ea typeface="Calibri"/>
              <a:cs typeface="Calibri"/>
              <a:sym typeface="Calibri"/>
            </a:endParaRPr>
          </a:p>
        </p:txBody>
      </p:sp>
      <p:sp>
        <p:nvSpPr>
          <p:cNvPr id="312" name="Google Shape;312;p14"/>
          <p:cNvSpPr/>
          <p:nvPr/>
        </p:nvSpPr>
        <p:spPr>
          <a:xfrm>
            <a:off x="7845550"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03</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317" name="Shape 317"/>
        <p:cNvGrpSpPr/>
        <p:nvPr/>
      </p:nvGrpSpPr>
      <p:grpSpPr>
        <a:xfrm>
          <a:off x="0" y="0"/>
          <a:ext cx="0" cy="0"/>
          <a:chOff x="0" y="0"/>
          <a:chExt cx="0" cy="0"/>
        </a:xfrm>
      </p:grpSpPr>
      <p:sp>
        <p:nvSpPr>
          <p:cNvPr id="318" name="Google Shape;318;p15"/>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19" name="Google Shape;319;p15"/>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FIXした字コンテ通りに作る</a:t>
            </a:r>
            <a:endParaRPr b="0" i="0" sz="2100" u="none" cap="none" strike="noStrike">
              <a:solidFill>
                <a:schemeClr val="dk1"/>
              </a:solidFill>
              <a:latin typeface="Calibri"/>
              <a:ea typeface="Calibri"/>
              <a:cs typeface="Calibri"/>
              <a:sym typeface="Calibri"/>
            </a:endParaRPr>
          </a:p>
        </p:txBody>
      </p:sp>
      <p:sp>
        <p:nvSpPr>
          <p:cNvPr id="320" name="Google Shape;320;p15"/>
          <p:cNvSpPr/>
          <p:nvPr/>
        </p:nvSpPr>
        <p:spPr>
          <a:xfrm>
            <a:off x="310896" y="804672"/>
            <a:ext cx="8522208" cy="749808"/>
          </a:xfrm>
          <a:prstGeom prst="rect">
            <a:avLst/>
          </a:prstGeom>
          <a:solidFill>
            <a:srgbClr val="E8EAF6"/>
          </a:solidFill>
          <a:ln cap="flat" cmpd="sng" w="9525">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1" name="Google Shape;321;p15"/>
          <p:cNvSpPr/>
          <p:nvPr/>
        </p:nvSpPr>
        <p:spPr>
          <a:xfrm>
            <a:off x="310896" y="804672"/>
            <a:ext cx="59436" cy="74980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2" name="Google Shape;322;p15"/>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  「FIX」＝確定。変更したい場合は必ず事前に担当者へ確認！</a:t>
            </a:r>
            <a:endParaRPr b="0" i="0" sz="1550" u="none" cap="none" strike="noStrike">
              <a:solidFill>
                <a:schemeClr val="dk1"/>
              </a:solidFill>
              <a:latin typeface="Calibri"/>
              <a:ea typeface="Calibri"/>
              <a:cs typeface="Calibri"/>
              <a:sym typeface="Calibri"/>
            </a:endParaRPr>
          </a:p>
        </p:txBody>
      </p:sp>
      <p:sp>
        <p:nvSpPr>
          <p:cNvPr id="323" name="Google Shape;323;p15"/>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4" name="Google Shape;324;p15"/>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5" name="Google Shape;325;p15"/>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NG：「自分がよいと思ったから」と勝手に内容を変える</a:t>
            </a:r>
            <a:endParaRPr b="0" i="0" sz="1450" u="none" cap="none" strike="noStrike">
              <a:solidFill>
                <a:schemeClr val="dk1"/>
              </a:solidFill>
              <a:latin typeface="Calibri"/>
              <a:ea typeface="Calibri"/>
              <a:cs typeface="Calibri"/>
              <a:sym typeface="Calibri"/>
            </a:endParaRPr>
          </a:p>
        </p:txBody>
      </p:sp>
      <p:sp>
        <p:nvSpPr>
          <p:cNvPr id="326" name="Google Shape;326;p15"/>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7" name="Google Shape;327;p15"/>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28" name="Google Shape;328;p15"/>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NG：「このシーンいらないかな」と勝手に省略する</a:t>
            </a:r>
            <a:endParaRPr b="0" i="0" sz="1450" u="none" cap="none" strike="noStrike">
              <a:solidFill>
                <a:schemeClr val="dk1"/>
              </a:solidFill>
              <a:latin typeface="Calibri"/>
              <a:ea typeface="Calibri"/>
              <a:cs typeface="Calibri"/>
              <a:sym typeface="Calibri"/>
            </a:endParaRPr>
          </a:p>
        </p:txBody>
      </p:sp>
      <p:sp>
        <p:nvSpPr>
          <p:cNvPr id="329" name="Google Shape;329;p15"/>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0" name="Google Shape;330;p15"/>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1" name="Google Shape;331;p15"/>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OK：変更したい場合は撮影前に担当者に相談・合意を取る</a:t>
            </a:r>
            <a:endParaRPr b="0" i="0" sz="1450" u="none" cap="none" strike="noStrike">
              <a:solidFill>
                <a:schemeClr val="dk1"/>
              </a:solidFill>
              <a:latin typeface="Calibri"/>
              <a:ea typeface="Calibri"/>
              <a:cs typeface="Calibri"/>
              <a:sym typeface="Calibri"/>
            </a:endParaRPr>
          </a:p>
        </p:txBody>
      </p:sp>
      <p:sp>
        <p:nvSpPr>
          <p:cNvPr id="332" name="Google Shape;332;p15"/>
          <p:cNvSpPr/>
          <p:nvPr/>
        </p:nvSpPr>
        <p:spPr>
          <a:xfrm>
            <a:off x="310896" y="3950208"/>
            <a:ext cx="8522208" cy="47548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3" name="Google Shape;333;p15"/>
          <p:cNvSpPr/>
          <p:nvPr/>
        </p:nvSpPr>
        <p:spPr>
          <a:xfrm>
            <a:off x="457200" y="3950208"/>
            <a:ext cx="83210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250"/>
              <a:buFont typeface="Meiryo"/>
              <a:buNone/>
            </a:pPr>
            <a:r>
              <a:rPr b="0" i="0" lang="en-US" sz="1250" u="none" cap="none" strike="noStrike">
                <a:solidFill>
                  <a:srgbClr val="B45309"/>
                </a:solidFill>
                <a:latin typeface="Meiryo"/>
                <a:ea typeface="Meiryo"/>
                <a:cs typeface="Meiryo"/>
                <a:sym typeface="Meiryo"/>
              </a:rPr>
              <a:t>💡  FIX（Fix）＝固定・確定の意味。業界でよく使われる言葉です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338" name="Shape 338"/>
        <p:cNvGrpSpPr/>
        <p:nvPr/>
      </p:nvGrpSpPr>
      <p:grpSpPr>
        <a:xfrm>
          <a:off x="0" y="0"/>
          <a:ext cx="0" cy="0"/>
          <a:chOff x="0" y="0"/>
          <a:chExt cx="0" cy="0"/>
        </a:xfrm>
      </p:grpSpPr>
      <p:sp>
        <p:nvSpPr>
          <p:cNvPr id="339" name="Google Shape;339;p16"/>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0" name="Google Shape;340;p16"/>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セーフティーゾーンって何？</a:t>
            </a:r>
            <a:endParaRPr b="0" i="0" sz="2100" u="none" cap="none" strike="noStrike">
              <a:solidFill>
                <a:schemeClr val="dk1"/>
              </a:solidFill>
              <a:latin typeface="Calibri"/>
              <a:ea typeface="Calibri"/>
              <a:cs typeface="Calibri"/>
              <a:sym typeface="Calibri"/>
            </a:endParaRPr>
          </a:p>
        </p:txBody>
      </p:sp>
      <p:sp>
        <p:nvSpPr>
          <p:cNvPr id="341" name="Google Shape;341;p16"/>
          <p:cNvSpPr/>
          <p:nvPr/>
        </p:nvSpPr>
        <p:spPr>
          <a:xfrm>
            <a:off x="310896" y="804672"/>
            <a:ext cx="8522208" cy="74980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2" name="Google Shape;342;p16"/>
          <p:cNvSpPr/>
          <p:nvPr/>
        </p:nvSpPr>
        <p:spPr>
          <a:xfrm>
            <a:off x="310896" y="804672"/>
            <a:ext cx="59436" cy="74980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3" name="Google Shape;343;p16"/>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450"/>
              <a:buFont typeface="Meiryo"/>
              <a:buNone/>
            </a:pPr>
            <a:r>
              <a:rPr b="1" i="0" lang="en-US" sz="1450" u="none" cap="none" strike="noStrike">
                <a:solidFill>
                  <a:srgbClr val="B45309"/>
                </a:solidFill>
                <a:latin typeface="Meiryo"/>
                <a:ea typeface="Meiryo"/>
                <a:cs typeface="Meiryo"/>
                <a:sym typeface="Meiryo"/>
              </a:rPr>
              <a:t>📌  投稿したときに「いいね・コメント・フォロー」等のUIに隠れない、安全なテキスト表示エリア</a:t>
            </a:r>
            <a:endParaRPr b="0" i="0" sz="1450" u="none" cap="none" strike="noStrike">
              <a:solidFill>
                <a:schemeClr val="dk1"/>
              </a:solidFill>
              <a:latin typeface="Calibri"/>
              <a:ea typeface="Calibri"/>
              <a:cs typeface="Calibri"/>
              <a:sym typeface="Calibri"/>
            </a:endParaRPr>
          </a:p>
        </p:txBody>
      </p:sp>
      <p:sp>
        <p:nvSpPr>
          <p:cNvPr id="344" name="Google Shape;344;p16"/>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5" name="Google Shape;345;p16"/>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6" name="Google Shape;346;p16"/>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TikTok：画面の上下左右に一定のマージンが必要（★Notionで詳細確認）</a:t>
            </a:r>
            <a:endParaRPr b="0" i="0" sz="1450" u="none" cap="none" strike="noStrike">
              <a:solidFill>
                <a:schemeClr val="dk1"/>
              </a:solidFill>
              <a:latin typeface="Calibri"/>
              <a:ea typeface="Calibri"/>
              <a:cs typeface="Calibri"/>
              <a:sym typeface="Calibri"/>
            </a:endParaRPr>
          </a:p>
        </p:txBody>
      </p:sp>
      <p:sp>
        <p:nvSpPr>
          <p:cNvPr id="347" name="Google Shape;347;p16"/>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8" name="Google Shape;348;p16"/>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49" name="Google Shape;349;p16"/>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Instagram Reels：フィード表示時のトリミング範囲に注意</a:t>
            </a:r>
            <a:endParaRPr b="0" i="0" sz="1450" u="none" cap="none" strike="noStrike">
              <a:solidFill>
                <a:schemeClr val="dk1"/>
              </a:solidFill>
              <a:latin typeface="Calibri"/>
              <a:ea typeface="Calibri"/>
              <a:cs typeface="Calibri"/>
              <a:sym typeface="Calibri"/>
            </a:endParaRPr>
          </a:p>
        </p:txBody>
      </p:sp>
      <p:sp>
        <p:nvSpPr>
          <p:cNvPr id="350" name="Google Shape;350;p16"/>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1" name="Google Shape;351;p16"/>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52" name="Google Shape;352;p16"/>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テロップ・ブランドロゴ・重要テキストは必ずセーフティーゾーン内に配置</a:t>
            </a:r>
            <a:endParaRPr b="0" i="0" sz="1450" u="none" cap="none" strike="noStrike">
              <a:solidFill>
                <a:schemeClr val="dk1"/>
              </a:solidFill>
              <a:latin typeface="Calibri"/>
              <a:ea typeface="Calibri"/>
              <a:cs typeface="Calibri"/>
              <a:sym typeface="Calibri"/>
            </a:endParaRPr>
          </a:p>
        </p:txBody>
      </p:sp>
      <p:sp>
        <p:nvSpPr>
          <p:cNvPr id="353" name="Google Shape;353;p16"/>
          <p:cNvSpPr/>
          <p:nvPr/>
        </p:nvSpPr>
        <p:spPr>
          <a:xfrm>
            <a:off x="310896" y="3931920"/>
            <a:ext cx="8522208" cy="40233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200"/>
              <a:buFont typeface="Meiryo"/>
              <a:buNone/>
            </a:pPr>
            <a:r>
              <a:rPr b="0" i="1" lang="en-US" sz="1200" u="none" cap="none" strike="noStrike">
                <a:solidFill>
                  <a:srgbClr val="6B7280"/>
                </a:solidFill>
                <a:latin typeface="Meiryo"/>
                <a:ea typeface="Meiryo"/>
                <a:cs typeface="Meiryo"/>
                <a:sym typeface="Meiryo"/>
              </a:rPr>
              <a:t>★  はみ出した状態で提出するとやり直しになります。Notionのルールページを必ず確認！</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358" name="Shape 358"/>
        <p:cNvGrpSpPr/>
        <p:nvPr/>
      </p:nvGrpSpPr>
      <p:grpSpPr>
        <a:xfrm>
          <a:off x="0" y="0"/>
          <a:ext cx="0" cy="0"/>
          <a:chOff x="0" y="0"/>
          <a:chExt cx="0" cy="0"/>
        </a:xfrm>
      </p:grpSpPr>
      <p:sp>
        <p:nvSpPr>
          <p:cNvPr id="359" name="Google Shape;359;p17"/>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0" name="Google Shape;360;p17"/>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下書き画面録画＝「実際の投稿イメージ」確認</a:t>
            </a:r>
            <a:endParaRPr b="0" i="0" sz="2100" u="none" cap="none" strike="noStrike">
              <a:solidFill>
                <a:schemeClr val="dk1"/>
              </a:solidFill>
              <a:latin typeface="Calibri"/>
              <a:ea typeface="Calibri"/>
              <a:cs typeface="Calibri"/>
              <a:sym typeface="Calibri"/>
            </a:endParaRPr>
          </a:p>
        </p:txBody>
      </p:sp>
      <p:sp>
        <p:nvSpPr>
          <p:cNvPr id="361" name="Google Shape;361;p17"/>
          <p:cNvSpPr/>
          <p:nvPr/>
        </p:nvSpPr>
        <p:spPr>
          <a:xfrm>
            <a:off x="310896" y="804672"/>
            <a:ext cx="8522208" cy="74980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2" name="Google Shape;362;p17"/>
          <p:cNvSpPr/>
          <p:nvPr/>
        </p:nvSpPr>
        <p:spPr>
          <a:xfrm>
            <a:off x="310896" y="804672"/>
            <a:ext cx="59436" cy="74980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3" name="Google Shape;363;p17"/>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450"/>
              <a:buFont typeface="Meiryo"/>
              <a:buNone/>
            </a:pPr>
            <a:r>
              <a:rPr b="1" i="0" lang="en-US" sz="1450" u="none" cap="none" strike="noStrike">
                <a:solidFill>
                  <a:srgbClr val="B45309"/>
                </a:solidFill>
                <a:latin typeface="Meiryo"/>
                <a:ea typeface="Meiryo"/>
                <a:cs typeface="Meiryo"/>
                <a:sym typeface="Meiryo"/>
              </a:rPr>
              <a:t>📌  TikTok・Instagramのアプリ内で下書き状態にし、その画面をスマホで録画したもの</a:t>
            </a:r>
            <a:endParaRPr b="0" i="0" sz="1450" u="none" cap="none" strike="noStrike">
              <a:solidFill>
                <a:schemeClr val="dk1"/>
              </a:solidFill>
              <a:latin typeface="Calibri"/>
              <a:ea typeface="Calibri"/>
              <a:cs typeface="Calibri"/>
              <a:sym typeface="Calibri"/>
            </a:endParaRPr>
          </a:p>
        </p:txBody>
      </p:sp>
      <p:sp>
        <p:nvSpPr>
          <p:cNvPr id="364" name="Google Shape;364;p17"/>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p17"/>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6" name="Google Shape;366;p17"/>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編集ソフトの書き出し動画とアプリ内の見え方が異なる場合がある</a:t>
            </a:r>
            <a:endParaRPr b="0" i="0" sz="1450" u="none" cap="none" strike="noStrike">
              <a:solidFill>
                <a:schemeClr val="dk1"/>
              </a:solidFill>
              <a:latin typeface="Calibri"/>
              <a:ea typeface="Calibri"/>
              <a:cs typeface="Calibri"/>
              <a:sym typeface="Calibri"/>
            </a:endParaRPr>
          </a:p>
        </p:txBody>
      </p:sp>
      <p:sp>
        <p:nvSpPr>
          <p:cNvPr id="367" name="Google Shape;367;p17"/>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8" name="Google Shape;368;p17"/>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69" name="Google Shape;369;p17"/>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テロップ位置・フォント・BGM・エフェクトをアプリ上で確認</a:t>
            </a:r>
            <a:endParaRPr b="0" i="0" sz="1450" u="none" cap="none" strike="noStrike">
              <a:solidFill>
                <a:schemeClr val="dk1"/>
              </a:solidFill>
              <a:latin typeface="Calibri"/>
              <a:ea typeface="Calibri"/>
              <a:cs typeface="Calibri"/>
              <a:sym typeface="Calibri"/>
            </a:endParaRPr>
          </a:p>
        </p:txBody>
      </p:sp>
      <p:sp>
        <p:nvSpPr>
          <p:cNvPr id="370" name="Google Shape;370;p17"/>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1" name="Google Shape;371;p17"/>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2" name="Google Shape;372;p17"/>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下書き画面録画でクライアントが「実際の投稿と同じ状態」を確認できる</a:t>
            </a:r>
            <a:endParaRPr b="0" i="0" sz="1450" u="none" cap="none" strike="noStrike">
              <a:solidFill>
                <a:schemeClr val="dk1"/>
              </a:solidFill>
              <a:latin typeface="Calibri"/>
              <a:ea typeface="Calibri"/>
              <a:cs typeface="Calibri"/>
              <a:sym typeface="Calibri"/>
            </a:endParaRPr>
          </a:p>
        </p:txBody>
      </p:sp>
      <p:sp>
        <p:nvSpPr>
          <p:cNvPr id="373" name="Google Shape;373;p17"/>
          <p:cNvSpPr/>
          <p:nvPr/>
        </p:nvSpPr>
        <p:spPr>
          <a:xfrm>
            <a:off x="310896" y="3931920"/>
            <a:ext cx="8522208" cy="40233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200"/>
              <a:buFont typeface="Meiryo"/>
              <a:buNone/>
            </a:pPr>
            <a:r>
              <a:rPr b="0" i="1" lang="en-US" sz="1200" u="none" cap="none" strike="noStrike">
                <a:solidFill>
                  <a:srgbClr val="6B7280"/>
                </a:solidFill>
                <a:latin typeface="Meiryo"/>
                <a:ea typeface="Meiryo"/>
                <a:cs typeface="Meiryo"/>
                <a:sym typeface="Meiryo"/>
              </a:rPr>
              <a:t>★  詳しい録画手順はNotionの「TikTok下書き画面録画」ページを確認</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378" name="Shape 378"/>
        <p:cNvGrpSpPr/>
        <p:nvPr/>
      </p:nvGrpSpPr>
      <p:grpSpPr>
        <a:xfrm>
          <a:off x="0" y="0"/>
          <a:ext cx="0" cy="0"/>
          <a:chOff x="0" y="0"/>
          <a:chExt cx="0" cy="0"/>
        </a:xfrm>
      </p:grpSpPr>
      <p:sp>
        <p:nvSpPr>
          <p:cNvPr id="379" name="Google Shape;379;p18"/>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0" name="Google Shape;380;p18"/>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カバー画像（サムネイル）は動画の顔</a:t>
            </a:r>
            <a:endParaRPr b="0" i="0" sz="2100" u="none" cap="none" strike="noStrike">
              <a:solidFill>
                <a:schemeClr val="dk1"/>
              </a:solidFill>
              <a:latin typeface="Calibri"/>
              <a:ea typeface="Calibri"/>
              <a:cs typeface="Calibri"/>
              <a:sym typeface="Calibri"/>
            </a:endParaRPr>
          </a:p>
        </p:txBody>
      </p:sp>
      <p:sp>
        <p:nvSpPr>
          <p:cNvPr id="381" name="Google Shape;381;p18"/>
          <p:cNvSpPr/>
          <p:nvPr/>
        </p:nvSpPr>
        <p:spPr>
          <a:xfrm>
            <a:off x="310896" y="804672"/>
            <a:ext cx="8522208" cy="749808"/>
          </a:xfrm>
          <a:prstGeom prst="rect">
            <a:avLst/>
          </a:prstGeom>
          <a:solidFill>
            <a:srgbClr val="E8EAF6"/>
          </a:solidFill>
          <a:ln cap="flat" cmpd="sng" w="9525">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2" name="Google Shape;382;p18"/>
          <p:cNvSpPr/>
          <p:nvPr/>
        </p:nvSpPr>
        <p:spPr>
          <a:xfrm>
            <a:off x="310896" y="804672"/>
            <a:ext cx="59436" cy="74980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3" name="Google Shape;383;p18"/>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  どれだけいい動画でも、カバー画像が地味だとタップしてもらえない</a:t>
            </a:r>
            <a:endParaRPr b="0" i="0" sz="1550" u="none" cap="none" strike="noStrike">
              <a:solidFill>
                <a:schemeClr val="dk1"/>
              </a:solidFill>
              <a:latin typeface="Calibri"/>
              <a:ea typeface="Calibri"/>
              <a:cs typeface="Calibri"/>
              <a:sym typeface="Calibri"/>
            </a:endParaRPr>
          </a:p>
        </p:txBody>
      </p:sp>
      <p:sp>
        <p:nvSpPr>
          <p:cNvPr id="384" name="Google Shape;384;p18"/>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5" name="Google Shape;385;p18"/>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6" name="Google Shape;386;p18"/>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文字は大きく・はっきり・読みやすく（セーフティーゾーン内に収める）</a:t>
            </a:r>
            <a:endParaRPr b="0" i="0" sz="1450" u="none" cap="none" strike="noStrike">
              <a:solidFill>
                <a:schemeClr val="dk1"/>
              </a:solidFill>
              <a:latin typeface="Calibri"/>
              <a:ea typeface="Calibri"/>
              <a:cs typeface="Calibri"/>
              <a:sym typeface="Calibri"/>
            </a:endParaRPr>
          </a:p>
        </p:txBody>
      </p:sp>
      <p:sp>
        <p:nvSpPr>
          <p:cNvPr id="387" name="Google Shape;387;p18"/>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8" name="Google Shape;388;p18"/>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89" name="Google Shape;389;p18"/>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表情やビジュアルでクリックしたくなるものを選ぶ</a:t>
            </a:r>
            <a:endParaRPr b="0" i="0" sz="1450" u="none" cap="none" strike="noStrike">
              <a:solidFill>
                <a:schemeClr val="dk1"/>
              </a:solidFill>
              <a:latin typeface="Calibri"/>
              <a:ea typeface="Calibri"/>
              <a:cs typeface="Calibri"/>
              <a:sym typeface="Calibri"/>
            </a:endParaRPr>
          </a:p>
        </p:txBody>
      </p:sp>
      <p:sp>
        <p:nvSpPr>
          <p:cNvPr id="390" name="Google Shape;390;p18"/>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1" name="Google Shape;391;p18"/>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2" name="Google Shape;392;p18"/>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TikTokとInstagramで最適な縦横比が異なる点に注意</a:t>
            </a:r>
            <a:endParaRPr b="0" i="0" sz="1450" u="none" cap="none" strike="noStrike">
              <a:solidFill>
                <a:schemeClr val="dk1"/>
              </a:solidFill>
              <a:latin typeface="Calibri"/>
              <a:ea typeface="Calibri"/>
              <a:cs typeface="Calibri"/>
              <a:sym typeface="Calibri"/>
            </a:endParaRPr>
          </a:p>
        </p:txBody>
      </p:sp>
      <p:sp>
        <p:nvSpPr>
          <p:cNvPr id="393" name="Google Shape;393;p18"/>
          <p:cNvSpPr/>
          <p:nvPr/>
        </p:nvSpPr>
        <p:spPr>
          <a:xfrm>
            <a:off x="310896" y="3950208"/>
            <a:ext cx="8522208" cy="47548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94" name="Google Shape;394;p18"/>
          <p:cNvSpPr/>
          <p:nvPr/>
        </p:nvSpPr>
        <p:spPr>
          <a:xfrm>
            <a:off x="457200" y="3950208"/>
            <a:ext cx="83210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250"/>
              <a:buFont typeface="Meiryo"/>
              <a:buNone/>
            </a:pPr>
            <a:r>
              <a:rPr b="0" i="0" lang="en-US" sz="1250" u="none" cap="none" strike="noStrike">
                <a:solidFill>
                  <a:srgbClr val="B45309"/>
                </a:solidFill>
                <a:latin typeface="Meiryo"/>
                <a:ea typeface="Meiryo"/>
                <a:cs typeface="Meiryo"/>
                <a:sym typeface="Meiryo"/>
              </a:rPr>
              <a:t>💡  TORIHADAの担当者から指定がある場合は、その指示に従ってください</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399" name="Shape 399"/>
        <p:cNvGrpSpPr/>
        <p:nvPr/>
      </p:nvGrpSpPr>
      <p:grpSpPr>
        <a:xfrm>
          <a:off x="0" y="0"/>
          <a:ext cx="0" cy="0"/>
          <a:chOff x="0" y="0"/>
          <a:chExt cx="0" cy="0"/>
        </a:xfrm>
      </p:grpSpPr>
      <p:sp>
        <p:nvSpPr>
          <p:cNvPr id="400" name="Google Shape;400;p19"/>
          <p:cNvSpPr/>
          <p:nvPr/>
        </p:nvSpPr>
        <p:spPr>
          <a:xfrm>
            <a:off x="0" y="0"/>
            <a:ext cx="2743200"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1" name="Google Shape;401;p19"/>
          <p:cNvSpPr/>
          <p:nvPr/>
        </p:nvSpPr>
        <p:spPr>
          <a:xfrm>
            <a:off x="237744" y="1005840"/>
            <a:ext cx="2286000" cy="2103120"/>
          </a:xfrm>
          <a:prstGeom prst="rect">
            <a:avLst/>
          </a:prstGeom>
          <a:noFill/>
          <a:ln>
            <a:noFill/>
          </a:ln>
        </p:spPr>
        <p:txBody>
          <a:bodyPr anchorCtr="0" anchor="ctr" bIns="45700" lIns="91425" spcFirstLastPara="1" rIns="91425" wrap="square" tIns="45700">
            <a:noAutofit/>
          </a:bodyPr>
          <a:lstStyle/>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まとめ</a:t>
            </a:r>
            <a:endParaRPr b="0" i="0" sz="2600" u="none" cap="none" strike="noStrike">
              <a:solidFill>
                <a:schemeClr val="dk1"/>
              </a:solidFill>
              <a:latin typeface="Calibri"/>
              <a:ea typeface="Calibri"/>
              <a:cs typeface="Calibri"/>
              <a:sym typeface="Calibri"/>
            </a:endParaRPr>
          </a:p>
        </p:txBody>
      </p:sp>
      <p:sp>
        <p:nvSpPr>
          <p:cNvPr id="402" name="Google Shape;402;p19"/>
          <p:cNvSpPr/>
          <p:nvPr/>
        </p:nvSpPr>
        <p:spPr>
          <a:xfrm>
            <a:off x="237744" y="4114800"/>
            <a:ext cx="2286000"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100"/>
              <a:buFont typeface="Meiryo"/>
              <a:buNone/>
            </a:pPr>
            <a:r>
              <a:rPr b="0" i="0" lang="en-US" sz="1100" u="none" cap="none" strike="noStrike">
                <a:solidFill>
                  <a:srgbClr val="A0B8D8"/>
                </a:solidFill>
                <a:latin typeface="Meiryo"/>
                <a:ea typeface="Meiryo"/>
                <a:cs typeface="Meiryo"/>
                <a:sym typeface="Meiryo"/>
              </a:rPr>
              <a:t>動画まとめ</a:t>
            </a:r>
            <a:endParaRPr b="0" i="0" sz="1100" u="none" cap="none" strike="noStrike">
              <a:solidFill>
                <a:schemeClr val="dk1"/>
              </a:solidFill>
              <a:latin typeface="Calibri"/>
              <a:ea typeface="Calibri"/>
              <a:cs typeface="Calibri"/>
              <a:sym typeface="Calibri"/>
            </a:endParaRPr>
          </a:p>
        </p:txBody>
      </p:sp>
      <p:sp>
        <p:nvSpPr>
          <p:cNvPr id="403" name="Google Shape;403;p19"/>
          <p:cNvSpPr/>
          <p:nvPr/>
        </p:nvSpPr>
        <p:spPr>
          <a:xfrm>
            <a:off x="2944368" y="329184"/>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p19"/>
          <p:cNvSpPr/>
          <p:nvPr/>
        </p:nvSpPr>
        <p:spPr>
          <a:xfrm>
            <a:off x="3072384" y="329184"/>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01</a:t>
            </a:r>
            <a:endParaRPr b="0" i="0" sz="2000" u="none" cap="none" strike="noStrike">
              <a:solidFill>
                <a:schemeClr val="dk1"/>
              </a:solidFill>
              <a:latin typeface="Calibri"/>
              <a:ea typeface="Calibri"/>
              <a:cs typeface="Calibri"/>
              <a:sym typeface="Calibri"/>
            </a:endParaRPr>
          </a:p>
        </p:txBody>
      </p:sp>
      <p:sp>
        <p:nvSpPr>
          <p:cNvPr id="405" name="Google Shape;405;p19"/>
          <p:cNvSpPr/>
          <p:nvPr/>
        </p:nvSpPr>
        <p:spPr>
          <a:xfrm>
            <a:off x="3749040" y="329184"/>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FIXした字コンテは忠実に再現する（勝手に変えない）</a:t>
            </a:r>
            <a:endParaRPr b="0" i="0" sz="1550" u="none" cap="none" strike="noStrike">
              <a:solidFill>
                <a:schemeClr val="dk1"/>
              </a:solidFill>
              <a:latin typeface="Calibri"/>
              <a:ea typeface="Calibri"/>
              <a:cs typeface="Calibri"/>
              <a:sym typeface="Calibri"/>
            </a:endParaRPr>
          </a:p>
        </p:txBody>
      </p:sp>
      <p:cxnSp>
        <p:nvCxnSpPr>
          <p:cNvPr id="406" name="Google Shape;406;p19"/>
          <p:cNvCxnSpPr/>
          <p:nvPr/>
        </p:nvCxnSpPr>
        <p:spPr>
          <a:xfrm>
            <a:off x="2944368" y="1156716"/>
            <a:ext cx="5925312" cy="0"/>
          </a:xfrm>
          <a:prstGeom prst="straightConnector1">
            <a:avLst/>
          </a:prstGeom>
          <a:noFill/>
          <a:ln cap="flat" cmpd="sng" w="9525">
            <a:solidFill>
              <a:srgbClr val="D1D5DB"/>
            </a:solidFill>
            <a:prstDash val="solid"/>
            <a:round/>
            <a:headEnd len="sm" w="sm" type="none"/>
            <a:tailEnd len="sm" w="sm" type="none"/>
          </a:ln>
        </p:spPr>
      </p:cxnSp>
      <p:sp>
        <p:nvSpPr>
          <p:cNvPr id="407" name="Google Shape;407;p19"/>
          <p:cNvSpPr/>
          <p:nvPr/>
        </p:nvSpPr>
        <p:spPr>
          <a:xfrm>
            <a:off x="2944368" y="1202436"/>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08" name="Google Shape;408;p19"/>
          <p:cNvSpPr/>
          <p:nvPr/>
        </p:nvSpPr>
        <p:spPr>
          <a:xfrm>
            <a:off x="3072384" y="1202436"/>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02</a:t>
            </a:r>
            <a:endParaRPr b="0" i="0" sz="2000" u="none" cap="none" strike="noStrike">
              <a:solidFill>
                <a:schemeClr val="dk1"/>
              </a:solidFill>
              <a:latin typeface="Calibri"/>
              <a:ea typeface="Calibri"/>
              <a:cs typeface="Calibri"/>
              <a:sym typeface="Calibri"/>
            </a:endParaRPr>
          </a:p>
        </p:txBody>
      </p:sp>
      <p:sp>
        <p:nvSpPr>
          <p:cNvPr id="409" name="Google Shape;409;p19"/>
          <p:cNvSpPr/>
          <p:nvPr/>
        </p:nvSpPr>
        <p:spPr>
          <a:xfrm>
            <a:off x="3749040" y="1202436"/>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セーフティーゾーン内に重要テキストを配置する</a:t>
            </a:r>
            <a:endParaRPr b="0" i="0" sz="1550" u="none" cap="none" strike="noStrike">
              <a:solidFill>
                <a:schemeClr val="dk1"/>
              </a:solidFill>
              <a:latin typeface="Calibri"/>
              <a:ea typeface="Calibri"/>
              <a:cs typeface="Calibri"/>
              <a:sym typeface="Calibri"/>
            </a:endParaRPr>
          </a:p>
        </p:txBody>
      </p:sp>
      <p:cxnSp>
        <p:nvCxnSpPr>
          <p:cNvPr id="410" name="Google Shape;410;p19"/>
          <p:cNvCxnSpPr/>
          <p:nvPr/>
        </p:nvCxnSpPr>
        <p:spPr>
          <a:xfrm>
            <a:off x="2944368" y="2029968"/>
            <a:ext cx="5925312" cy="0"/>
          </a:xfrm>
          <a:prstGeom prst="straightConnector1">
            <a:avLst/>
          </a:prstGeom>
          <a:noFill/>
          <a:ln cap="flat" cmpd="sng" w="9525">
            <a:solidFill>
              <a:srgbClr val="D1D5DB"/>
            </a:solidFill>
            <a:prstDash val="solid"/>
            <a:round/>
            <a:headEnd len="sm" w="sm" type="none"/>
            <a:tailEnd len="sm" w="sm" type="none"/>
          </a:ln>
        </p:spPr>
      </p:cxnSp>
      <p:sp>
        <p:nvSpPr>
          <p:cNvPr id="411" name="Google Shape;411;p19"/>
          <p:cNvSpPr/>
          <p:nvPr/>
        </p:nvSpPr>
        <p:spPr>
          <a:xfrm>
            <a:off x="2944368" y="2075688"/>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p19"/>
          <p:cNvSpPr/>
          <p:nvPr/>
        </p:nvSpPr>
        <p:spPr>
          <a:xfrm>
            <a:off x="3072384" y="2075688"/>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03</a:t>
            </a:r>
            <a:endParaRPr b="0" i="0" sz="2000" u="none" cap="none" strike="noStrike">
              <a:solidFill>
                <a:schemeClr val="dk1"/>
              </a:solidFill>
              <a:latin typeface="Calibri"/>
              <a:ea typeface="Calibri"/>
              <a:cs typeface="Calibri"/>
              <a:sym typeface="Calibri"/>
            </a:endParaRPr>
          </a:p>
        </p:txBody>
      </p:sp>
      <p:sp>
        <p:nvSpPr>
          <p:cNvPr id="413" name="Google Shape;413;p19"/>
          <p:cNvSpPr/>
          <p:nvPr/>
        </p:nvSpPr>
        <p:spPr>
          <a:xfrm>
            <a:off x="3749040" y="2075688"/>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下書き画面録画で「実際の見え方」を確認してから提出</a:t>
            </a:r>
            <a:endParaRPr b="0" i="0" sz="1550" u="none" cap="none" strike="noStrike">
              <a:solidFill>
                <a:schemeClr val="dk1"/>
              </a:solidFill>
              <a:latin typeface="Calibri"/>
              <a:ea typeface="Calibri"/>
              <a:cs typeface="Calibri"/>
              <a:sym typeface="Calibri"/>
            </a:endParaRPr>
          </a:p>
        </p:txBody>
      </p:sp>
      <p:cxnSp>
        <p:nvCxnSpPr>
          <p:cNvPr id="414" name="Google Shape;414;p19"/>
          <p:cNvCxnSpPr/>
          <p:nvPr/>
        </p:nvCxnSpPr>
        <p:spPr>
          <a:xfrm>
            <a:off x="2944368" y="2903220"/>
            <a:ext cx="5925312" cy="0"/>
          </a:xfrm>
          <a:prstGeom prst="straightConnector1">
            <a:avLst/>
          </a:prstGeom>
          <a:noFill/>
          <a:ln cap="flat" cmpd="sng" w="9525">
            <a:solidFill>
              <a:srgbClr val="D1D5DB"/>
            </a:solidFill>
            <a:prstDash val="solid"/>
            <a:round/>
            <a:headEnd len="sm" w="sm" type="none"/>
            <a:tailEnd len="sm" w="sm" type="none"/>
          </a:ln>
        </p:spPr>
      </p:cxnSp>
      <p:sp>
        <p:nvSpPr>
          <p:cNvPr id="415" name="Google Shape;415;p19"/>
          <p:cNvSpPr/>
          <p:nvPr/>
        </p:nvSpPr>
        <p:spPr>
          <a:xfrm>
            <a:off x="2944368" y="2948940"/>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6" name="Google Shape;416;p19"/>
          <p:cNvSpPr/>
          <p:nvPr/>
        </p:nvSpPr>
        <p:spPr>
          <a:xfrm>
            <a:off x="3072384" y="2948940"/>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04</a:t>
            </a:r>
            <a:endParaRPr b="0" i="0" sz="2000" u="none" cap="none" strike="noStrike">
              <a:solidFill>
                <a:schemeClr val="dk1"/>
              </a:solidFill>
              <a:latin typeface="Calibri"/>
              <a:ea typeface="Calibri"/>
              <a:cs typeface="Calibri"/>
              <a:sym typeface="Calibri"/>
            </a:endParaRPr>
          </a:p>
        </p:txBody>
      </p:sp>
      <p:sp>
        <p:nvSpPr>
          <p:cNvPr id="417" name="Google Shape;417;p19"/>
          <p:cNvSpPr/>
          <p:nvPr/>
        </p:nvSpPr>
        <p:spPr>
          <a:xfrm>
            <a:off x="3749040" y="2948940"/>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カバー画像は文字の読みやすさとビジュアルで選ぶ</a:t>
            </a:r>
            <a:endParaRPr b="0" i="0" sz="1550" u="none" cap="none" strike="noStrike">
              <a:solidFill>
                <a:schemeClr val="dk1"/>
              </a:solidFill>
              <a:latin typeface="Calibri"/>
              <a:ea typeface="Calibri"/>
              <a:cs typeface="Calibri"/>
              <a:sym typeface="Calibri"/>
            </a:endParaRPr>
          </a:p>
        </p:txBody>
      </p:sp>
      <p:sp>
        <p:nvSpPr>
          <p:cNvPr id="418" name="Google Shape;418;p19"/>
          <p:cNvSpPr/>
          <p:nvPr/>
        </p:nvSpPr>
        <p:spPr>
          <a:xfrm>
            <a:off x="2944368" y="3968496"/>
            <a:ext cx="5925312" cy="65836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19" name="Google Shape;419;p19"/>
          <p:cNvSpPr/>
          <p:nvPr/>
        </p:nvSpPr>
        <p:spPr>
          <a:xfrm>
            <a:off x="2944368" y="3968496"/>
            <a:ext cx="59436" cy="65836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0" name="Google Shape;420;p19"/>
          <p:cNvSpPr/>
          <p:nvPr/>
        </p:nvSpPr>
        <p:spPr>
          <a:xfrm>
            <a:off x="3108960" y="3968496"/>
            <a:ext cx="5687568"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030"/>
              </a:buClr>
              <a:buSzPts val="1350"/>
              <a:buFont typeface="Meiryo"/>
              <a:buNone/>
            </a:pPr>
            <a:r>
              <a:rPr b="1" i="0" lang="en-US" sz="1350" u="none" cap="none" strike="noStrike">
                <a:solidFill>
                  <a:srgbClr val="E87030"/>
                </a:solidFill>
                <a:latin typeface="Meiryo"/>
                <a:ea typeface="Meiryo"/>
                <a:cs typeface="Meiryo"/>
                <a:sym typeface="Meiryo"/>
              </a:rPr>
              <a:t>▶  Next  |  動画④：投稿と納品</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5" name="Shape 425"/>
        <p:cNvGrpSpPr/>
        <p:nvPr/>
      </p:nvGrpSpPr>
      <p:grpSpPr>
        <a:xfrm>
          <a:off x="0" y="0"/>
          <a:ext cx="0" cy="0"/>
          <a:chOff x="0" y="0"/>
          <a:chExt cx="0" cy="0"/>
        </a:xfrm>
      </p:grpSpPr>
      <p:sp>
        <p:nvSpPr>
          <p:cNvPr id="426" name="Google Shape;426;p20"/>
          <p:cNvSpPr/>
          <p:nvPr/>
        </p:nvSpPr>
        <p:spPr>
          <a:xfrm>
            <a:off x="0" y="0"/>
            <a:ext cx="2907792"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27" name="Google Shape;427;p20"/>
          <p:cNvSpPr/>
          <p:nvPr/>
        </p:nvSpPr>
        <p:spPr>
          <a:xfrm>
            <a:off x="274320" y="475488"/>
            <a:ext cx="235915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500"/>
              <a:buFont typeface="Meiryo"/>
              <a:buNone/>
            </a:pPr>
            <a:r>
              <a:rPr b="1" i="0" lang="en-US" sz="1500" u="none" cap="none" strike="noStrike">
                <a:solidFill>
                  <a:srgbClr val="A0B8D8"/>
                </a:solidFill>
                <a:latin typeface="Meiryo"/>
                <a:ea typeface="Meiryo"/>
                <a:cs typeface="Meiryo"/>
                <a:sym typeface="Meiryo"/>
              </a:rPr>
              <a:t>第3章</a:t>
            </a:r>
            <a:endParaRPr b="0" i="0" sz="1500" u="none" cap="none" strike="noStrike">
              <a:solidFill>
                <a:schemeClr val="dk1"/>
              </a:solidFill>
              <a:latin typeface="Calibri"/>
              <a:ea typeface="Calibri"/>
              <a:cs typeface="Calibri"/>
              <a:sym typeface="Calibri"/>
            </a:endParaRPr>
          </a:p>
        </p:txBody>
      </p:sp>
      <p:sp>
        <p:nvSpPr>
          <p:cNvPr id="428" name="Google Shape;428;p20"/>
          <p:cNvSpPr/>
          <p:nvPr/>
        </p:nvSpPr>
        <p:spPr>
          <a:xfrm>
            <a:off x="274320" y="868680"/>
            <a:ext cx="2359152"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5000"/>
              <a:buFont typeface="Meiryo"/>
              <a:buNone/>
            </a:pPr>
            <a:r>
              <a:rPr b="1" i="0" lang="en-US" sz="5000" u="none" cap="none" strike="noStrike">
                <a:solidFill>
                  <a:srgbClr val="FFFFFF"/>
                </a:solidFill>
                <a:latin typeface="Meiryo"/>
                <a:ea typeface="Meiryo"/>
                <a:cs typeface="Meiryo"/>
                <a:sym typeface="Meiryo"/>
              </a:rPr>
              <a:t>動画④</a:t>
            </a:r>
            <a:endParaRPr b="0" i="0" sz="5000" u="none" cap="none" strike="noStrike">
              <a:solidFill>
                <a:schemeClr val="dk1"/>
              </a:solidFill>
              <a:latin typeface="Calibri"/>
              <a:ea typeface="Calibri"/>
              <a:cs typeface="Calibri"/>
              <a:sym typeface="Calibri"/>
            </a:endParaRPr>
          </a:p>
        </p:txBody>
      </p:sp>
      <p:sp>
        <p:nvSpPr>
          <p:cNvPr id="429" name="Google Shape;429;p20"/>
          <p:cNvSpPr/>
          <p:nvPr/>
        </p:nvSpPr>
        <p:spPr>
          <a:xfrm>
            <a:off x="274320" y="2011680"/>
            <a:ext cx="2359152"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300"/>
              <a:buFont typeface="Meiryo"/>
              <a:buNone/>
            </a:pPr>
            <a:r>
              <a:rPr b="0" i="0" lang="en-US" sz="1300" u="none" cap="none" strike="noStrike">
                <a:solidFill>
                  <a:srgbClr val="A0B8D8"/>
                </a:solidFill>
                <a:latin typeface="Meiryo"/>
                <a:ea typeface="Meiryo"/>
                <a:cs typeface="Meiryo"/>
                <a:sym typeface="Meiryo"/>
              </a:rPr>
              <a:t>進行フロー・ビジネス連絡</a:t>
            </a:r>
            <a:endParaRPr b="0" i="0" sz="1300" u="none" cap="none" strike="noStrike">
              <a:solidFill>
                <a:schemeClr val="dk1"/>
              </a:solidFill>
              <a:latin typeface="Calibri"/>
              <a:ea typeface="Calibri"/>
              <a:cs typeface="Calibri"/>
              <a:sym typeface="Calibri"/>
            </a:endParaRPr>
          </a:p>
        </p:txBody>
      </p:sp>
      <p:sp>
        <p:nvSpPr>
          <p:cNvPr id="430" name="Google Shape;430;p20"/>
          <p:cNvSpPr/>
          <p:nvPr/>
        </p:nvSpPr>
        <p:spPr>
          <a:xfrm>
            <a:off x="274320" y="2816352"/>
            <a:ext cx="1389888" cy="4023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1" name="Google Shape;431;p20"/>
          <p:cNvSpPr/>
          <p:nvPr/>
        </p:nvSpPr>
        <p:spPr>
          <a:xfrm>
            <a:off x="274320" y="2816352"/>
            <a:ext cx="1389888"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  約5分</a:t>
            </a:r>
            <a:endParaRPr b="0" i="0" sz="1300" u="none" cap="none" strike="noStrike">
              <a:solidFill>
                <a:schemeClr val="dk1"/>
              </a:solidFill>
              <a:latin typeface="Calibri"/>
              <a:ea typeface="Calibri"/>
              <a:cs typeface="Calibri"/>
              <a:sym typeface="Calibri"/>
            </a:endParaRPr>
          </a:p>
        </p:txBody>
      </p:sp>
      <p:sp>
        <p:nvSpPr>
          <p:cNvPr id="432" name="Google Shape;432;p20"/>
          <p:cNvSpPr/>
          <p:nvPr/>
        </p:nvSpPr>
        <p:spPr>
          <a:xfrm>
            <a:off x="3127248" y="219456"/>
            <a:ext cx="5742432"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800"/>
              <a:buFont typeface="Meiryo"/>
              <a:buNone/>
            </a:pPr>
            <a:r>
              <a:rPr b="0" i="0" lang="en-US" sz="800" u="none" cap="none" strike="noStrike">
                <a:solidFill>
                  <a:srgbClr val="1E3068"/>
                </a:solidFill>
                <a:latin typeface="Meiryo"/>
                <a:ea typeface="Meiryo"/>
                <a:cs typeface="Meiryo"/>
                <a:sym typeface="Meiryo"/>
              </a:rPr>
              <a:t>CREATOR NETWORK TRAINING</a:t>
            </a:r>
            <a:endParaRPr b="0" i="0" sz="800" u="none" cap="none" strike="noStrike">
              <a:solidFill>
                <a:schemeClr val="dk1"/>
              </a:solidFill>
              <a:latin typeface="Calibri"/>
              <a:ea typeface="Calibri"/>
              <a:cs typeface="Calibri"/>
              <a:sym typeface="Calibri"/>
            </a:endParaRPr>
          </a:p>
        </p:txBody>
      </p:sp>
      <p:sp>
        <p:nvSpPr>
          <p:cNvPr id="433" name="Google Shape;433;p20"/>
          <p:cNvSpPr/>
          <p:nvPr/>
        </p:nvSpPr>
        <p:spPr>
          <a:xfrm>
            <a:off x="3127248" y="621792"/>
            <a:ext cx="5577840" cy="2606040"/>
          </a:xfrm>
          <a:prstGeom prst="rect">
            <a:avLst/>
          </a:prstGeom>
          <a:noFill/>
          <a:ln>
            <a:noFill/>
          </a:ln>
        </p:spPr>
        <p:txBody>
          <a:bodyPr anchorCtr="0" anchor="t" bIns="45700" lIns="91425" spcFirstLastPara="1" rIns="91425" wrap="square" tIns="45700">
            <a:noAutofit/>
          </a:bodyPr>
          <a:lstStyle/>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投稿と納品</a:t>
            </a:r>
            <a:endParaRPr b="0" i="0" sz="3800" u="none" cap="none" strike="noStrike">
              <a:solidFill>
                <a:schemeClr val="dk1"/>
              </a:solidFill>
              <a:latin typeface="Calibri"/>
              <a:ea typeface="Calibri"/>
              <a:cs typeface="Calibri"/>
              <a:sym typeface="Calibri"/>
            </a:endParaRPr>
          </a:p>
        </p:txBody>
      </p:sp>
      <p:sp>
        <p:nvSpPr>
          <p:cNvPr id="434" name="Google Shape;434;p20"/>
          <p:cNvSpPr/>
          <p:nvPr/>
        </p:nvSpPr>
        <p:spPr>
          <a:xfrm>
            <a:off x="3127248" y="3364992"/>
            <a:ext cx="1920240"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p20"/>
          <p:cNvSpPr/>
          <p:nvPr/>
        </p:nvSpPr>
        <p:spPr>
          <a:xfrm>
            <a:off x="3127248" y="3529584"/>
            <a:ext cx="55778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400"/>
              <a:buFont typeface="Meiryo"/>
              <a:buNone/>
            </a:pPr>
            <a:r>
              <a:rPr b="0" i="0" lang="en-US" sz="1400" u="none" cap="none" strike="noStrike">
                <a:solidFill>
                  <a:srgbClr val="6B7280"/>
                </a:solidFill>
                <a:latin typeface="Meiryo"/>
                <a:ea typeface="Meiryo"/>
                <a:cs typeface="Meiryo"/>
                <a:sym typeface="Meiryo"/>
              </a:rPr>
              <a:t>クリエイターネットワーク研修</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440" name="Shape 440"/>
        <p:cNvGrpSpPr/>
        <p:nvPr/>
      </p:nvGrpSpPr>
      <p:grpSpPr>
        <a:xfrm>
          <a:off x="0" y="0"/>
          <a:ext cx="0" cy="0"/>
          <a:chOff x="0" y="0"/>
          <a:chExt cx="0" cy="0"/>
        </a:xfrm>
      </p:grpSpPr>
      <p:sp>
        <p:nvSpPr>
          <p:cNvPr id="441" name="Google Shape;441;p21"/>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2" name="Google Shape;442;p21"/>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この動画で学ぶこと</a:t>
            </a:r>
            <a:endParaRPr b="0" i="0" sz="2100" u="none" cap="none" strike="noStrike">
              <a:solidFill>
                <a:schemeClr val="dk1"/>
              </a:solidFill>
              <a:latin typeface="Calibri"/>
              <a:ea typeface="Calibri"/>
              <a:cs typeface="Calibri"/>
              <a:sym typeface="Calibri"/>
            </a:endParaRPr>
          </a:p>
        </p:txBody>
      </p:sp>
      <p:sp>
        <p:nvSpPr>
          <p:cNvPr id="443" name="Google Shape;443;p21"/>
          <p:cNvSpPr/>
          <p:nvPr/>
        </p:nvSpPr>
        <p:spPr>
          <a:xfrm>
            <a:off x="310896"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4" name="Google Shape;444;p21"/>
          <p:cNvSpPr/>
          <p:nvPr/>
        </p:nvSpPr>
        <p:spPr>
          <a:xfrm>
            <a:off x="310896"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5" name="Google Shape;445;p21"/>
          <p:cNvSpPr/>
          <p:nvPr/>
        </p:nvSpPr>
        <p:spPr>
          <a:xfrm>
            <a:off x="566928"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446" name="Google Shape;446;p21"/>
          <p:cNvSpPr/>
          <p:nvPr/>
        </p:nvSpPr>
        <p:spPr>
          <a:xfrm>
            <a:off x="512064"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投稿前に</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確認すべきこと</a:t>
            </a:r>
            <a:endParaRPr b="0" i="0" sz="1550" u="none" cap="none" strike="noStrike">
              <a:solidFill>
                <a:schemeClr val="dk1"/>
              </a:solidFill>
              <a:latin typeface="Calibri"/>
              <a:ea typeface="Calibri"/>
              <a:cs typeface="Calibri"/>
              <a:sym typeface="Calibri"/>
            </a:endParaRPr>
          </a:p>
        </p:txBody>
      </p:sp>
      <p:sp>
        <p:nvSpPr>
          <p:cNvPr id="447" name="Google Shape;447;p21"/>
          <p:cNvSpPr/>
          <p:nvPr/>
        </p:nvSpPr>
        <p:spPr>
          <a:xfrm>
            <a:off x="512064"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見落としが法律</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違反につながる</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チェックポイント</a:t>
            </a:r>
            <a:endParaRPr b="0" i="0" sz="1300" u="none" cap="none" strike="noStrike">
              <a:solidFill>
                <a:schemeClr val="dk1"/>
              </a:solidFill>
              <a:latin typeface="Calibri"/>
              <a:ea typeface="Calibri"/>
              <a:cs typeface="Calibri"/>
              <a:sym typeface="Calibri"/>
            </a:endParaRPr>
          </a:p>
        </p:txBody>
      </p:sp>
      <p:sp>
        <p:nvSpPr>
          <p:cNvPr id="448" name="Google Shape;448;p21"/>
          <p:cNvSpPr/>
          <p:nvPr/>
        </p:nvSpPr>
        <p:spPr>
          <a:xfrm>
            <a:off x="3081528"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49" name="Google Shape;449;p21"/>
          <p:cNvSpPr/>
          <p:nvPr/>
        </p:nvSpPr>
        <p:spPr>
          <a:xfrm>
            <a:off x="3081528"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0" name="Google Shape;450;p21"/>
          <p:cNvSpPr/>
          <p:nvPr/>
        </p:nvSpPr>
        <p:spPr>
          <a:xfrm>
            <a:off x="3337560"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451" name="Google Shape;451;p21"/>
          <p:cNvSpPr/>
          <p:nvPr/>
        </p:nvSpPr>
        <p:spPr>
          <a:xfrm>
            <a:off x="3282696"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投稿後に</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すぐやること</a:t>
            </a:r>
            <a:endParaRPr b="0" i="0" sz="1550" u="none" cap="none" strike="noStrike">
              <a:solidFill>
                <a:schemeClr val="dk1"/>
              </a:solidFill>
              <a:latin typeface="Calibri"/>
              <a:ea typeface="Calibri"/>
              <a:cs typeface="Calibri"/>
              <a:sym typeface="Calibri"/>
            </a:endParaRPr>
          </a:p>
        </p:txBody>
      </p:sp>
      <p:sp>
        <p:nvSpPr>
          <p:cNvPr id="452" name="Google Shape;452;p21"/>
          <p:cNvSpPr/>
          <p:nvPr/>
        </p:nvSpPr>
        <p:spPr>
          <a:xfrm>
            <a:off x="3282696"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URLシェアまでが</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仕事の一部</a:t>
            </a:r>
            <a:endParaRPr b="0" i="0" sz="1300" u="none" cap="none" strike="noStrike">
              <a:solidFill>
                <a:schemeClr val="dk1"/>
              </a:solidFill>
              <a:latin typeface="Calibri"/>
              <a:ea typeface="Calibri"/>
              <a:cs typeface="Calibri"/>
              <a:sym typeface="Calibri"/>
            </a:endParaRPr>
          </a:p>
        </p:txBody>
      </p:sp>
      <p:sp>
        <p:nvSpPr>
          <p:cNvPr id="453" name="Google Shape;453;p21"/>
          <p:cNvSpPr/>
          <p:nvPr/>
        </p:nvSpPr>
        <p:spPr>
          <a:xfrm>
            <a:off x="5852160"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4" name="Google Shape;454;p21"/>
          <p:cNvSpPr/>
          <p:nvPr/>
        </p:nvSpPr>
        <p:spPr>
          <a:xfrm>
            <a:off x="5852160"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55" name="Google Shape;455;p21"/>
          <p:cNvSpPr/>
          <p:nvPr/>
        </p:nvSpPr>
        <p:spPr>
          <a:xfrm>
            <a:off x="6108192"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456" name="Google Shape;456;p21"/>
          <p:cNvSpPr/>
          <p:nvPr/>
        </p:nvSpPr>
        <p:spPr>
          <a:xfrm>
            <a:off x="6053328"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完パケ動画と</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広告コードとは</a:t>
            </a:r>
            <a:endParaRPr b="0" i="0" sz="1550" u="none" cap="none" strike="noStrike">
              <a:solidFill>
                <a:schemeClr val="dk1"/>
              </a:solidFill>
              <a:latin typeface="Calibri"/>
              <a:ea typeface="Calibri"/>
              <a:cs typeface="Calibri"/>
              <a:sym typeface="Calibri"/>
            </a:endParaRPr>
          </a:p>
        </p:txBody>
      </p:sp>
      <p:sp>
        <p:nvSpPr>
          <p:cNvPr id="457" name="Google Shape;457;p21"/>
          <p:cNvSpPr/>
          <p:nvPr/>
        </p:nvSpPr>
        <p:spPr>
          <a:xfrm>
            <a:off x="6053328"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二次利用がある</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場合の追加対応</a:t>
            </a:r>
            <a:endParaRPr b="0" i="0" sz="1300" u="none" cap="none" strike="noStrike">
              <a:solidFill>
                <a:schemeClr val="dk1"/>
              </a:solidFill>
              <a:latin typeface="Calibri"/>
              <a:ea typeface="Calibri"/>
              <a:cs typeface="Calibri"/>
              <a:sym typeface="Calibri"/>
            </a:endParaRPr>
          </a:p>
        </p:txBody>
      </p:sp>
      <p:sp>
        <p:nvSpPr>
          <p:cNvPr id="458" name="Google Shape;458;p21"/>
          <p:cNvSpPr/>
          <p:nvPr/>
        </p:nvSpPr>
        <p:spPr>
          <a:xfrm>
            <a:off x="2140055" y="884713"/>
            <a:ext cx="859200" cy="4800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t/>
            </a:r>
            <a:endParaRPr b="1" sz="2400">
              <a:solidFill>
                <a:srgbClr val="D1D5DB"/>
              </a:solidFill>
              <a:latin typeface="Meiryo"/>
              <a:ea typeface="Meiryo"/>
              <a:cs typeface="Meiryo"/>
              <a:sym typeface="Meiryo"/>
            </a:endParaRPr>
          </a:p>
          <a:p>
            <a:pPr indent="0" lvl="0" marL="0" marR="0" rtl="0" algn="r">
              <a:spcBef>
                <a:spcPts val="0"/>
              </a:spcBef>
              <a:spcAft>
                <a:spcPts val="0"/>
              </a:spcAft>
              <a:buClr>
                <a:srgbClr val="D1D5DB"/>
              </a:buClr>
              <a:buSzPts val="2400"/>
              <a:buFont typeface="Meiryo"/>
              <a:buNone/>
            </a:pPr>
            <a:r>
              <a:rPr b="1" lang="en-US" sz="2400">
                <a:solidFill>
                  <a:srgbClr val="D1D5DB"/>
                </a:solidFill>
                <a:latin typeface="Meiryo"/>
                <a:ea typeface="Meiryo"/>
                <a:cs typeface="Meiryo"/>
                <a:sym typeface="Meiryo"/>
              </a:rPr>
              <a:t>0</a:t>
            </a:r>
            <a:r>
              <a:rPr b="1" i="0" lang="en-US" sz="2400" u="none" cap="none" strike="noStrike">
                <a:solidFill>
                  <a:srgbClr val="D1D5DB"/>
                </a:solidFill>
                <a:latin typeface="Meiryo"/>
                <a:ea typeface="Meiryo"/>
                <a:cs typeface="Meiryo"/>
                <a:sym typeface="Meiryo"/>
              </a:rPr>
              <a:t>1</a:t>
            </a:r>
            <a:endParaRPr b="0" i="0" sz="2400" u="none" cap="none" strike="noStrike">
              <a:solidFill>
                <a:schemeClr val="dk1"/>
              </a:solidFill>
              <a:latin typeface="Calibri"/>
              <a:ea typeface="Calibri"/>
              <a:cs typeface="Calibri"/>
              <a:sym typeface="Calibri"/>
            </a:endParaRPr>
          </a:p>
        </p:txBody>
      </p:sp>
      <p:sp>
        <p:nvSpPr>
          <p:cNvPr id="459" name="Google Shape;459;p21"/>
          <p:cNvSpPr/>
          <p:nvPr/>
        </p:nvSpPr>
        <p:spPr>
          <a:xfrm>
            <a:off x="5074926"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02</a:t>
            </a:r>
            <a:endParaRPr b="0" i="0" sz="2400" u="none" cap="none" strike="noStrike">
              <a:solidFill>
                <a:schemeClr val="dk1"/>
              </a:solidFill>
              <a:latin typeface="Calibri"/>
              <a:ea typeface="Calibri"/>
              <a:cs typeface="Calibri"/>
              <a:sym typeface="Calibri"/>
            </a:endParaRPr>
          </a:p>
        </p:txBody>
      </p:sp>
      <p:sp>
        <p:nvSpPr>
          <p:cNvPr id="460" name="Google Shape;460;p21"/>
          <p:cNvSpPr/>
          <p:nvPr/>
        </p:nvSpPr>
        <p:spPr>
          <a:xfrm>
            <a:off x="7845550"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03</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465" name="Shape 465"/>
        <p:cNvGrpSpPr/>
        <p:nvPr/>
      </p:nvGrpSpPr>
      <p:grpSpPr>
        <a:xfrm>
          <a:off x="0" y="0"/>
          <a:ext cx="0" cy="0"/>
          <a:chOff x="0" y="0"/>
          <a:chExt cx="0" cy="0"/>
        </a:xfrm>
      </p:grpSpPr>
      <p:sp>
        <p:nvSpPr>
          <p:cNvPr id="466" name="Google Shape;466;p22"/>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7" name="Google Shape;467;p22"/>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投稿前 セルフチェックリスト</a:t>
            </a:r>
            <a:endParaRPr b="0" i="0" sz="2100" u="none" cap="none" strike="noStrike">
              <a:solidFill>
                <a:schemeClr val="dk1"/>
              </a:solidFill>
              <a:latin typeface="Calibri"/>
              <a:ea typeface="Calibri"/>
              <a:cs typeface="Calibri"/>
              <a:sym typeface="Calibri"/>
            </a:endParaRPr>
          </a:p>
        </p:txBody>
      </p:sp>
      <p:sp>
        <p:nvSpPr>
          <p:cNvPr id="468" name="Google Shape;468;p22"/>
          <p:cNvSpPr/>
          <p:nvPr/>
        </p:nvSpPr>
        <p:spPr>
          <a:xfrm>
            <a:off x="310896" y="786384"/>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69" name="Google Shape;469;p22"/>
          <p:cNvSpPr/>
          <p:nvPr/>
        </p:nvSpPr>
        <p:spPr>
          <a:xfrm>
            <a:off x="310896" y="786384"/>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0" name="Google Shape;470;p22"/>
          <p:cNvSpPr/>
          <p:nvPr/>
        </p:nvSpPr>
        <p:spPr>
          <a:xfrm>
            <a:off x="493776" y="886968"/>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1" name="Google Shape;471;p22"/>
          <p:cNvSpPr/>
          <p:nvPr/>
        </p:nvSpPr>
        <p:spPr>
          <a:xfrm>
            <a:off x="493776" y="8869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472" name="Google Shape;472;p22"/>
          <p:cNvSpPr/>
          <p:nvPr/>
        </p:nvSpPr>
        <p:spPr>
          <a:xfrm>
            <a:off x="950976" y="786384"/>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#PR・#広告 等のステマ表記がされているか（法律上の義務！）</a:t>
            </a:r>
            <a:endParaRPr b="0" i="0" sz="1450" u="none" cap="none" strike="noStrike">
              <a:solidFill>
                <a:schemeClr val="dk1"/>
              </a:solidFill>
              <a:latin typeface="Calibri"/>
              <a:ea typeface="Calibri"/>
              <a:cs typeface="Calibri"/>
              <a:sym typeface="Calibri"/>
            </a:endParaRPr>
          </a:p>
        </p:txBody>
      </p:sp>
      <p:sp>
        <p:nvSpPr>
          <p:cNvPr id="473" name="Google Shape;473;p22"/>
          <p:cNvSpPr/>
          <p:nvPr/>
        </p:nvSpPr>
        <p:spPr>
          <a:xfrm>
            <a:off x="310896" y="1417320"/>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4" name="Google Shape;474;p22"/>
          <p:cNvSpPr/>
          <p:nvPr/>
        </p:nvSpPr>
        <p:spPr>
          <a:xfrm>
            <a:off x="310896" y="1417320"/>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5" name="Google Shape;475;p22"/>
          <p:cNvSpPr/>
          <p:nvPr/>
        </p:nvSpPr>
        <p:spPr>
          <a:xfrm>
            <a:off x="493776" y="1517904"/>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6" name="Google Shape;476;p22"/>
          <p:cNvSpPr/>
          <p:nvPr/>
        </p:nvSpPr>
        <p:spPr>
          <a:xfrm>
            <a:off x="493776" y="1517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477" name="Google Shape;477;p22"/>
          <p:cNvSpPr/>
          <p:nvPr/>
        </p:nvSpPr>
        <p:spPr>
          <a:xfrm>
            <a:off x="950976" y="1417320"/>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商品名・ブランド名のスペルに間違いはないか</a:t>
            </a:r>
            <a:endParaRPr b="0" i="0" sz="1450" u="none" cap="none" strike="noStrike">
              <a:solidFill>
                <a:schemeClr val="dk1"/>
              </a:solidFill>
              <a:latin typeface="Calibri"/>
              <a:ea typeface="Calibri"/>
              <a:cs typeface="Calibri"/>
              <a:sym typeface="Calibri"/>
            </a:endParaRPr>
          </a:p>
        </p:txBody>
      </p:sp>
      <p:sp>
        <p:nvSpPr>
          <p:cNvPr id="478" name="Google Shape;478;p22"/>
          <p:cNvSpPr/>
          <p:nvPr/>
        </p:nvSpPr>
        <p:spPr>
          <a:xfrm>
            <a:off x="310896" y="2048256"/>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79" name="Google Shape;479;p22"/>
          <p:cNvSpPr/>
          <p:nvPr/>
        </p:nvSpPr>
        <p:spPr>
          <a:xfrm>
            <a:off x="310896" y="2048256"/>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0" name="Google Shape;480;p22"/>
          <p:cNvSpPr/>
          <p:nvPr/>
        </p:nvSpPr>
        <p:spPr>
          <a:xfrm>
            <a:off x="493776" y="2148840"/>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1" name="Google Shape;481;p22"/>
          <p:cNvSpPr/>
          <p:nvPr/>
        </p:nvSpPr>
        <p:spPr>
          <a:xfrm>
            <a:off x="493776" y="214884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482" name="Google Shape;482;p22"/>
          <p:cNvSpPr/>
          <p:nvPr/>
        </p:nvSpPr>
        <p:spPr>
          <a:xfrm>
            <a:off x="950976" y="2048256"/>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テロップに誤字脱字はないか</a:t>
            </a:r>
            <a:endParaRPr b="0" i="0" sz="1450" u="none" cap="none" strike="noStrike">
              <a:solidFill>
                <a:schemeClr val="dk1"/>
              </a:solidFill>
              <a:latin typeface="Calibri"/>
              <a:ea typeface="Calibri"/>
              <a:cs typeface="Calibri"/>
              <a:sym typeface="Calibri"/>
            </a:endParaRPr>
          </a:p>
        </p:txBody>
      </p:sp>
      <p:sp>
        <p:nvSpPr>
          <p:cNvPr id="483" name="Google Shape;483;p22"/>
          <p:cNvSpPr/>
          <p:nvPr/>
        </p:nvSpPr>
        <p:spPr>
          <a:xfrm>
            <a:off x="310896" y="2679192"/>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4" name="Google Shape;484;p22"/>
          <p:cNvSpPr/>
          <p:nvPr/>
        </p:nvSpPr>
        <p:spPr>
          <a:xfrm>
            <a:off x="310896" y="2679192"/>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5" name="Google Shape;485;p22"/>
          <p:cNvSpPr/>
          <p:nvPr/>
        </p:nvSpPr>
        <p:spPr>
          <a:xfrm>
            <a:off x="493776" y="2779776"/>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6" name="Google Shape;486;p22"/>
          <p:cNvSpPr/>
          <p:nvPr/>
        </p:nvSpPr>
        <p:spPr>
          <a:xfrm>
            <a:off x="493776" y="277977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487" name="Google Shape;487;p22"/>
          <p:cNvSpPr/>
          <p:nvPr/>
        </p:nvSpPr>
        <p:spPr>
          <a:xfrm>
            <a:off x="950976" y="2679192"/>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音声・BGMのボリュームバランスはOKか</a:t>
            </a:r>
            <a:endParaRPr b="0" i="0" sz="1450" u="none" cap="none" strike="noStrike">
              <a:solidFill>
                <a:schemeClr val="dk1"/>
              </a:solidFill>
              <a:latin typeface="Calibri"/>
              <a:ea typeface="Calibri"/>
              <a:cs typeface="Calibri"/>
              <a:sym typeface="Calibri"/>
            </a:endParaRPr>
          </a:p>
        </p:txBody>
      </p:sp>
      <p:sp>
        <p:nvSpPr>
          <p:cNvPr id="488" name="Google Shape;488;p22"/>
          <p:cNvSpPr/>
          <p:nvPr/>
        </p:nvSpPr>
        <p:spPr>
          <a:xfrm>
            <a:off x="310896" y="3310128"/>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89" name="Google Shape;489;p22"/>
          <p:cNvSpPr/>
          <p:nvPr/>
        </p:nvSpPr>
        <p:spPr>
          <a:xfrm>
            <a:off x="310896" y="3310128"/>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p22"/>
          <p:cNvSpPr/>
          <p:nvPr/>
        </p:nvSpPr>
        <p:spPr>
          <a:xfrm>
            <a:off x="493776" y="3410712"/>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1" name="Google Shape;491;p22"/>
          <p:cNvSpPr/>
          <p:nvPr/>
        </p:nvSpPr>
        <p:spPr>
          <a:xfrm>
            <a:off x="493776" y="3410712"/>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492" name="Google Shape;492;p22"/>
          <p:cNvSpPr/>
          <p:nvPr/>
        </p:nvSpPr>
        <p:spPr>
          <a:xfrm>
            <a:off x="950976" y="3310128"/>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TORIHADAから「投稿OK」のGoサインが来ているか</a:t>
            </a:r>
            <a:endParaRPr b="0" i="0" sz="1450" u="none" cap="none" strike="noStrike">
              <a:solidFill>
                <a:schemeClr val="dk1"/>
              </a:solidFill>
              <a:latin typeface="Calibri"/>
              <a:ea typeface="Calibri"/>
              <a:cs typeface="Calibri"/>
              <a:sym typeface="Calibri"/>
            </a:endParaRPr>
          </a:p>
        </p:txBody>
      </p:sp>
      <p:sp>
        <p:nvSpPr>
          <p:cNvPr id="493" name="Google Shape;493;p22"/>
          <p:cNvSpPr/>
          <p:nvPr/>
        </p:nvSpPr>
        <p:spPr>
          <a:xfrm>
            <a:off x="310896" y="4032504"/>
            <a:ext cx="8522208" cy="493776"/>
          </a:xfrm>
          <a:prstGeom prst="rect">
            <a:avLst/>
          </a:prstGeom>
          <a:solidFill>
            <a:srgbClr val="FEF3C7"/>
          </a:solidFill>
          <a:ln cap="flat" cmpd="sng" w="9525">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494" name="Google Shape;494;p22"/>
          <p:cNvSpPr/>
          <p:nvPr/>
        </p:nvSpPr>
        <p:spPr>
          <a:xfrm>
            <a:off x="457200" y="4032504"/>
            <a:ext cx="832104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300"/>
              <a:buFont typeface="Meiryo"/>
              <a:buNone/>
            </a:pPr>
            <a:r>
              <a:rPr b="1" i="0" lang="en-US" sz="1300" u="none" cap="none" strike="noStrike">
                <a:solidFill>
                  <a:srgbClr val="92400E"/>
                </a:solidFill>
                <a:latin typeface="Meiryo"/>
                <a:ea typeface="Meiryo"/>
                <a:cs typeface="Meiryo"/>
                <a:sym typeface="Meiryo"/>
              </a:rPr>
              <a:t>⚠️  Goサインなしに投稿するのは厳禁！必ず確認を待ってから投稿してください</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499" name="Shape 499"/>
        <p:cNvGrpSpPr/>
        <p:nvPr/>
      </p:nvGrpSpPr>
      <p:grpSpPr>
        <a:xfrm>
          <a:off x="0" y="0"/>
          <a:ext cx="0" cy="0"/>
          <a:chOff x="0" y="0"/>
          <a:chExt cx="0" cy="0"/>
        </a:xfrm>
      </p:grpSpPr>
      <p:sp>
        <p:nvSpPr>
          <p:cNvPr id="500" name="Google Shape;500;p23"/>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1" name="Google Shape;501;p23"/>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投稿したら「即」URLを共有！</a:t>
            </a:r>
            <a:endParaRPr b="0" i="0" sz="2100" u="none" cap="none" strike="noStrike">
              <a:solidFill>
                <a:schemeClr val="dk1"/>
              </a:solidFill>
              <a:latin typeface="Calibri"/>
              <a:ea typeface="Calibri"/>
              <a:cs typeface="Calibri"/>
              <a:sym typeface="Calibri"/>
            </a:endParaRPr>
          </a:p>
        </p:txBody>
      </p:sp>
      <p:sp>
        <p:nvSpPr>
          <p:cNvPr id="502" name="Google Shape;502;p23"/>
          <p:cNvSpPr/>
          <p:nvPr/>
        </p:nvSpPr>
        <p:spPr>
          <a:xfrm>
            <a:off x="310896" y="804672"/>
            <a:ext cx="8522208" cy="749808"/>
          </a:xfrm>
          <a:prstGeom prst="rect">
            <a:avLst/>
          </a:prstGeom>
          <a:solidFill>
            <a:srgbClr val="E8EAF6"/>
          </a:solidFill>
          <a:ln cap="flat" cmpd="sng" w="9525">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3" name="Google Shape;503;p23"/>
          <p:cNvSpPr/>
          <p:nvPr/>
        </p:nvSpPr>
        <p:spPr>
          <a:xfrm>
            <a:off x="310896" y="804672"/>
            <a:ext cx="59436" cy="74980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4" name="Google Shape;504;p23"/>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  投稿＝終わりではない。URLを共有するまでが仕事！</a:t>
            </a:r>
            <a:endParaRPr b="0" i="0" sz="1550" u="none" cap="none" strike="noStrike">
              <a:solidFill>
                <a:schemeClr val="dk1"/>
              </a:solidFill>
              <a:latin typeface="Calibri"/>
              <a:ea typeface="Calibri"/>
              <a:cs typeface="Calibri"/>
              <a:sym typeface="Calibri"/>
            </a:endParaRPr>
          </a:p>
        </p:txBody>
      </p:sp>
      <p:sp>
        <p:nvSpPr>
          <p:cNvPr id="505" name="Google Shape;505;p23"/>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6" name="Google Shape;506;p23"/>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7" name="Google Shape;507;p23"/>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投稿完了したら、すぐに投稿URLをTORIHADA担当者にシェア</a:t>
            </a:r>
            <a:endParaRPr b="0" i="0" sz="1450" u="none" cap="none" strike="noStrike">
              <a:solidFill>
                <a:schemeClr val="dk1"/>
              </a:solidFill>
              <a:latin typeface="Calibri"/>
              <a:ea typeface="Calibri"/>
              <a:cs typeface="Calibri"/>
              <a:sym typeface="Calibri"/>
            </a:endParaRPr>
          </a:p>
        </p:txBody>
      </p:sp>
      <p:sp>
        <p:nvSpPr>
          <p:cNvPr id="508" name="Google Shape;508;p23"/>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09" name="Google Shape;509;p23"/>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0" name="Google Shape;510;p23"/>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メッセージ例：「投稿しました！URL：https://...」</a:t>
            </a:r>
            <a:endParaRPr b="0" i="0" sz="1450" u="none" cap="none" strike="noStrike">
              <a:solidFill>
                <a:schemeClr val="dk1"/>
              </a:solidFill>
              <a:latin typeface="Calibri"/>
              <a:ea typeface="Calibri"/>
              <a:cs typeface="Calibri"/>
              <a:sym typeface="Calibri"/>
            </a:endParaRPr>
          </a:p>
        </p:txBody>
      </p:sp>
      <p:sp>
        <p:nvSpPr>
          <p:cNvPr id="511" name="Google Shape;511;p23"/>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2" name="Google Shape;512;p23"/>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3" name="Google Shape;513;p23"/>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報告が遅れると「投稿確認ができない」「広告配信が遅れる」などの問題が発生</a:t>
            </a:r>
            <a:endParaRPr b="0" i="0" sz="1450" u="none" cap="none" strike="noStrike">
              <a:solidFill>
                <a:schemeClr val="dk1"/>
              </a:solidFill>
              <a:latin typeface="Calibri"/>
              <a:ea typeface="Calibri"/>
              <a:cs typeface="Calibri"/>
              <a:sym typeface="Calibri"/>
            </a:endParaRPr>
          </a:p>
        </p:txBody>
      </p:sp>
      <p:sp>
        <p:nvSpPr>
          <p:cNvPr id="514" name="Google Shape;514;p23"/>
          <p:cNvSpPr/>
          <p:nvPr/>
        </p:nvSpPr>
        <p:spPr>
          <a:xfrm>
            <a:off x="310896" y="3950208"/>
            <a:ext cx="8522208" cy="47548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15" name="Google Shape;515;p23"/>
          <p:cNvSpPr/>
          <p:nvPr/>
        </p:nvSpPr>
        <p:spPr>
          <a:xfrm>
            <a:off x="457200" y="3950208"/>
            <a:ext cx="83210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250"/>
              <a:buFont typeface="Meiryo"/>
              <a:buNone/>
            </a:pPr>
            <a:r>
              <a:rPr b="0" i="0" lang="en-US" sz="1250" u="none" cap="none" strike="noStrike">
                <a:solidFill>
                  <a:srgbClr val="B45309"/>
                </a:solidFill>
                <a:latin typeface="Meiryo"/>
                <a:ea typeface="Meiryo"/>
                <a:cs typeface="Meiryo"/>
                <a:sym typeface="Meiryo"/>
              </a:rPr>
              <a:t>💡  「すぐに」の目安は投稿後</a:t>
            </a:r>
            <a:r>
              <a:rPr lang="en-US" sz="1250">
                <a:solidFill>
                  <a:srgbClr val="B45309"/>
                </a:solidFill>
                <a:latin typeface="Meiryo"/>
                <a:ea typeface="Meiryo"/>
                <a:cs typeface="Meiryo"/>
                <a:sym typeface="Meiryo"/>
              </a:rPr>
              <a:t>15</a:t>
            </a:r>
            <a:r>
              <a:rPr b="0" i="0" lang="en-US" sz="1250" u="none" cap="none" strike="noStrike">
                <a:solidFill>
                  <a:srgbClr val="B45309"/>
                </a:solidFill>
                <a:latin typeface="Meiryo"/>
                <a:ea typeface="Meiryo"/>
                <a:cs typeface="Meiryo"/>
                <a:sym typeface="Meiryo"/>
              </a:rPr>
              <a:t>分以内。スピードが信頼につながります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520" name="Shape 520"/>
        <p:cNvGrpSpPr/>
        <p:nvPr/>
      </p:nvGrpSpPr>
      <p:grpSpPr>
        <a:xfrm>
          <a:off x="0" y="0"/>
          <a:ext cx="0" cy="0"/>
          <a:chOff x="0" y="0"/>
          <a:chExt cx="0" cy="0"/>
        </a:xfrm>
      </p:grpSpPr>
      <p:sp>
        <p:nvSpPr>
          <p:cNvPr id="521" name="Google Shape;521;p24"/>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2" name="Google Shape;522;p24"/>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二次利用がある場合の追加作業</a:t>
            </a:r>
            <a:endParaRPr b="0" i="0" sz="2100" u="none" cap="none" strike="noStrike">
              <a:solidFill>
                <a:schemeClr val="dk1"/>
              </a:solidFill>
              <a:latin typeface="Calibri"/>
              <a:ea typeface="Calibri"/>
              <a:cs typeface="Calibri"/>
              <a:sym typeface="Calibri"/>
            </a:endParaRPr>
          </a:p>
        </p:txBody>
      </p:sp>
      <p:sp>
        <p:nvSpPr>
          <p:cNvPr id="523" name="Google Shape;523;p24"/>
          <p:cNvSpPr/>
          <p:nvPr/>
        </p:nvSpPr>
        <p:spPr>
          <a:xfrm>
            <a:off x="310896" y="804672"/>
            <a:ext cx="4133088" cy="3950208"/>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4" name="Google Shape;524;p24"/>
          <p:cNvSpPr/>
          <p:nvPr/>
        </p:nvSpPr>
        <p:spPr>
          <a:xfrm>
            <a:off x="310896" y="804672"/>
            <a:ext cx="4133088"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p24"/>
          <p:cNvSpPr/>
          <p:nvPr/>
        </p:nvSpPr>
        <p:spPr>
          <a:xfrm>
            <a:off x="493776" y="914400"/>
            <a:ext cx="3803904"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600"/>
              <a:buFont typeface="Meiryo"/>
              <a:buNone/>
            </a:pPr>
            <a:r>
              <a:rPr b="1" i="0" lang="en-US" sz="1600" u="none" cap="none" strike="noStrike">
                <a:solidFill>
                  <a:srgbClr val="1E3068"/>
                </a:solidFill>
                <a:latin typeface="Meiryo"/>
                <a:ea typeface="Meiryo"/>
                <a:cs typeface="Meiryo"/>
                <a:sym typeface="Meiryo"/>
              </a:rPr>
              <a:t>広告コード</a:t>
            </a:r>
            <a:endParaRPr b="0" i="0" sz="1600" u="none" cap="none" strike="noStrike">
              <a:solidFill>
                <a:schemeClr val="dk1"/>
              </a:solidFill>
              <a:latin typeface="Calibri"/>
              <a:ea typeface="Calibri"/>
              <a:cs typeface="Calibri"/>
              <a:sym typeface="Calibri"/>
            </a:endParaRPr>
          </a:p>
        </p:txBody>
      </p:sp>
      <p:sp>
        <p:nvSpPr>
          <p:cNvPr id="526" name="Google Shape;526;p24"/>
          <p:cNvSpPr/>
          <p:nvPr/>
        </p:nvSpPr>
        <p:spPr>
          <a:xfrm>
            <a:off x="493776" y="1499616"/>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「この動画を広告配信してOK」</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という許可コード</a:t>
            </a:r>
            <a:endParaRPr b="0" i="0" sz="1350" u="none" cap="none" strike="noStrike">
              <a:solidFill>
                <a:schemeClr val="dk1"/>
              </a:solidFill>
              <a:latin typeface="Calibri"/>
              <a:ea typeface="Calibri"/>
              <a:cs typeface="Calibri"/>
              <a:sym typeface="Calibri"/>
            </a:endParaRPr>
          </a:p>
        </p:txBody>
      </p:sp>
      <p:sp>
        <p:nvSpPr>
          <p:cNvPr id="527" name="Google Shape;527;p24"/>
          <p:cNvSpPr/>
          <p:nvPr/>
        </p:nvSpPr>
        <p:spPr>
          <a:xfrm>
            <a:off x="493776" y="2267712"/>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TikTokダッシュボードから発行</a:t>
            </a:r>
            <a:endParaRPr b="0" i="0" sz="1350" u="none" cap="none" strike="noStrike">
              <a:solidFill>
                <a:schemeClr val="dk1"/>
              </a:solidFill>
              <a:latin typeface="Calibri"/>
              <a:ea typeface="Calibri"/>
              <a:cs typeface="Calibri"/>
              <a:sym typeface="Calibri"/>
            </a:endParaRPr>
          </a:p>
        </p:txBody>
      </p:sp>
      <p:sp>
        <p:nvSpPr>
          <p:cNvPr id="528" name="Google Shape;528;p24"/>
          <p:cNvSpPr/>
          <p:nvPr/>
        </p:nvSpPr>
        <p:spPr>
          <a:xfrm>
            <a:off x="493776" y="3035808"/>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案件に「二次利用（広告配信）」の</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記載がある場合に提出</a:t>
            </a:r>
            <a:endParaRPr b="0" i="0" sz="1350" u="none" cap="none" strike="noStrike">
              <a:solidFill>
                <a:schemeClr val="dk1"/>
              </a:solidFill>
              <a:latin typeface="Calibri"/>
              <a:ea typeface="Calibri"/>
              <a:cs typeface="Calibri"/>
              <a:sym typeface="Calibri"/>
            </a:endParaRPr>
          </a:p>
        </p:txBody>
      </p:sp>
      <p:sp>
        <p:nvSpPr>
          <p:cNvPr id="529" name="Google Shape;529;p24"/>
          <p:cNvSpPr/>
          <p:nvPr/>
        </p:nvSpPr>
        <p:spPr>
          <a:xfrm>
            <a:off x="4553712" y="804672"/>
            <a:ext cx="4133088" cy="3950208"/>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0" name="Google Shape;530;p24"/>
          <p:cNvSpPr/>
          <p:nvPr/>
        </p:nvSpPr>
        <p:spPr>
          <a:xfrm>
            <a:off x="4553712" y="804672"/>
            <a:ext cx="4133088" cy="59436"/>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31" name="Google Shape;531;p24"/>
          <p:cNvSpPr/>
          <p:nvPr/>
        </p:nvSpPr>
        <p:spPr>
          <a:xfrm>
            <a:off x="4736592" y="914400"/>
            <a:ext cx="3803904"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600"/>
              <a:buFont typeface="Meiryo"/>
              <a:buNone/>
            </a:pPr>
            <a:r>
              <a:rPr b="1" i="0" lang="en-US" sz="1600" u="none" cap="none" strike="noStrike">
                <a:solidFill>
                  <a:srgbClr val="1E3068"/>
                </a:solidFill>
                <a:latin typeface="Meiryo"/>
                <a:ea typeface="Meiryo"/>
                <a:cs typeface="Meiryo"/>
                <a:sym typeface="Meiryo"/>
              </a:rPr>
              <a:t>完パケ動画</a:t>
            </a:r>
            <a:endParaRPr b="0" i="0" sz="1600" u="none" cap="none" strike="noStrike">
              <a:solidFill>
                <a:schemeClr val="dk1"/>
              </a:solidFill>
              <a:latin typeface="Calibri"/>
              <a:ea typeface="Calibri"/>
              <a:cs typeface="Calibri"/>
              <a:sym typeface="Calibri"/>
            </a:endParaRPr>
          </a:p>
        </p:txBody>
      </p:sp>
      <p:sp>
        <p:nvSpPr>
          <p:cNvPr id="532" name="Google Shape;532;p24"/>
          <p:cNvSpPr/>
          <p:nvPr/>
        </p:nvSpPr>
        <p:spPr>
          <a:xfrm>
            <a:off x="4736592" y="1499616"/>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完全パッケージ（完パケ）の略</a:t>
            </a:r>
            <a:endParaRPr b="0" i="0" sz="1350" u="none" cap="none" strike="noStrike">
              <a:solidFill>
                <a:schemeClr val="dk1"/>
              </a:solidFill>
              <a:latin typeface="Calibri"/>
              <a:ea typeface="Calibri"/>
              <a:cs typeface="Calibri"/>
              <a:sym typeface="Calibri"/>
            </a:endParaRPr>
          </a:p>
        </p:txBody>
      </p:sp>
      <p:sp>
        <p:nvSpPr>
          <p:cNvPr id="533" name="Google Shape;533;p24"/>
          <p:cNvSpPr/>
          <p:nvPr/>
        </p:nvSpPr>
        <p:spPr>
          <a:xfrm>
            <a:off x="4736592" y="2267712"/>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テロップ・音声・BGMが</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すべて入った最終完成データ</a:t>
            </a:r>
            <a:endParaRPr b="0" i="0" sz="1350" u="none" cap="none" strike="noStrike">
              <a:solidFill>
                <a:schemeClr val="dk1"/>
              </a:solidFill>
              <a:latin typeface="Calibri"/>
              <a:ea typeface="Calibri"/>
              <a:cs typeface="Calibri"/>
              <a:sym typeface="Calibri"/>
            </a:endParaRPr>
          </a:p>
        </p:txBody>
      </p:sp>
      <p:sp>
        <p:nvSpPr>
          <p:cNvPr id="534" name="Google Shape;534;p24"/>
          <p:cNvSpPr/>
          <p:nvPr/>
        </p:nvSpPr>
        <p:spPr>
          <a:xfrm>
            <a:off x="4736592" y="3035808"/>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案件によって提出先・方法が</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異なるので事前に確認</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787" name="Shape 787"/>
        <p:cNvGrpSpPr/>
        <p:nvPr/>
      </p:nvGrpSpPr>
      <p:grpSpPr>
        <a:xfrm>
          <a:off x="0" y="0"/>
          <a:ext cx="0" cy="0"/>
          <a:chOff x="0" y="0"/>
          <a:chExt cx="0" cy="0"/>
        </a:xfrm>
      </p:grpSpPr>
      <p:sp>
        <p:nvSpPr>
          <p:cNvPr id="788" name="Google Shape;788;p37"/>
          <p:cNvSpPr/>
          <p:nvPr/>
        </p:nvSpPr>
        <p:spPr>
          <a:xfrm>
            <a:off x="0" y="0"/>
            <a:ext cx="2743200"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9" name="Google Shape;789;p37"/>
          <p:cNvSpPr/>
          <p:nvPr/>
        </p:nvSpPr>
        <p:spPr>
          <a:xfrm>
            <a:off x="237744" y="1005840"/>
            <a:ext cx="2286000" cy="2103120"/>
          </a:xfrm>
          <a:prstGeom prst="rect">
            <a:avLst/>
          </a:prstGeom>
          <a:noFill/>
          <a:ln>
            <a:noFill/>
          </a:ln>
        </p:spPr>
        <p:txBody>
          <a:bodyPr anchorCtr="0" anchor="ctr" bIns="45700" lIns="91425" spcFirstLastPara="1" rIns="91425" wrap="square" tIns="45700">
            <a:noAutofit/>
          </a:bodyPr>
          <a:lstStyle/>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第3章</a:t>
            </a:r>
            <a:endParaRPr b="0" i="0" sz="2600" u="none" cap="none" strike="noStrike">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完了！</a:t>
            </a:r>
            <a:endParaRPr b="0" i="0" sz="2600" u="none" cap="none" strike="noStrike">
              <a:solidFill>
                <a:schemeClr val="dk1"/>
              </a:solidFill>
              <a:latin typeface="Calibri"/>
              <a:ea typeface="Calibri"/>
              <a:cs typeface="Calibri"/>
              <a:sym typeface="Calibri"/>
            </a:endParaRPr>
          </a:p>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おさらい</a:t>
            </a:r>
            <a:endParaRPr b="0" i="0" sz="2600" u="none" cap="none" strike="noStrike">
              <a:solidFill>
                <a:schemeClr val="dk1"/>
              </a:solidFill>
              <a:latin typeface="Calibri"/>
              <a:ea typeface="Calibri"/>
              <a:cs typeface="Calibri"/>
              <a:sym typeface="Calibri"/>
            </a:endParaRPr>
          </a:p>
        </p:txBody>
      </p:sp>
      <p:sp>
        <p:nvSpPr>
          <p:cNvPr id="790" name="Google Shape;790;p37"/>
          <p:cNvSpPr/>
          <p:nvPr/>
        </p:nvSpPr>
        <p:spPr>
          <a:xfrm>
            <a:off x="237744" y="4114800"/>
            <a:ext cx="2286000"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100"/>
              <a:buFont typeface="Meiryo"/>
              <a:buNone/>
            </a:pPr>
            <a:r>
              <a:rPr b="0" i="0" lang="en-US" sz="1100" u="none" cap="none" strike="noStrike">
                <a:solidFill>
                  <a:srgbClr val="A0B8D8"/>
                </a:solidFill>
                <a:latin typeface="Meiryo"/>
                <a:ea typeface="Meiryo"/>
                <a:cs typeface="Meiryo"/>
                <a:sym typeface="Meiryo"/>
              </a:rPr>
              <a:t>動画まとめ</a:t>
            </a:r>
            <a:endParaRPr b="0" i="0" sz="1100" u="none" cap="none" strike="noStrike">
              <a:solidFill>
                <a:schemeClr val="dk1"/>
              </a:solidFill>
              <a:latin typeface="Calibri"/>
              <a:ea typeface="Calibri"/>
              <a:cs typeface="Calibri"/>
              <a:sym typeface="Calibri"/>
            </a:endParaRPr>
          </a:p>
        </p:txBody>
      </p:sp>
      <p:sp>
        <p:nvSpPr>
          <p:cNvPr id="791" name="Google Shape;791;p37"/>
          <p:cNvSpPr/>
          <p:nvPr/>
        </p:nvSpPr>
        <p:spPr>
          <a:xfrm>
            <a:off x="2944368" y="329184"/>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2" name="Google Shape;792;p37"/>
          <p:cNvSpPr/>
          <p:nvPr/>
        </p:nvSpPr>
        <p:spPr>
          <a:xfrm>
            <a:off x="3072384" y="329184"/>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01</a:t>
            </a:r>
            <a:endParaRPr b="0" i="0" sz="2000" u="none" cap="none" strike="noStrike">
              <a:solidFill>
                <a:schemeClr val="dk1"/>
              </a:solidFill>
              <a:latin typeface="Calibri"/>
              <a:ea typeface="Calibri"/>
              <a:cs typeface="Calibri"/>
              <a:sym typeface="Calibri"/>
            </a:endParaRPr>
          </a:p>
        </p:txBody>
      </p:sp>
      <p:sp>
        <p:nvSpPr>
          <p:cNvPr id="793" name="Google Shape;793;p37"/>
          <p:cNvSpPr/>
          <p:nvPr/>
        </p:nvSpPr>
        <p:spPr>
          <a:xfrm>
            <a:off x="3749040" y="329184"/>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コアタイム（10〜19時）は連絡が取れる状態にする</a:t>
            </a:r>
            <a:endParaRPr b="0" i="0" sz="1550" u="none" cap="none" strike="noStrike">
              <a:solidFill>
                <a:schemeClr val="dk1"/>
              </a:solidFill>
              <a:latin typeface="Calibri"/>
              <a:ea typeface="Calibri"/>
              <a:cs typeface="Calibri"/>
              <a:sym typeface="Calibri"/>
            </a:endParaRPr>
          </a:p>
        </p:txBody>
      </p:sp>
      <p:cxnSp>
        <p:nvCxnSpPr>
          <p:cNvPr id="794" name="Google Shape;794;p37"/>
          <p:cNvCxnSpPr/>
          <p:nvPr/>
        </p:nvCxnSpPr>
        <p:spPr>
          <a:xfrm>
            <a:off x="2944368" y="1156716"/>
            <a:ext cx="5925312" cy="0"/>
          </a:xfrm>
          <a:prstGeom prst="straightConnector1">
            <a:avLst/>
          </a:prstGeom>
          <a:noFill/>
          <a:ln cap="flat" cmpd="sng" w="9525">
            <a:solidFill>
              <a:srgbClr val="D1D5DB"/>
            </a:solidFill>
            <a:prstDash val="solid"/>
            <a:round/>
            <a:headEnd len="sm" w="sm" type="none"/>
            <a:tailEnd len="sm" w="sm" type="none"/>
          </a:ln>
        </p:spPr>
      </p:cxnSp>
      <p:sp>
        <p:nvSpPr>
          <p:cNvPr id="795" name="Google Shape;795;p37"/>
          <p:cNvSpPr/>
          <p:nvPr/>
        </p:nvSpPr>
        <p:spPr>
          <a:xfrm>
            <a:off x="2944368" y="1202436"/>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96" name="Google Shape;796;p37"/>
          <p:cNvSpPr/>
          <p:nvPr/>
        </p:nvSpPr>
        <p:spPr>
          <a:xfrm>
            <a:off x="3072384" y="1202436"/>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02</a:t>
            </a:r>
            <a:endParaRPr b="0" i="0" sz="2000" u="none" cap="none" strike="noStrike">
              <a:solidFill>
                <a:schemeClr val="dk1"/>
              </a:solidFill>
              <a:latin typeface="Calibri"/>
              <a:ea typeface="Calibri"/>
              <a:cs typeface="Calibri"/>
              <a:sym typeface="Calibri"/>
            </a:endParaRPr>
          </a:p>
        </p:txBody>
      </p:sp>
      <p:sp>
        <p:nvSpPr>
          <p:cNvPr id="797" name="Google Shape;797;p37"/>
          <p:cNvSpPr/>
          <p:nvPr/>
        </p:nvSpPr>
        <p:spPr>
          <a:xfrm>
            <a:off x="3749040" y="1202436"/>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18時以降の確認依頼は翌日回答になる→17時までに動く</a:t>
            </a:r>
            <a:endParaRPr b="0" i="0" sz="1550" u="none" cap="none" strike="noStrike">
              <a:solidFill>
                <a:schemeClr val="dk1"/>
              </a:solidFill>
              <a:latin typeface="Calibri"/>
              <a:ea typeface="Calibri"/>
              <a:cs typeface="Calibri"/>
              <a:sym typeface="Calibri"/>
            </a:endParaRPr>
          </a:p>
        </p:txBody>
      </p:sp>
      <p:cxnSp>
        <p:nvCxnSpPr>
          <p:cNvPr id="798" name="Google Shape;798;p37"/>
          <p:cNvCxnSpPr/>
          <p:nvPr/>
        </p:nvCxnSpPr>
        <p:spPr>
          <a:xfrm>
            <a:off x="2944368" y="2029968"/>
            <a:ext cx="5925312" cy="0"/>
          </a:xfrm>
          <a:prstGeom prst="straightConnector1">
            <a:avLst/>
          </a:prstGeom>
          <a:noFill/>
          <a:ln cap="flat" cmpd="sng" w="9525">
            <a:solidFill>
              <a:srgbClr val="D1D5DB"/>
            </a:solidFill>
            <a:prstDash val="solid"/>
            <a:round/>
            <a:headEnd len="sm" w="sm" type="none"/>
            <a:tailEnd len="sm" w="sm" type="none"/>
          </a:ln>
        </p:spPr>
      </p:cxnSp>
      <p:sp>
        <p:nvSpPr>
          <p:cNvPr id="799" name="Google Shape;799;p37"/>
          <p:cNvSpPr/>
          <p:nvPr/>
        </p:nvSpPr>
        <p:spPr>
          <a:xfrm>
            <a:off x="2944368" y="2075688"/>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0" name="Google Shape;800;p37"/>
          <p:cNvSpPr/>
          <p:nvPr/>
        </p:nvSpPr>
        <p:spPr>
          <a:xfrm>
            <a:off x="3072384" y="2075688"/>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03</a:t>
            </a:r>
            <a:endParaRPr b="0" i="0" sz="2000" u="none" cap="none" strike="noStrike">
              <a:solidFill>
                <a:schemeClr val="dk1"/>
              </a:solidFill>
              <a:latin typeface="Calibri"/>
              <a:ea typeface="Calibri"/>
              <a:cs typeface="Calibri"/>
              <a:sym typeface="Calibri"/>
            </a:endParaRPr>
          </a:p>
        </p:txBody>
      </p:sp>
      <p:sp>
        <p:nvSpPr>
          <p:cNvPr id="801" name="Google Shape;801;p37"/>
          <p:cNvSpPr/>
          <p:nvPr/>
        </p:nvSpPr>
        <p:spPr>
          <a:xfrm>
            <a:off x="3749040" y="2075688"/>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締め切りは「日付＋時間」で管理する</a:t>
            </a:r>
            <a:endParaRPr b="0" i="0" sz="1550" u="none" cap="none" strike="noStrike">
              <a:solidFill>
                <a:schemeClr val="dk1"/>
              </a:solidFill>
              <a:latin typeface="Calibri"/>
              <a:ea typeface="Calibri"/>
              <a:cs typeface="Calibri"/>
              <a:sym typeface="Calibri"/>
            </a:endParaRPr>
          </a:p>
        </p:txBody>
      </p:sp>
      <p:cxnSp>
        <p:nvCxnSpPr>
          <p:cNvPr id="802" name="Google Shape;802;p37"/>
          <p:cNvCxnSpPr/>
          <p:nvPr/>
        </p:nvCxnSpPr>
        <p:spPr>
          <a:xfrm>
            <a:off x="2944368" y="2903220"/>
            <a:ext cx="5925312" cy="0"/>
          </a:xfrm>
          <a:prstGeom prst="straightConnector1">
            <a:avLst/>
          </a:prstGeom>
          <a:noFill/>
          <a:ln cap="flat" cmpd="sng" w="9525">
            <a:solidFill>
              <a:srgbClr val="D1D5DB"/>
            </a:solidFill>
            <a:prstDash val="solid"/>
            <a:round/>
            <a:headEnd len="sm" w="sm" type="none"/>
            <a:tailEnd len="sm" w="sm" type="none"/>
          </a:ln>
        </p:spPr>
      </p:cxnSp>
      <p:sp>
        <p:nvSpPr>
          <p:cNvPr id="803" name="Google Shape;803;p37"/>
          <p:cNvSpPr/>
          <p:nvPr/>
        </p:nvSpPr>
        <p:spPr>
          <a:xfrm>
            <a:off x="2944368" y="2948940"/>
            <a:ext cx="65837" cy="781812"/>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4" name="Google Shape;804;p37"/>
          <p:cNvSpPr/>
          <p:nvPr/>
        </p:nvSpPr>
        <p:spPr>
          <a:xfrm>
            <a:off x="3072384" y="2948940"/>
            <a:ext cx="585216"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04</a:t>
            </a:r>
            <a:endParaRPr b="0" i="0" sz="2000" u="none" cap="none" strike="noStrike">
              <a:solidFill>
                <a:schemeClr val="dk1"/>
              </a:solidFill>
              <a:latin typeface="Calibri"/>
              <a:ea typeface="Calibri"/>
              <a:cs typeface="Calibri"/>
              <a:sym typeface="Calibri"/>
            </a:endParaRPr>
          </a:p>
        </p:txBody>
      </p:sp>
      <p:sp>
        <p:nvSpPr>
          <p:cNvPr id="805" name="Google Shape;805;p37"/>
          <p:cNvSpPr/>
          <p:nvPr/>
        </p:nvSpPr>
        <p:spPr>
          <a:xfrm>
            <a:off x="3749040" y="2948940"/>
            <a:ext cx="5120640" cy="78181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通知はON・迷ったら勝手に進めず即相談</a:t>
            </a:r>
            <a:endParaRPr b="0" i="0" sz="1550" u="none" cap="none" strike="noStrike">
              <a:solidFill>
                <a:schemeClr val="dk1"/>
              </a:solidFill>
              <a:latin typeface="Calibri"/>
              <a:ea typeface="Calibri"/>
              <a:cs typeface="Calibri"/>
              <a:sym typeface="Calibri"/>
            </a:endParaRPr>
          </a:p>
        </p:txBody>
      </p:sp>
      <p:sp>
        <p:nvSpPr>
          <p:cNvPr id="806" name="Google Shape;806;p37"/>
          <p:cNvSpPr/>
          <p:nvPr/>
        </p:nvSpPr>
        <p:spPr>
          <a:xfrm>
            <a:off x="2944368" y="3968496"/>
            <a:ext cx="5925312" cy="65836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7" name="Google Shape;807;p37"/>
          <p:cNvSpPr/>
          <p:nvPr/>
        </p:nvSpPr>
        <p:spPr>
          <a:xfrm>
            <a:off x="2944368" y="3968496"/>
            <a:ext cx="59436" cy="65836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808" name="Google Shape;808;p37"/>
          <p:cNvSpPr/>
          <p:nvPr/>
        </p:nvSpPr>
        <p:spPr>
          <a:xfrm>
            <a:off x="3108960" y="3968496"/>
            <a:ext cx="5687568"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030"/>
              </a:buClr>
              <a:buSzPts val="1350"/>
              <a:buFont typeface="Meiryo"/>
              <a:buNone/>
            </a:pPr>
            <a:r>
              <a:rPr b="1" i="0" lang="en-US" sz="1350" u="none" cap="none" strike="noStrike">
                <a:solidFill>
                  <a:srgbClr val="E87030"/>
                </a:solidFill>
                <a:latin typeface="Meiryo"/>
                <a:ea typeface="Meiryo"/>
                <a:cs typeface="Meiryo"/>
                <a:sym typeface="Meiryo"/>
              </a:rPr>
              <a:t>▶  Next  |  次のステップ：仮免テスト（第3章から15問出題）</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1" name="Shape 561"/>
        <p:cNvGrpSpPr/>
        <p:nvPr/>
      </p:nvGrpSpPr>
      <p:grpSpPr>
        <a:xfrm>
          <a:off x="0" y="0"/>
          <a:ext cx="0" cy="0"/>
          <a:chOff x="0" y="0"/>
          <a:chExt cx="0" cy="0"/>
        </a:xfrm>
      </p:grpSpPr>
      <p:sp>
        <p:nvSpPr>
          <p:cNvPr id="562" name="Google Shape;562;p26"/>
          <p:cNvSpPr/>
          <p:nvPr/>
        </p:nvSpPr>
        <p:spPr>
          <a:xfrm>
            <a:off x="0" y="0"/>
            <a:ext cx="2907792"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3" name="Google Shape;563;p26"/>
          <p:cNvSpPr/>
          <p:nvPr/>
        </p:nvSpPr>
        <p:spPr>
          <a:xfrm>
            <a:off x="274320" y="475488"/>
            <a:ext cx="235915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500"/>
              <a:buFont typeface="Meiryo"/>
              <a:buNone/>
            </a:pPr>
            <a:r>
              <a:rPr b="1" i="0" lang="en-US" sz="1500" u="none" cap="none" strike="noStrike">
                <a:solidFill>
                  <a:srgbClr val="A0B8D8"/>
                </a:solidFill>
                <a:latin typeface="Meiryo"/>
                <a:ea typeface="Meiryo"/>
                <a:cs typeface="Meiryo"/>
                <a:sym typeface="Meiryo"/>
              </a:rPr>
              <a:t>第3章</a:t>
            </a:r>
            <a:endParaRPr b="0" i="0" sz="1500" u="none" cap="none" strike="noStrike">
              <a:solidFill>
                <a:schemeClr val="dk1"/>
              </a:solidFill>
              <a:latin typeface="Calibri"/>
              <a:ea typeface="Calibri"/>
              <a:cs typeface="Calibri"/>
              <a:sym typeface="Calibri"/>
            </a:endParaRPr>
          </a:p>
        </p:txBody>
      </p:sp>
      <p:sp>
        <p:nvSpPr>
          <p:cNvPr id="564" name="Google Shape;564;p26"/>
          <p:cNvSpPr/>
          <p:nvPr/>
        </p:nvSpPr>
        <p:spPr>
          <a:xfrm>
            <a:off x="274320" y="868680"/>
            <a:ext cx="2359152"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5000"/>
              <a:buFont typeface="Meiryo"/>
              <a:buNone/>
            </a:pPr>
            <a:r>
              <a:rPr b="1" i="0" lang="en-US" sz="5000" u="none" cap="none" strike="noStrike">
                <a:solidFill>
                  <a:srgbClr val="FFFFFF"/>
                </a:solidFill>
                <a:latin typeface="Meiryo"/>
                <a:ea typeface="Meiryo"/>
                <a:cs typeface="Meiryo"/>
                <a:sym typeface="Meiryo"/>
              </a:rPr>
              <a:t>動画⑤</a:t>
            </a:r>
            <a:endParaRPr b="0" i="0" sz="5000" u="none" cap="none" strike="noStrike">
              <a:solidFill>
                <a:schemeClr val="dk1"/>
              </a:solidFill>
              <a:latin typeface="Calibri"/>
              <a:ea typeface="Calibri"/>
              <a:cs typeface="Calibri"/>
              <a:sym typeface="Calibri"/>
            </a:endParaRPr>
          </a:p>
        </p:txBody>
      </p:sp>
      <p:sp>
        <p:nvSpPr>
          <p:cNvPr id="565" name="Google Shape;565;p26"/>
          <p:cNvSpPr/>
          <p:nvPr/>
        </p:nvSpPr>
        <p:spPr>
          <a:xfrm>
            <a:off x="274320" y="2011680"/>
            <a:ext cx="2359152"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300"/>
              <a:buFont typeface="Meiryo"/>
              <a:buNone/>
            </a:pPr>
            <a:r>
              <a:rPr b="0" i="0" lang="en-US" sz="1300" u="none" cap="none" strike="noStrike">
                <a:solidFill>
                  <a:srgbClr val="A0B8D8"/>
                </a:solidFill>
                <a:latin typeface="Meiryo"/>
                <a:ea typeface="Meiryo"/>
                <a:cs typeface="Meiryo"/>
                <a:sym typeface="Meiryo"/>
              </a:rPr>
              <a:t>進行フロー・ビジネス連絡</a:t>
            </a:r>
            <a:endParaRPr b="0" i="0" sz="1300" u="none" cap="none" strike="noStrike">
              <a:solidFill>
                <a:schemeClr val="dk1"/>
              </a:solidFill>
              <a:latin typeface="Calibri"/>
              <a:ea typeface="Calibri"/>
              <a:cs typeface="Calibri"/>
              <a:sym typeface="Calibri"/>
            </a:endParaRPr>
          </a:p>
        </p:txBody>
      </p:sp>
      <p:sp>
        <p:nvSpPr>
          <p:cNvPr id="566" name="Google Shape;566;p26"/>
          <p:cNvSpPr/>
          <p:nvPr/>
        </p:nvSpPr>
        <p:spPr>
          <a:xfrm>
            <a:off x="274320" y="2816352"/>
            <a:ext cx="1389888" cy="4023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67" name="Google Shape;567;p26"/>
          <p:cNvSpPr/>
          <p:nvPr/>
        </p:nvSpPr>
        <p:spPr>
          <a:xfrm>
            <a:off x="274320" y="2816352"/>
            <a:ext cx="1389888"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  約5分</a:t>
            </a:r>
            <a:endParaRPr b="0" i="0" sz="1300" u="none" cap="none" strike="noStrike">
              <a:solidFill>
                <a:schemeClr val="dk1"/>
              </a:solidFill>
              <a:latin typeface="Calibri"/>
              <a:ea typeface="Calibri"/>
              <a:cs typeface="Calibri"/>
              <a:sym typeface="Calibri"/>
            </a:endParaRPr>
          </a:p>
        </p:txBody>
      </p:sp>
      <p:sp>
        <p:nvSpPr>
          <p:cNvPr id="568" name="Google Shape;568;p26"/>
          <p:cNvSpPr/>
          <p:nvPr/>
        </p:nvSpPr>
        <p:spPr>
          <a:xfrm>
            <a:off x="3127248" y="219456"/>
            <a:ext cx="5742432"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800"/>
              <a:buFont typeface="Meiryo"/>
              <a:buNone/>
            </a:pPr>
            <a:r>
              <a:rPr b="0" i="0" lang="en-US" sz="800" u="none" cap="none" strike="noStrike">
                <a:solidFill>
                  <a:srgbClr val="1E3068"/>
                </a:solidFill>
                <a:latin typeface="Meiryo"/>
                <a:ea typeface="Meiryo"/>
                <a:cs typeface="Meiryo"/>
                <a:sym typeface="Meiryo"/>
              </a:rPr>
              <a:t>CREATOR NETWORK TRAINING</a:t>
            </a:r>
            <a:endParaRPr b="0" i="0" sz="800" u="none" cap="none" strike="noStrike">
              <a:solidFill>
                <a:schemeClr val="dk1"/>
              </a:solidFill>
              <a:latin typeface="Calibri"/>
              <a:ea typeface="Calibri"/>
              <a:cs typeface="Calibri"/>
              <a:sym typeface="Calibri"/>
            </a:endParaRPr>
          </a:p>
        </p:txBody>
      </p:sp>
      <p:sp>
        <p:nvSpPr>
          <p:cNvPr id="569" name="Google Shape;569;p26"/>
          <p:cNvSpPr/>
          <p:nvPr/>
        </p:nvSpPr>
        <p:spPr>
          <a:xfrm>
            <a:off x="3127248" y="621792"/>
            <a:ext cx="5577840" cy="2606040"/>
          </a:xfrm>
          <a:prstGeom prst="rect">
            <a:avLst/>
          </a:prstGeom>
          <a:noFill/>
          <a:ln>
            <a:noFill/>
          </a:ln>
        </p:spPr>
        <p:txBody>
          <a:bodyPr anchorCtr="0" anchor="t" bIns="45700" lIns="91425" spcFirstLastPara="1" rIns="91425" wrap="square" tIns="45700">
            <a:noAutofit/>
          </a:bodyPr>
          <a:lstStyle/>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振り返り</a:t>
            </a:r>
            <a:endParaRPr b="0" i="0" sz="3800" u="none" cap="none" strike="noStrike">
              <a:solidFill>
                <a:schemeClr val="dk1"/>
              </a:solidFill>
              <a:latin typeface="Calibri"/>
              <a:ea typeface="Calibri"/>
              <a:cs typeface="Calibri"/>
              <a:sym typeface="Calibri"/>
            </a:endParaRPr>
          </a:p>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「インサイト」</a:t>
            </a:r>
            <a:endParaRPr b="0" i="0" sz="3800" u="none" cap="none" strike="noStrike">
              <a:solidFill>
                <a:schemeClr val="dk1"/>
              </a:solidFill>
              <a:latin typeface="Calibri"/>
              <a:ea typeface="Calibri"/>
              <a:cs typeface="Calibri"/>
              <a:sym typeface="Calibri"/>
            </a:endParaRPr>
          </a:p>
        </p:txBody>
      </p:sp>
      <p:sp>
        <p:nvSpPr>
          <p:cNvPr id="570" name="Google Shape;570;p26"/>
          <p:cNvSpPr/>
          <p:nvPr/>
        </p:nvSpPr>
        <p:spPr>
          <a:xfrm>
            <a:off x="3127248" y="3364992"/>
            <a:ext cx="1920240"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1" name="Google Shape;571;p26"/>
          <p:cNvSpPr/>
          <p:nvPr/>
        </p:nvSpPr>
        <p:spPr>
          <a:xfrm>
            <a:off x="3127248" y="3529584"/>
            <a:ext cx="55778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400"/>
              <a:buFont typeface="Meiryo"/>
              <a:buNone/>
            </a:pPr>
            <a:r>
              <a:rPr b="0" i="0" lang="en-US" sz="1400" u="none" cap="none" strike="noStrike">
                <a:solidFill>
                  <a:srgbClr val="6B7280"/>
                </a:solidFill>
                <a:latin typeface="Meiryo"/>
                <a:ea typeface="Meiryo"/>
                <a:cs typeface="Meiryo"/>
                <a:sym typeface="Meiryo"/>
              </a:rPr>
              <a:t>クリエイターネットワーク研修</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576" name="Shape 576"/>
        <p:cNvGrpSpPr/>
        <p:nvPr/>
      </p:nvGrpSpPr>
      <p:grpSpPr>
        <a:xfrm>
          <a:off x="0" y="0"/>
          <a:ext cx="0" cy="0"/>
          <a:chOff x="0" y="0"/>
          <a:chExt cx="0" cy="0"/>
        </a:xfrm>
      </p:grpSpPr>
      <p:sp>
        <p:nvSpPr>
          <p:cNvPr id="577" name="Google Shape;577;p27"/>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78" name="Google Shape;578;p27"/>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この動画で学ぶこと</a:t>
            </a:r>
            <a:endParaRPr b="0" i="0" sz="2100" u="none" cap="none" strike="noStrike">
              <a:solidFill>
                <a:schemeClr val="dk1"/>
              </a:solidFill>
              <a:latin typeface="Calibri"/>
              <a:ea typeface="Calibri"/>
              <a:cs typeface="Calibri"/>
              <a:sym typeface="Calibri"/>
            </a:endParaRPr>
          </a:p>
        </p:txBody>
      </p:sp>
      <p:sp>
        <p:nvSpPr>
          <p:cNvPr id="579" name="Google Shape;579;p27"/>
          <p:cNvSpPr/>
          <p:nvPr/>
        </p:nvSpPr>
        <p:spPr>
          <a:xfrm>
            <a:off x="310896"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0" name="Google Shape;580;p27"/>
          <p:cNvSpPr/>
          <p:nvPr/>
        </p:nvSpPr>
        <p:spPr>
          <a:xfrm>
            <a:off x="310896"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1" name="Google Shape;581;p27"/>
          <p:cNvSpPr/>
          <p:nvPr/>
        </p:nvSpPr>
        <p:spPr>
          <a:xfrm>
            <a:off x="566928"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582" name="Google Shape;582;p27"/>
          <p:cNvSpPr/>
          <p:nvPr/>
        </p:nvSpPr>
        <p:spPr>
          <a:xfrm>
            <a:off x="512064"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インサイトとは</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何か</a:t>
            </a:r>
            <a:endParaRPr b="0" i="0" sz="1550" u="none" cap="none" strike="noStrike">
              <a:solidFill>
                <a:schemeClr val="dk1"/>
              </a:solidFill>
              <a:latin typeface="Calibri"/>
              <a:ea typeface="Calibri"/>
              <a:cs typeface="Calibri"/>
              <a:sym typeface="Calibri"/>
            </a:endParaRPr>
          </a:p>
        </p:txBody>
      </p:sp>
      <p:sp>
        <p:nvSpPr>
          <p:cNvPr id="583" name="Google Shape;583;p27"/>
          <p:cNvSpPr/>
          <p:nvPr/>
        </p:nvSpPr>
        <p:spPr>
          <a:xfrm>
            <a:off x="512064"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動画の「成績表」</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を読む力をつける</a:t>
            </a:r>
            <a:endParaRPr b="0" i="0" sz="1300" u="none" cap="none" strike="noStrike">
              <a:solidFill>
                <a:schemeClr val="dk1"/>
              </a:solidFill>
              <a:latin typeface="Calibri"/>
              <a:ea typeface="Calibri"/>
              <a:cs typeface="Calibri"/>
              <a:sym typeface="Calibri"/>
            </a:endParaRPr>
          </a:p>
        </p:txBody>
      </p:sp>
      <p:sp>
        <p:nvSpPr>
          <p:cNvPr id="584" name="Google Shape;584;p27"/>
          <p:cNvSpPr/>
          <p:nvPr/>
        </p:nvSpPr>
        <p:spPr>
          <a:xfrm>
            <a:off x="3081528"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5" name="Google Shape;585;p27"/>
          <p:cNvSpPr/>
          <p:nvPr/>
        </p:nvSpPr>
        <p:spPr>
          <a:xfrm>
            <a:off x="3081528"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86" name="Google Shape;586;p27"/>
          <p:cNvSpPr/>
          <p:nvPr/>
        </p:nvSpPr>
        <p:spPr>
          <a:xfrm>
            <a:off x="3337560"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587" name="Google Shape;587;p27"/>
          <p:cNvSpPr/>
          <p:nvPr/>
        </p:nvSpPr>
        <p:spPr>
          <a:xfrm>
            <a:off x="3282696"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なぜ提出が</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必要か</a:t>
            </a:r>
            <a:endParaRPr b="0" i="0" sz="1550" u="none" cap="none" strike="noStrike">
              <a:solidFill>
                <a:schemeClr val="dk1"/>
              </a:solidFill>
              <a:latin typeface="Calibri"/>
              <a:ea typeface="Calibri"/>
              <a:cs typeface="Calibri"/>
              <a:sym typeface="Calibri"/>
            </a:endParaRPr>
          </a:p>
        </p:txBody>
      </p:sp>
      <p:sp>
        <p:nvSpPr>
          <p:cNvPr id="588" name="Google Shape;588;p27"/>
          <p:cNvSpPr/>
          <p:nvPr/>
        </p:nvSpPr>
        <p:spPr>
          <a:xfrm>
            <a:off x="3282696"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クライアントへの</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効果報告と</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次案件への活用</a:t>
            </a:r>
            <a:endParaRPr b="0" i="0" sz="1300" u="none" cap="none" strike="noStrike">
              <a:solidFill>
                <a:schemeClr val="dk1"/>
              </a:solidFill>
              <a:latin typeface="Calibri"/>
              <a:ea typeface="Calibri"/>
              <a:cs typeface="Calibri"/>
              <a:sym typeface="Calibri"/>
            </a:endParaRPr>
          </a:p>
        </p:txBody>
      </p:sp>
      <p:sp>
        <p:nvSpPr>
          <p:cNvPr id="589" name="Google Shape;589;p27"/>
          <p:cNvSpPr/>
          <p:nvPr/>
        </p:nvSpPr>
        <p:spPr>
          <a:xfrm>
            <a:off x="5852160"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0" name="Google Shape;590;p27"/>
          <p:cNvSpPr/>
          <p:nvPr/>
        </p:nvSpPr>
        <p:spPr>
          <a:xfrm>
            <a:off x="5852160"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91" name="Google Shape;591;p27"/>
          <p:cNvSpPr/>
          <p:nvPr/>
        </p:nvSpPr>
        <p:spPr>
          <a:xfrm>
            <a:off x="6108192"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592" name="Google Shape;592;p27"/>
          <p:cNvSpPr/>
          <p:nvPr/>
        </p:nvSpPr>
        <p:spPr>
          <a:xfrm>
            <a:off x="6053328"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TikTok・Instagram</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提出方法</a:t>
            </a:r>
            <a:endParaRPr b="0" i="0" sz="1550" u="none" cap="none" strike="noStrike">
              <a:solidFill>
                <a:schemeClr val="dk1"/>
              </a:solidFill>
              <a:latin typeface="Calibri"/>
              <a:ea typeface="Calibri"/>
              <a:cs typeface="Calibri"/>
              <a:sym typeface="Calibri"/>
            </a:endParaRPr>
          </a:p>
        </p:txBody>
      </p:sp>
      <p:sp>
        <p:nvSpPr>
          <p:cNvPr id="593" name="Google Shape;593;p27"/>
          <p:cNvSpPr/>
          <p:nvPr/>
        </p:nvSpPr>
        <p:spPr>
          <a:xfrm>
            <a:off x="6053328"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どの画面を</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スクショするか</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具体的に学ぶ</a:t>
            </a:r>
            <a:endParaRPr b="0" i="0" sz="1300" u="none" cap="none" strike="noStrike">
              <a:solidFill>
                <a:schemeClr val="dk1"/>
              </a:solidFill>
              <a:latin typeface="Calibri"/>
              <a:ea typeface="Calibri"/>
              <a:cs typeface="Calibri"/>
              <a:sym typeface="Calibri"/>
            </a:endParaRPr>
          </a:p>
        </p:txBody>
      </p:sp>
      <p:sp>
        <p:nvSpPr>
          <p:cNvPr id="594" name="Google Shape;594;p27"/>
          <p:cNvSpPr/>
          <p:nvPr/>
        </p:nvSpPr>
        <p:spPr>
          <a:xfrm>
            <a:off x="2140055" y="884713"/>
            <a:ext cx="859200" cy="4800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t/>
            </a:r>
            <a:endParaRPr b="1" sz="2400">
              <a:solidFill>
                <a:srgbClr val="D1D5DB"/>
              </a:solidFill>
              <a:latin typeface="Meiryo"/>
              <a:ea typeface="Meiryo"/>
              <a:cs typeface="Meiryo"/>
              <a:sym typeface="Meiryo"/>
            </a:endParaRPr>
          </a:p>
          <a:p>
            <a:pPr indent="0" lvl="0" marL="0" marR="0" rtl="0" algn="r">
              <a:spcBef>
                <a:spcPts val="0"/>
              </a:spcBef>
              <a:spcAft>
                <a:spcPts val="0"/>
              </a:spcAft>
              <a:buClr>
                <a:srgbClr val="D1D5DB"/>
              </a:buClr>
              <a:buSzPts val="2400"/>
              <a:buFont typeface="Meiryo"/>
              <a:buNone/>
            </a:pPr>
            <a:r>
              <a:rPr b="1" lang="en-US" sz="2400">
                <a:solidFill>
                  <a:srgbClr val="D1D5DB"/>
                </a:solidFill>
                <a:latin typeface="Meiryo"/>
                <a:ea typeface="Meiryo"/>
                <a:cs typeface="Meiryo"/>
                <a:sym typeface="Meiryo"/>
              </a:rPr>
              <a:t>0</a:t>
            </a:r>
            <a:r>
              <a:rPr b="1" i="0" lang="en-US" sz="2400" u="none" cap="none" strike="noStrike">
                <a:solidFill>
                  <a:srgbClr val="D1D5DB"/>
                </a:solidFill>
                <a:latin typeface="Meiryo"/>
                <a:ea typeface="Meiryo"/>
                <a:cs typeface="Meiryo"/>
                <a:sym typeface="Meiryo"/>
              </a:rPr>
              <a:t>1</a:t>
            </a:r>
            <a:endParaRPr b="0" i="0" sz="2400" u="none" cap="none" strike="noStrike">
              <a:solidFill>
                <a:schemeClr val="dk1"/>
              </a:solidFill>
              <a:latin typeface="Calibri"/>
              <a:ea typeface="Calibri"/>
              <a:cs typeface="Calibri"/>
              <a:sym typeface="Calibri"/>
            </a:endParaRPr>
          </a:p>
        </p:txBody>
      </p:sp>
      <p:sp>
        <p:nvSpPr>
          <p:cNvPr id="595" name="Google Shape;595;p27"/>
          <p:cNvSpPr/>
          <p:nvPr/>
        </p:nvSpPr>
        <p:spPr>
          <a:xfrm>
            <a:off x="5074926"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02</a:t>
            </a:r>
            <a:endParaRPr b="0" i="0" sz="2400" u="none" cap="none" strike="noStrike">
              <a:solidFill>
                <a:schemeClr val="dk1"/>
              </a:solidFill>
              <a:latin typeface="Calibri"/>
              <a:ea typeface="Calibri"/>
              <a:cs typeface="Calibri"/>
              <a:sym typeface="Calibri"/>
            </a:endParaRPr>
          </a:p>
        </p:txBody>
      </p:sp>
      <p:sp>
        <p:nvSpPr>
          <p:cNvPr id="596" name="Google Shape;596;p27"/>
          <p:cNvSpPr/>
          <p:nvPr/>
        </p:nvSpPr>
        <p:spPr>
          <a:xfrm>
            <a:off x="7845550"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03</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601" name="Shape 601"/>
        <p:cNvGrpSpPr/>
        <p:nvPr/>
      </p:nvGrpSpPr>
      <p:grpSpPr>
        <a:xfrm>
          <a:off x="0" y="0"/>
          <a:ext cx="0" cy="0"/>
          <a:chOff x="0" y="0"/>
          <a:chExt cx="0" cy="0"/>
        </a:xfrm>
      </p:grpSpPr>
      <p:sp>
        <p:nvSpPr>
          <p:cNvPr id="602" name="Google Shape;602;p28"/>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3" name="Google Shape;603;p28"/>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インサイト＝動画の「成績表」</a:t>
            </a:r>
            <a:endParaRPr b="0" i="0" sz="2100" u="none" cap="none" strike="noStrike">
              <a:solidFill>
                <a:schemeClr val="dk1"/>
              </a:solidFill>
              <a:latin typeface="Calibri"/>
              <a:ea typeface="Calibri"/>
              <a:cs typeface="Calibri"/>
              <a:sym typeface="Calibri"/>
            </a:endParaRPr>
          </a:p>
        </p:txBody>
      </p:sp>
      <p:sp>
        <p:nvSpPr>
          <p:cNvPr id="604" name="Google Shape;604;p28"/>
          <p:cNvSpPr/>
          <p:nvPr/>
        </p:nvSpPr>
        <p:spPr>
          <a:xfrm>
            <a:off x="310896" y="804672"/>
            <a:ext cx="8522208" cy="74980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5" name="Google Shape;605;p28"/>
          <p:cNvSpPr/>
          <p:nvPr/>
        </p:nvSpPr>
        <p:spPr>
          <a:xfrm>
            <a:off x="310896" y="804672"/>
            <a:ext cx="59436" cy="74980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6" name="Google Shape;606;p28"/>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450"/>
              <a:buFont typeface="Meiryo"/>
              <a:buNone/>
            </a:pPr>
            <a:r>
              <a:rPr b="1" i="0" lang="en-US" sz="1450" u="none" cap="none" strike="noStrike">
                <a:solidFill>
                  <a:srgbClr val="B45309"/>
                </a:solidFill>
                <a:latin typeface="Meiryo"/>
                <a:ea typeface="Meiryo"/>
                <a:cs typeface="Meiryo"/>
                <a:sym typeface="Meiryo"/>
              </a:rPr>
              <a:t>📌  動画の再生数・いいね数・保存数・視聴完了率など、投稿のパフォーマンスを示すデータ</a:t>
            </a:r>
            <a:endParaRPr b="0" i="0" sz="1450" u="none" cap="none" strike="noStrike">
              <a:solidFill>
                <a:schemeClr val="dk1"/>
              </a:solidFill>
              <a:latin typeface="Calibri"/>
              <a:ea typeface="Calibri"/>
              <a:cs typeface="Calibri"/>
              <a:sym typeface="Calibri"/>
            </a:endParaRPr>
          </a:p>
        </p:txBody>
      </p:sp>
      <p:sp>
        <p:nvSpPr>
          <p:cNvPr id="607" name="Google Shape;607;p28"/>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8" name="Google Shape;608;p28"/>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09" name="Google Shape;609;p28"/>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何人が最後まで見たか（視聴完了率）・どこで離脱したか</a:t>
            </a:r>
            <a:endParaRPr b="0" i="0" sz="1450" u="none" cap="none" strike="noStrike">
              <a:solidFill>
                <a:schemeClr val="dk1"/>
              </a:solidFill>
              <a:latin typeface="Calibri"/>
              <a:ea typeface="Calibri"/>
              <a:cs typeface="Calibri"/>
              <a:sym typeface="Calibri"/>
            </a:endParaRPr>
          </a:p>
        </p:txBody>
      </p:sp>
      <p:sp>
        <p:nvSpPr>
          <p:cNvPr id="610" name="Google Shape;610;p28"/>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1" name="Google Shape;611;p28"/>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2" name="Google Shape;612;p28"/>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どんな属性の人が見たか（性別・年齢・地域）</a:t>
            </a:r>
            <a:endParaRPr b="0" i="0" sz="1450" u="none" cap="none" strike="noStrike">
              <a:solidFill>
                <a:schemeClr val="dk1"/>
              </a:solidFill>
              <a:latin typeface="Calibri"/>
              <a:ea typeface="Calibri"/>
              <a:cs typeface="Calibri"/>
              <a:sym typeface="Calibri"/>
            </a:endParaRPr>
          </a:p>
        </p:txBody>
      </p:sp>
      <p:sp>
        <p:nvSpPr>
          <p:cNvPr id="613" name="Google Shape;613;p28"/>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4" name="Google Shape;614;p28"/>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15" name="Google Shape;615;p28"/>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どこから流入したか（フォロワー・おすすめ・ハッシュタグ）</a:t>
            </a:r>
            <a:endParaRPr b="0" i="0" sz="1450" u="none" cap="none" strike="noStrike">
              <a:solidFill>
                <a:schemeClr val="dk1"/>
              </a:solidFill>
              <a:latin typeface="Calibri"/>
              <a:ea typeface="Calibri"/>
              <a:cs typeface="Calibri"/>
              <a:sym typeface="Calibri"/>
            </a:endParaRPr>
          </a:p>
        </p:txBody>
      </p:sp>
      <p:sp>
        <p:nvSpPr>
          <p:cNvPr id="616" name="Google Shape;616;p28"/>
          <p:cNvSpPr/>
          <p:nvPr/>
        </p:nvSpPr>
        <p:spPr>
          <a:xfrm>
            <a:off x="310896" y="3931920"/>
            <a:ext cx="8522208" cy="402336"/>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200"/>
              <a:buFont typeface="Meiryo"/>
              <a:buNone/>
            </a:pPr>
            <a:r>
              <a:rPr b="0" i="1" lang="en-US" sz="1200" u="none" cap="none" strike="noStrike">
                <a:solidFill>
                  <a:srgbClr val="6B7280"/>
                </a:solidFill>
                <a:latin typeface="Meiryo"/>
                <a:ea typeface="Meiryo"/>
                <a:cs typeface="Meiryo"/>
                <a:sym typeface="Meiryo"/>
              </a:rPr>
              <a:t>★  インサイト（Insight）＝「洞察」。SNSではパフォーマンスデータのことを指します</a:t>
            </a:r>
            <a:endParaRPr b="0" i="0" sz="1200" u="none" cap="none" strike="noStrike">
              <a:solidFill>
                <a:schemeClr val="dk1"/>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621" name="Shape 621"/>
        <p:cNvGrpSpPr/>
        <p:nvPr/>
      </p:nvGrpSpPr>
      <p:grpSpPr>
        <a:xfrm>
          <a:off x="0" y="0"/>
          <a:ext cx="0" cy="0"/>
          <a:chOff x="0" y="0"/>
          <a:chExt cx="0" cy="0"/>
        </a:xfrm>
      </p:grpSpPr>
      <p:sp>
        <p:nvSpPr>
          <p:cNvPr id="622" name="Google Shape;622;p29"/>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3" name="Google Shape;623;p29"/>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インサイトを提出する3つの理由</a:t>
            </a:r>
            <a:endParaRPr b="0" i="0" sz="2100" u="none" cap="none" strike="noStrike">
              <a:solidFill>
                <a:schemeClr val="dk1"/>
              </a:solidFill>
              <a:latin typeface="Calibri"/>
              <a:ea typeface="Calibri"/>
              <a:cs typeface="Calibri"/>
              <a:sym typeface="Calibri"/>
            </a:endParaRPr>
          </a:p>
        </p:txBody>
      </p:sp>
      <p:sp>
        <p:nvSpPr>
          <p:cNvPr id="624" name="Google Shape;624;p29"/>
          <p:cNvSpPr/>
          <p:nvPr/>
        </p:nvSpPr>
        <p:spPr>
          <a:xfrm>
            <a:off x="310896" y="804672"/>
            <a:ext cx="8522208" cy="80467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5" name="Google Shape;625;p29"/>
          <p:cNvSpPr/>
          <p:nvPr/>
        </p:nvSpPr>
        <p:spPr>
          <a:xfrm>
            <a:off x="310896" y="804672"/>
            <a:ext cx="59436" cy="804672"/>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6" name="Google Shape;626;p29"/>
          <p:cNvSpPr/>
          <p:nvPr/>
        </p:nvSpPr>
        <p:spPr>
          <a:xfrm>
            <a:off x="512064" y="804672"/>
            <a:ext cx="8174736" cy="8046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00"/>
              <a:buFont typeface="Meiryo"/>
              <a:buNone/>
            </a:pPr>
            <a:r>
              <a:rPr b="0" i="0" lang="en-US" sz="1500" u="none" cap="none" strike="noStrike">
                <a:solidFill>
                  <a:srgbClr val="1E3068"/>
                </a:solidFill>
                <a:latin typeface="Meiryo"/>
                <a:ea typeface="Meiryo"/>
                <a:cs typeface="Meiryo"/>
                <a:sym typeface="Meiryo"/>
              </a:rPr>
              <a:t>①  クライアントへの「効果報告」として必要（広告費に見合う効果があったか）</a:t>
            </a:r>
            <a:endParaRPr b="0" i="0" sz="1500" u="none" cap="none" strike="noStrike">
              <a:solidFill>
                <a:schemeClr val="dk1"/>
              </a:solidFill>
              <a:latin typeface="Calibri"/>
              <a:ea typeface="Calibri"/>
              <a:cs typeface="Calibri"/>
              <a:sym typeface="Calibri"/>
            </a:endParaRPr>
          </a:p>
        </p:txBody>
      </p:sp>
      <p:sp>
        <p:nvSpPr>
          <p:cNvPr id="627" name="Google Shape;627;p29"/>
          <p:cNvSpPr/>
          <p:nvPr/>
        </p:nvSpPr>
        <p:spPr>
          <a:xfrm>
            <a:off x="310896" y="1700784"/>
            <a:ext cx="8522208" cy="80467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8" name="Google Shape;628;p29"/>
          <p:cNvSpPr/>
          <p:nvPr/>
        </p:nvSpPr>
        <p:spPr>
          <a:xfrm>
            <a:off x="310896" y="1700784"/>
            <a:ext cx="59436" cy="804672"/>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29" name="Google Shape;629;p29"/>
          <p:cNvSpPr/>
          <p:nvPr/>
        </p:nvSpPr>
        <p:spPr>
          <a:xfrm>
            <a:off x="512064" y="1700784"/>
            <a:ext cx="8174736" cy="8046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00"/>
              <a:buFont typeface="Meiryo"/>
              <a:buNone/>
            </a:pPr>
            <a:r>
              <a:rPr b="0" i="0" lang="en-US" sz="1500" u="none" cap="none" strike="noStrike">
                <a:solidFill>
                  <a:srgbClr val="1E3068"/>
                </a:solidFill>
                <a:latin typeface="Meiryo"/>
                <a:ea typeface="Meiryo"/>
                <a:cs typeface="Meiryo"/>
                <a:sym typeface="Meiryo"/>
              </a:rPr>
              <a:t>②  次の案件で「改善提案」のデータになる（どう変えれば伸びるか）</a:t>
            </a:r>
            <a:endParaRPr b="0" i="0" sz="1500" u="none" cap="none" strike="noStrike">
              <a:solidFill>
                <a:schemeClr val="dk1"/>
              </a:solidFill>
              <a:latin typeface="Calibri"/>
              <a:ea typeface="Calibri"/>
              <a:cs typeface="Calibri"/>
              <a:sym typeface="Calibri"/>
            </a:endParaRPr>
          </a:p>
        </p:txBody>
      </p:sp>
      <p:sp>
        <p:nvSpPr>
          <p:cNvPr id="630" name="Google Shape;630;p29"/>
          <p:cNvSpPr/>
          <p:nvPr/>
        </p:nvSpPr>
        <p:spPr>
          <a:xfrm>
            <a:off x="310896" y="2596896"/>
            <a:ext cx="8522208" cy="80467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1" name="Google Shape;631;p29"/>
          <p:cNvSpPr/>
          <p:nvPr/>
        </p:nvSpPr>
        <p:spPr>
          <a:xfrm>
            <a:off x="310896" y="2596896"/>
            <a:ext cx="59436" cy="804672"/>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2" name="Google Shape;632;p29"/>
          <p:cNvSpPr/>
          <p:nvPr/>
        </p:nvSpPr>
        <p:spPr>
          <a:xfrm>
            <a:off x="512064" y="2596896"/>
            <a:ext cx="8174736" cy="804672"/>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00"/>
              <a:buFont typeface="Meiryo"/>
              <a:buNone/>
            </a:pPr>
            <a:r>
              <a:rPr b="0" i="0" lang="en-US" sz="1500" u="none" cap="none" strike="noStrike">
                <a:solidFill>
                  <a:srgbClr val="1E3068"/>
                </a:solidFill>
                <a:latin typeface="Meiryo"/>
                <a:ea typeface="Meiryo"/>
                <a:cs typeface="Meiryo"/>
                <a:sym typeface="Meiryo"/>
              </a:rPr>
              <a:t>③  あなた自身の「実績データ」として次のオファー交渉に使える</a:t>
            </a:r>
            <a:endParaRPr b="0" i="0" sz="1500" u="none" cap="none" strike="noStrike">
              <a:solidFill>
                <a:schemeClr val="dk1"/>
              </a:solidFill>
              <a:latin typeface="Calibri"/>
              <a:ea typeface="Calibri"/>
              <a:cs typeface="Calibri"/>
              <a:sym typeface="Calibri"/>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637" name="Shape 637"/>
        <p:cNvGrpSpPr/>
        <p:nvPr/>
      </p:nvGrpSpPr>
      <p:grpSpPr>
        <a:xfrm>
          <a:off x="0" y="0"/>
          <a:ext cx="0" cy="0"/>
          <a:chOff x="0" y="0"/>
          <a:chExt cx="0" cy="0"/>
        </a:xfrm>
      </p:grpSpPr>
      <p:sp>
        <p:nvSpPr>
          <p:cNvPr id="638" name="Google Shape;638;p30"/>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39" name="Google Shape;639;p30"/>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インサイトの取り方・提出方法</a:t>
            </a:r>
            <a:endParaRPr b="0" i="0" sz="2100" u="none" cap="none" strike="noStrike">
              <a:solidFill>
                <a:schemeClr val="dk1"/>
              </a:solidFill>
              <a:latin typeface="Calibri"/>
              <a:ea typeface="Calibri"/>
              <a:cs typeface="Calibri"/>
              <a:sym typeface="Calibri"/>
            </a:endParaRPr>
          </a:p>
        </p:txBody>
      </p:sp>
      <p:sp>
        <p:nvSpPr>
          <p:cNvPr id="640" name="Google Shape;640;p30"/>
          <p:cNvSpPr/>
          <p:nvPr/>
        </p:nvSpPr>
        <p:spPr>
          <a:xfrm>
            <a:off x="310896" y="804672"/>
            <a:ext cx="4133088" cy="3950208"/>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1" name="Google Shape;641;p30"/>
          <p:cNvSpPr/>
          <p:nvPr/>
        </p:nvSpPr>
        <p:spPr>
          <a:xfrm>
            <a:off x="310896" y="804672"/>
            <a:ext cx="4133088"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2" name="Google Shape;642;p30"/>
          <p:cNvSpPr/>
          <p:nvPr/>
        </p:nvSpPr>
        <p:spPr>
          <a:xfrm>
            <a:off x="493776" y="914400"/>
            <a:ext cx="3803904"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600"/>
              <a:buFont typeface="Meiryo"/>
              <a:buNone/>
            </a:pPr>
            <a:r>
              <a:rPr b="1" i="0" lang="en-US" sz="1600" u="none" cap="none" strike="noStrike">
                <a:solidFill>
                  <a:srgbClr val="1E3068"/>
                </a:solidFill>
                <a:latin typeface="Meiryo"/>
                <a:ea typeface="Meiryo"/>
                <a:cs typeface="Meiryo"/>
                <a:sym typeface="Meiryo"/>
              </a:rPr>
              <a:t>TikTok</a:t>
            </a:r>
            <a:endParaRPr b="0" i="0" sz="1600" u="none" cap="none" strike="noStrike">
              <a:solidFill>
                <a:schemeClr val="dk1"/>
              </a:solidFill>
              <a:latin typeface="Calibri"/>
              <a:ea typeface="Calibri"/>
              <a:cs typeface="Calibri"/>
              <a:sym typeface="Calibri"/>
            </a:endParaRPr>
          </a:p>
        </p:txBody>
      </p:sp>
      <p:sp>
        <p:nvSpPr>
          <p:cNvPr id="643" name="Google Shape;643;p30"/>
          <p:cNvSpPr/>
          <p:nvPr/>
        </p:nvSpPr>
        <p:spPr>
          <a:xfrm>
            <a:off x="493776" y="1499616"/>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投稿した動画の</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「インサイトを見る」をタップ</a:t>
            </a:r>
            <a:endParaRPr b="0" i="0" sz="1350" u="none" cap="none" strike="noStrike">
              <a:solidFill>
                <a:schemeClr val="dk1"/>
              </a:solidFill>
              <a:latin typeface="Calibri"/>
              <a:ea typeface="Calibri"/>
              <a:cs typeface="Calibri"/>
              <a:sym typeface="Calibri"/>
            </a:endParaRPr>
          </a:p>
        </p:txBody>
      </p:sp>
      <p:sp>
        <p:nvSpPr>
          <p:cNvPr id="644" name="Google Shape;644;p30"/>
          <p:cNvSpPr/>
          <p:nvPr/>
        </p:nvSpPr>
        <p:spPr>
          <a:xfrm>
            <a:off x="493776" y="2267712"/>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規定の画面を</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スクリーンショット</a:t>
            </a:r>
            <a:endParaRPr b="0" i="0" sz="1350" u="none" cap="none" strike="noStrike">
              <a:solidFill>
                <a:schemeClr val="dk1"/>
              </a:solidFill>
              <a:latin typeface="Calibri"/>
              <a:ea typeface="Calibri"/>
              <a:cs typeface="Calibri"/>
              <a:sym typeface="Calibri"/>
            </a:endParaRPr>
          </a:p>
        </p:txBody>
      </p:sp>
      <p:sp>
        <p:nvSpPr>
          <p:cNvPr id="645" name="Google Shape;645;p30"/>
          <p:cNvSpPr/>
          <p:nvPr/>
        </p:nvSpPr>
        <p:spPr>
          <a:xfrm>
            <a:off x="493776" y="3035808"/>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 Notionで</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必要な画面を確認</a:t>
            </a:r>
            <a:endParaRPr b="0" i="0" sz="1350" u="none" cap="none" strike="noStrike">
              <a:solidFill>
                <a:schemeClr val="dk1"/>
              </a:solidFill>
              <a:latin typeface="Calibri"/>
              <a:ea typeface="Calibri"/>
              <a:cs typeface="Calibri"/>
              <a:sym typeface="Calibri"/>
            </a:endParaRPr>
          </a:p>
        </p:txBody>
      </p:sp>
      <p:sp>
        <p:nvSpPr>
          <p:cNvPr id="646" name="Google Shape;646;p30"/>
          <p:cNvSpPr/>
          <p:nvPr/>
        </p:nvSpPr>
        <p:spPr>
          <a:xfrm>
            <a:off x="4553712" y="804672"/>
            <a:ext cx="4133088" cy="3950208"/>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7" name="Google Shape;647;p30"/>
          <p:cNvSpPr/>
          <p:nvPr/>
        </p:nvSpPr>
        <p:spPr>
          <a:xfrm>
            <a:off x="4553712" y="804672"/>
            <a:ext cx="4133088" cy="59436"/>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48" name="Google Shape;648;p30"/>
          <p:cNvSpPr/>
          <p:nvPr/>
        </p:nvSpPr>
        <p:spPr>
          <a:xfrm>
            <a:off x="4736592" y="914400"/>
            <a:ext cx="3803904"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600"/>
              <a:buFont typeface="Meiryo"/>
              <a:buNone/>
            </a:pPr>
            <a:r>
              <a:rPr b="1" i="0" lang="en-US" sz="1600" u="none" cap="none" strike="noStrike">
                <a:solidFill>
                  <a:srgbClr val="1E3068"/>
                </a:solidFill>
                <a:latin typeface="Meiryo"/>
                <a:ea typeface="Meiryo"/>
                <a:cs typeface="Meiryo"/>
                <a:sym typeface="Meiryo"/>
              </a:rPr>
              <a:t>Instagram Reels</a:t>
            </a:r>
            <a:endParaRPr b="0" i="0" sz="1600" u="none" cap="none" strike="noStrike">
              <a:solidFill>
                <a:schemeClr val="dk1"/>
              </a:solidFill>
              <a:latin typeface="Calibri"/>
              <a:ea typeface="Calibri"/>
              <a:cs typeface="Calibri"/>
              <a:sym typeface="Calibri"/>
            </a:endParaRPr>
          </a:p>
        </p:txBody>
      </p:sp>
      <p:sp>
        <p:nvSpPr>
          <p:cNvPr id="649" name="Google Shape;649;p30"/>
          <p:cNvSpPr/>
          <p:nvPr/>
        </p:nvSpPr>
        <p:spPr>
          <a:xfrm>
            <a:off x="4736592" y="1499616"/>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まずプロアカウントに切り替える</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（無料・すぐできる）</a:t>
            </a:r>
            <a:endParaRPr b="0" i="0" sz="1350" u="none" cap="none" strike="noStrike">
              <a:solidFill>
                <a:schemeClr val="dk1"/>
              </a:solidFill>
              <a:latin typeface="Calibri"/>
              <a:ea typeface="Calibri"/>
              <a:cs typeface="Calibri"/>
              <a:sym typeface="Calibri"/>
            </a:endParaRPr>
          </a:p>
        </p:txBody>
      </p:sp>
      <p:sp>
        <p:nvSpPr>
          <p:cNvPr id="650" name="Google Shape;650;p30"/>
          <p:cNvSpPr/>
          <p:nvPr/>
        </p:nvSpPr>
        <p:spPr>
          <a:xfrm>
            <a:off x="4736592" y="2267712"/>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投稿の</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「インサイトを見る」をタップ</a:t>
            </a:r>
            <a:endParaRPr b="0" i="0" sz="1350" u="none" cap="none" strike="noStrike">
              <a:solidFill>
                <a:schemeClr val="dk1"/>
              </a:solidFill>
              <a:latin typeface="Calibri"/>
              <a:ea typeface="Calibri"/>
              <a:cs typeface="Calibri"/>
              <a:sym typeface="Calibri"/>
            </a:endParaRPr>
          </a:p>
        </p:txBody>
      </p:sp>
      <p:sp>
        <p:nvSpPr>
          <p:cNvPr id="651" name="Google Shape;651;p30"/>
          <p:cNvSpPr/>
          <p:nvPr/>
        </p:nvSpPr>
        <p:spPr>
          <a:xfrm>
            <a:off x="4736592" y="3035808"/>
            <a:ext cx="3803904" cy="713232"/>
          </a:xfrm>
          <a:prstGeom prst="rect">
            <a:avLst/>
          </a:prstGeom>
          <a:noFill/>
          <a:ln>
            <a:noFill/>
          </a:ln>
        </p:spPr>
        <p:txBody>
          <a:bodyPr anchorCtr="0" anchor="t" bIns="45700" lIns="91425" spcFirstLastPara="1" rIns="91425" wrap="square" tIns="45700">
            <a:noAutofit/>
          </a:bodyPr>
          <a:lstStyle/>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  ★ Notionで</a:t>
            </a:r>
            <a:endParaRPr b="0" i="0" sz="1350" u="none" cap="none" strike="noStrike">
              <a:solidFill>
                <a:schemeClr val="dk1"/>
              </a:solidFill>
              <a:latin typeface="Calibri"/>
              <a:ea typeface="Calibri"/>
              <a:cs typeface="Calibri"/>
              <a:sym typeface="Calibri"/>
            </a:endParaRPr>
          </a:p>
          <a:p>
            <a:pPr indent="0" lvl="0" marL="0" marR="0" rtl="0" algn="l">
              <a:lnSpc>
                <a:spcPct val="130000"/>
              </a:lnSpc>
              <a:spcBef>
                <a:spcPts val="0"/>
              </a:spcBef>
              <a:spcAft>
                <a:spcPts val="0"/>
              </a:spcAft>
              <a:buClr>
                <a:srgbClr val="6B7280"/>
              </a:buClr>
              <a:buSzPts val="1350"/>
              <a:buFont typeface="Meiryo"/>
              <a:buNone/>
            </a:pPr>
            <a:r>
              <a:rPr b="0" i="0" lang="en-US" sz="1350" u="none" cap="none" strike="noStrike">
                <a:solidFill>
                  <a:srgbClr val="6B7280"/>
                </a:solidFill>
                <a:latin typeface="Meiryo"/>
                <a:ea typeface="Meiryo"/>
                <a:cs typeface="Meiryo"/>
                <a:sym typeface="Meiryo"/>
              </a:rPr>
              <a:t>必要な画面を確認</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656" name="Shape 656"/>
        <p:cNvGrpSpPr/>
        <p:nvPr/>
      </p:nvGrpSpPr>
      <p:grpSpPr>
        <a:xfrm>
          <a:off x="0" y="0"/>
          <a:ext cx="0" cy="0"/>
          <a:chOff x="0" y="0"/>
          <a:chExt cx="0" cy="0"/>
        </a:xfrm>
      </p:grpSpPr>
      <p:sp>
        <p:nvSpPr>
          <p:cNvPr id="657" name="Google Shape;657;p31"/>
          <p:cNvSpPr/>
          <p:nvPr/>
        </p:nvSpPr>
        <p:spPr>
          <a:xfrm>
            <a:off x="0" y="0"/>
            <a:ext cx="2743200"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58" name="Google Shape;658;p31"/>
          <p:cNvSpPr/>
          <p:nvPr/>
        </p:nvSpPr>
        <p:spPr>
          <a:xfrm>
            <a:off x="237744" y="1005840"/>
            <a:ext cx="2286000" cy="2103120"/>
          </a:xfrm>
          <a:prstGeom prst="rect">
            <a:avLst/>
          </a:prstGeom>
          <a:noFill/>
          <a:ln>
            <a:noFill/>
          </a:ln>
        </p:spPr>
        <p:txBody>
          <a:bodyPr anchorCtr="0" anchor="ctr" bIns="45700" lIns="91425" spcFirstLastPara="1" rIns="91425" wrap="square" tIns="45700">
            <a:noAutofit/>
          </a:bodyPr>
          <a:lstStyle/>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まとめ</a:t>
            </a:r>
            <a:endParaRPr b="0" i="0" sz="2600" u="none" cap="none" strike="noStrike">
              <a:solidFill>
                <a:schemeClr val="dk1"/>
              </a:solidFill>
              <a:latin typeface="Calibri"/>
              <a:ea typeface="Calibri"/>
              <a:cs typeface="Calibri"/>
              <a:sym typeface="Calibri"/>
            </a:endParaRPr>
          </a:p>
        </p:txBody>
      </p:sp>
      <p:sp>
        <p:nvSpPr>
          <p:cNvPr id="659" name="Google Shape;659;p31"/>
          <p:cNvSpPr/>
          <p:nvPr/>
        </p:nvSpPr>
        <p:spPr>
          <a:xfrm>
            <a:off x="237744" y="4114800"/>
            <a:ext cx="2286000"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100"/>
              <a:buFont typeface="Meiryo"/>
              <a:buNone/>
            </a:pPr>
            <a:r>
              <a:rPr b="0" i="0" lang="en-US" sz="1100" u="none" cap="none" strike="noStrike">
                <a:solidFill>
                  <a:srgbClr val="A0B8D8"/>
                </a:solidFill>
                <a:latin typeface="Meiryo"/>
                <a:ea typeface="Meiryo"/>
                <a:cs typeface="Meiryo"/>
                <a:sym typeface="Meiryo"/>
              </a:rPr>
              <a:t>動画まとめ</a:t>
            </a:r>
            <a:endParaRPr b="0" i="0" sz="1100" u="none" cap="none" strike="noStrike">
              <a:solidFill>
                <a:schemeClr val="dk1"/>
              </a:solidFill>
              <a:latin typeface="Calibri"/>
              <a:ea typeface="Calibri"/>
              <a:cs typeface="Calibri"/>
              <a:sym typeface="Calibri"/>
            </a:endParaRPr>
          </a:p>
        </p:txBody>
      </p:sp>
      <p:sp>
        <p:nvSpPr>
          <p:cNvPr id="660" name="Google Shape;660;p31"/>
          <p:cNvSpPr/>
          <p:nvPr/>
        </p:nvSpPr>
        <p:spPr>
          <a:xfrm>
            <a:off x="2944368" y="329184"/>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1" name="Google Shape;661;p31"/>
          <p:cNvSpPr/>
          <p:nvPr/>
        </p:nvSpPr>
        <p:spPr>
          <a:xfrm>
            <a:off x="3072384" y="329184"/>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01</a:t>
            </a:r>
            <a:endParaRPr b="0" i="0" sz="2000" u="none" cap="none" strike="noStrike">
              <a:solidFill>
                <a:schemeClr val="dk1"/>
              </a:solidFill>
              <a:latin typeface="Calibri"/>
              <a:ea typeface="Calibri"/>
              <a:cs typeface="Calibri"/>
              <a:sym typeface="Calibri"/>
            </a:endParaRPr>
          </a:p>
        </p:txBody>
      </p:sp>
      <p:sp>
        <p:nvSpPr>
          <p:cNvPr id="662" name="Google Shape;662;p31"/>
          <p:cNvSpPr/>
          <p:nvPr/>
        </p:nvSpPr>
        <p:spPr>
          <a:xfrm>
            <a:off x="3749040" y="329184"/>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インサイト＝動画の成績表。提出はクライアントへの効果報告</a:t>
            </a:r>
            <a:endParaRPr b="0" i="0" sz="1550" u="none" cap="none" strike="noStrike">
              <a:solidFill>
                <a:schemeClr val="dk1"/>
              </a:solidFill>
              <a:latin typeface="Calibri"/>
              <a:ea typeface="Calibri"/>
              <a:cs typeface="Calibri"/>
              <a:sym typeface="Calibri"/>
            </a:endParaRPr>
          </a:p>
        </p:txBody>
      </p:sp>
      <p:cxnSp>
        <p:nvCxnSpPr>
          <p:cNvPr id="663" name="Google Shape;663;p31"/>
          <p:cNvCxnSpPr/>
          <p:nvPr/>
        </p:nvCxnSpPr>
        <p:spPr>
          <a:xfrm>
            <a:off x="2944368" y="1216152"/>
            <a:ext cx="5925312" cy="0"/>
          </a:xfrm>
          <a:prstGeom prst="straightConnector1">
            <a:avLst/>
          </a:prstGeom>
          <a:noFill/>
          <a:ln cap="flat" cmpd="sng" w="9525">
            <a:solidFill>
              <a:srgbClr val="D1D5DB"/>
            </a:solidFill>
            <a:prstDash val="solid"/>
            <a:round/>
            <a:headEnd len="sm" w="sm" type="none"/>
            <a:tailEnd len="sm" w="sm" type="none"/>
          </a:ln>
        </p:spPr>
      </p:cxnSp>
      <p:sp>
        <p:nvSpPr>
          <p:cNvPr id="664" name="Google Shape;664;p31"/>
          <p:cNvSpPr/>
          <p:nvPr/>
        </p:nvSpPr>
        <p:spPr>
          <a:xfrm>
            <a:off x="2944368" y="1261872"/>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5" name="Google Shape;665;p31"/>
          <p:cNvSpPr/>
          <p:nvPr/>
        </p:nvSpPr>
        <p:spPr>
          <a:xfrm>
            <a:off x="3072384" y="1261872"/>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02</a:t>
            </a:r>
            <a:endParaRPr b="0" i="0" sz="2000" u="none" cap="none" strike="noStrike">
              <a:solidFill>
                <a:schemeClr val="dk1"/>
              </a:solidFill>
              <a:latin typeface="Calibri"/>
              <a:ea typeface="Calibri"/>
              <a:cs typeface="Calibri"/>
              <a:sym typeface="Calibri"/>
            </a:endParaRPr>
          </a:p>
        </p:txBody>
      </p:sp>
      <p:sp>
        <p:nvSpPr>
          <p:cNvPr id="666" name="Google Shape;666;p31"/>
          <p:cNvSpPr/>
          <p:nvPr/>
        </p:nvSpPr>
        <p:spPr>
          <a:xfrm>
            <a:off x="3749040" y="1261872"/>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TikTok・Instagramそれぞれの規定画面をスクショして提出</a:t>
            </a:r>
            <a:endParaRPr b="0" i="0" sz="1550" u="none" cap="none" strike="noStrike">
              <a:solidFill>
                <a:schemeClr val="dk1"/>
              </a:solidFill>
              <a:latin typeface="Calibri"/>
              <a:ea typeface="Calibri"/>
              <a:cs typeface="Calibri"/>
              <a:sym typeface="Calibri"/>
            </a:endParaRPr>
          </a:p>
        </p:txBody>
      </p:sp>
      <p:cxnSp>
        <p:nvCxnSpPr>
          <p:cNvPr id="667" name="Google Shape;667;p31"/>
          <p:cNvCxnSpPr/>
          <p:nvPr/>
        </p:nvCxnSpPr>
        <p:spPr>
          <a:xfrm>
            <a:off x="2944368" y="2148840"/>
            <a:ext cx="5925312" cy="0"/>
          </a:xfrm>
          <a:prstGeom prst="straightConnector1">
            <a:avLst/>
          </a:prstGeom>
          <a:noFill/>
          <a:ln cap="flat" cmpd="sng" w="9525">
            <a:solidFill>
              <a:srgbClr val="D1D5DB"/>
            </a:solidFill>
            <a:prstDash val="solid"/>
            <a:round/>
            <a:headEnd len="sm" w="sm" type="none"/>
            <a:tailEnd len="sm" w="sm" type="none"/>
          </a:ln>
        </p:spPr>
      </p:cxnSp>
      <p:sp>
        <p:nvSpPr>
          <p:cNvPr id="668" name="Google Shape;668;p31"/>
          <p:cNvSpPr/>
          <p:nvPr/>
        </p:nvSpPr>
        <p:spPr>
          <a:xfrm>
            <a:off x="2944368" y="2194560"/>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69" name="Google Shape;669;p31"/>
          <p:cNvSpPr/>
          <p:nvPr/>
        </p:nvSpPr>
        <p:spPr>
          <a:xfrm>
            <a:off x="3072384" y="2194560"/>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03</a:t>
            </a:r>
            <a:endParaRPr b="0" i="0" sz="2000" u="none" cap="none" strike="noStrike">
              <a:solidFill>
                <a:schemeClr val="dk1"/>
              </a:solidFill>
              <a:latin typeface="Calibri"/>
              <a:ea typeface="Calibri"/>
              <a:cs typeface="Calibri"/>
              <a:sym typeface="Calibri"/>
            </a:endParaRPr>
          </a:p>
        </p:txBody>
      </p:sp>
      <p:sp>
        <p:nvSpPr>
          <p:cNvPr id="670" name="Google Shape;670;p31"/>
          <p:cNvSpPr/>
          <p:nvPr/>
        </p:nvSpPr>
        <p:spPr>
          <a:xfrm>
            <a:off x="3749040" y="2194560"/>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Instagramはプロアカウント設定が必要（無料でできる）</a:t>
            </a:r>
            <a:endParaRPr b="0" i="0" sz="1550" u="none" cap="none" strike="noStrike">
              <a:solidFill>
                <a:schemeClr val="dk1"/>
              </a:solidFill>
              <a:latin typeface="Calibri"/>
              <a:ea typeface="Calibri"/>
              <a:cs typeface="Calibri"/>
              <a:sym typeface="Calibri"/>
            </a:endParaRPr>
          </a:p>
        </p:txBody>
      </p:sp>
      <p:sp>
        <p:nvSpPr>
          <p:cNvPr id="671" name="Google Shape;671;p31"/>
          <p:cNvSpPr/>
          <p:nvPr/>
        </p:nvSpPr>
        <p:spPr>
          <a:xfrm>
            <a:off x="2944368" y="3273552"/>
            <a:ext cx="5925312" cy="65836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2" name="Google Shape;672;p31"/>
          <p:cNvSpPr/>
          <p:nvPr/>
        </p:nvSpPr>
        <p:spPr>
          <a:xfrm>
            <a:off x="2944368" y="3273552"/>
            <a:ext cx="59436" cy="65836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73" name="Google Shape;673;p31"/>
          <p:cNvSpPr/>
          <p:nvPr/>
        </p:nvSpPr>
        <p:spPr>
          <a:xfrm>
            <a:off x="3108960" y="3273552"/>
            <a:ext cx="5687568"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030"/>
              </a:buClr>
              <a:buSzPts val="1350"/>
              <a:buFont typeface="Meiryo"/>
              <a:buNone/>
            </a:pPr>
            <a:r>
              <a:rPr b="1" i="0" lang="en-US" sz="1350" u="none" cap="none" strike="noStrike">
                <a:solidFill>
                  <a:srgbClr val="E87030"/>
                </a:solidFill>
                <a:latin typeface="Meiryo"/>
                <a:ea typeface="Meiryo"/>
                <a:cs typeface="Meiryo"/>
                <a:sym typeface="Meiryo"/>
              </a:rPr>
              <a:t>▶  Next  |  動画⑥：プロの仕事術</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78" name="Shape 678"/>
        <p:cNvGrpSpPr/>
        <p:nvPr/>
      </p:nvGrpSpPr>
      <p:grpSpPr>
        <a:xfrm>
          <a:off x="0" y="0"/>
          <a:ext cx="0" cy="0"/>
          <a:chOff x="0" y="0"/>
          <a:chExt cx="0" cy="0"/>
        </a:xfrm>
      </p:grpSpPr>
      <p:sp>
        <p:nvSpPr>
          <p:cNvPr id="679" name="Google Shape;679;p32"/>
          <p:cNvSpPr/>
          <p:nvPr/>
        </p:nvSpPr>
        <p:spPr>
          <a:xfrm>
            <a:off x="0" y="0"/>
            <a:ext cx="2907792"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0" name="Google Shape;680;p32"/>
          <p:cNvSpPr/>
          <p:nvPr/>
        </p:nvSpPr>
        <p:spPr>
          <a:xfrm>
            <a:off x="274320" y="475488"/>
            <a:ext cx="2359152" cy="3840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500"/>
              <a:buFont typeface="Meiryo"/>
              <a:buNone/>
            </a:pPr>
            <a:r>
              <a:rPr b="1" i="0" lang="en-US" sz="1500" u="none" cap="none" strike="noStrike">
                <a:solidFill>
                  <a:srgbClr val="A0B8D8"/>
                </a:solidFill>
                <a:latin typeface="Meiryo"/>
                <a:ea typeface="Meiryo"/>
                <a:cs typeface="Meiryo"/>
                <a:sym typeface="Meiryo"/>
              </a:rPr>
              <a:t>第3章</a:t>
            </a:r>
            <a:endParaRPr b="0" i="0" sz="1500" u="none" cap="none" strike="noStrike">
              <a:solidFill>
                <a:schemeClr val="dk1"/>
              </a:solidFill>
              <a:latin typeface="Calibri"/>
              <a:ea typeface="Calibri"/>
              <a:cs typeface="Calibri"/>
              <a:sym typeface="Calibri"/>
            </a:endParaRPr>
          </a:p>
        </p:txBody>
      </p:sp>
      <p:sp>
        <p:nvSpPr>
          <p:cNvPr id="681" name="Google Shape;681;p32"/>
          <p:cNvSpPr/>
          <p:nvPr/>
        </p:nvSpPr>
        <p:spPr>
          <a:xfrm>
            <a:off x="274320" y="868680"/>
            <a:ext cx="2359152" cy="9144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FFFFFF"/>
              </a:buClr>
              <a:buSzPts val="5000"/>
              <a:buFont typeface="Meiryo"/>
              <a:buNone/>
            </a:pPr>
            <a:r>
              <a:rPr b="1" i="0" lang="en-US" sz="5000" u="none" cap="none" strike="noStrike">
                <a:solidFill>
                  <a:srgbClr val="FFFFFF"/>
                </a:solidFill>
                <a:latin typeface="Meiryo"/>
                <a:ea typeface="Meiryo"/>
                <a:cs typeface="Meiryo"/>
                <a:sym typeface="Meiryo"/>
              </a:rPr>
              <a:t>動画⑥</a:t>
            </a:r>
            <a:endParaRPr b="0" i="0" sz="5000" u="none" cap="none" strike="noStrike">
              <a:solidFill>
                <a:schemeClr val="dk1"/>
              </a:solidFill>
              <a:latin typeface="Calibri"/>
              <a:ea typeface="Calibri"/>
              <a:cs typeface="Calibri"/>
              <a:sym typeface="Calibri"/>
            </a:endParaRPr>
          </a:p>
        </p:txBody>
      </p:sp>
      <p:sp>
        <p:nvSpPr>
          <p:cNvPr id="682" name="Google Shape;682;p32"/>
          <p:cNvSpPr/>
          <p:nvPr/>
        </p:nvSpPr>
        <p:spPr>
          <a:xfrm>
            <a:off x="274320" y="2011680"/>
            <a:ext cx="2359152" cy="457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300"/>
              <a:buFont typeface="Meiryo"/>
              <a:buNone/>
            </a:pPr>
            <a:r>
              <a:rPr b="0" i="0" lang="en-US" sz="1300" u="none" cap="none" strike="noStrike">
                <a:solidFill>
                  <a:srgbClr val="A0B8D8"/>
                </a:solidFill>
                <a:latin typeface="Meiryo"/>
                <a:ea typeface="Meiryo"/>
                <a:cs typeface="Meiryo"/>
                <a:sym typeface="Meiryo"/>
              </a:rPr>
              <a:t>進行フロー・ビジネス連絡</a:t>
            </a:r>
            <a:endParaRPr b="0" i="0" sz="1300" u="none" cap="none" strike="noStrike">
              <a:solidFill>
                <a:schemeClr val="dk1"/>
              </a:solidFill>
              <a:latin typeface="Calibri"/>
              <a:ea typeface="Calibri"/>
              <a:cs typeface="Calibri"/>
              <a:sym typeface="Calibri"/>
            </a:endParaRPr>
          </a:p>
        </p:txBody>
      </p:sp>
      <p:sp>
        <p:nvSpPr>
          <p:cNvPr id="683" name="Google Shape;683;p32"/>
          <p:cNvSpPr/>
          <p:nvPr/>
        </p:nvSpPr>
        <p:spPr>
          <a:xfrm>
            <a:off x="274320" y="2816352"/>
            <a:ext cx="1389888" cy="4023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4" name="Google Shape;684;p32"/>
          <p:cNvSpPr/>
          <p:nvPr/>
        </p:nvSpPr>
        <p:spPr>
          <a:xfrm>
            <a:off x="274320" y="2816352"/>
            <a:ext cx="1389888" cy="402336"/>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  約5分</a:t>
            </a:r>
            <a:endParaRPr b="0" i="0" sz="1300" u="none" cap="none" strike="noStrike">
              <a:solidFill>
                <a:schemeClr val="dk1"/>
              </a:solidFill>
              <a:latin typeface="Calibri"/>
              <a:ea typeface="Calibri"/>
              <a:cs typeface="Calibri"/>
              <a:sym typeface="Calibri"/>
            </a:endParaRPr>
          </a:p>
        </p:txBody>
      </p:sp>
      <p:sp>
        <p:nvSpPr>
          <p:cNvPr id="685" name="Google Shape;685;p32"/>
          <p:cNvSpPr/>
          <p:nvPr/>
        </p:nvSpPr>
        <p:spPr>
          <a:xfrm>
            <a:off x="3127248" y="219456"/>
            <a:ext cx="5742432" cy="25603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800"/>
              <a:buFont typeface="Meiryo"/>
              <a:buNone/>
            </a:pPr>
            <a:r>
              <a:rPr b="0" i="0" lang="en-US" sz="800" u="none" cap="none" strike="noStrike">
                <a:solidFill>
                  <a:srgbClr val="1E3068"/>
                </a:solidFill>
                <a:latin typeface="Meiryo"/>
                <a:ea typeface="Meiryo"/>
                <a:cs typeface="Meiryo"/>
                <a:sym typeface="Meiryo"/>
              </a:rPr>
              <a:t>CREATOR NETWORK TRAINING</a:t>
            </a:r>
            <a:endParaRPr b="0" i="0" sz="800" u="none" cap="none" strike="noStrike">
              <a:solidFill>
                <a:schemeClr val="dk1"/>
              </a:solidFill>
              <a:latin typeface="Calibri"/>
              <a:ea typeface="Calibri"/>
              <a:cs typeface="Calibri"/>
              <a:sym typeface="Calibri"/>
            </a:endParaRPr>
          </a:p>
        </p:txBody>
      </p:sp>
      <p:sp>
        <p:nvSpPr>
          <p:cNvPr id="686" name="Google Shape;686;p32"/>
          <p:cNvSpPr/>
          <p:nvPr/>
        </p:nvSpPr>
        <p:spPr>
          <a:xfrm>
            <a:off x="3127248" y="621792"/>
            <a:ext cx="5577840" cy="2606040"/>
          </a:xfrm>
          <a:prstGeom prst="rect">
            <a:avLst/>
          </a:prstGeom>
          <a:noFill/>
          <a:ln>
            <a:noFill/>
          </a:ln>
        </p:spPr>
        <p:txBody>
          <a:bodyPr anchorCtr="0" anchor="t" bIns="45700" lIns="91425" spcFirstLastPara="1" rIns="91425" wrap="square" tIns="45700">
            <a:noAutofit/>
          </a:bodyPr>
          <a:lstStyle/>
          <a:p>
            <a:pPr indent="0" lvl="0" marL="0" marR="0" rtl="0" algn="l">
              <a:lnSpc>
                <a:spcPct val="118000"/>
              </a:lnSpc>
              <a:spcBef>
                <a:spcPts val="0"/>
              </a:spcBef>
              <a:spcAft>
                <a:spcPts val="0"/>
              </a:spcAft>
              <a:buClr>
                <a:srgbClr val="1E3068"/>
              </a:buClr>
              <a:buSzPts val="3800"/>
              <a:buFont typeface="Meiryo"/>
              <a:buNone/>
            </a:pPr>
            <a:r>
              <a:rPr b="1" i="0" lang="en-US" sz="3800" u="none" cap="none" strike="noStrike">
                <a:solidFill>
                  <a:srgbClr val="1E3068"/>
                </a:solidFill>
                <a:latin typeface="Meiryo"/>
                <a:ea typeface="Meiryo"/>
                <a:cs typeface="Meiryo"/>
                <a:sym typeface="Meiryo"/>
              </a:rPr>
              <a:t>プロの仕事術</a:t>
            </a:r>
            <a:endParaRPr b="0" i="0" sz="3800" u="none" cap="none" strike="noStrike">
              <a:solidFill>
                <a:schemeClr val="dk1"/>
              </a:solidFill>
              <a:latin typeface="Calibri"/>
              <a:ea typeface="Calibri"/>
              <a:cs typeface="Calibri"/>
              <a:sym typeface="Calibri"/>
            </a:endParaRPr>
          </a:p>
        </p:txBody>
      </p:sp>
      <p:sp>
        <p:nvSpPr>
          <p:cNvPr id="687" name="Google Shape;687;p32"/>
          <p:cNvSpPr/>
          <p:nvPr/>
        </p:nvSpPr>
        <p:spPr>
          <a:xfrm>
            <a:off x="3127248" y="3364992"/>
            <a:ext cx="1920240"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88" name="Google Shape;688;p32"/>
          <p:cNvSpPr/>
          <p:nvPr/>
        </p:nvSpPr>
        <p:spPr>
          <a:xfrm>
            <a:off x="3127248" y="3529584"/>
            <a:ext cx="5577840" cy="36576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6B7280"/>
              </a:buClr>
              <a:buSzPts val="1400"/>
              <a:buFont typeface="Meiryo"/>
              <a:buNone/>
            </a:pPr>
            <a:r>
              <a:rPr b="0" i="0" lang="en-US" sz="1400" u="none" cap="none" strike="noStrike">
                <a:solidFill>
                  <a:srgbClr val="6B7280"/>
                </a:solidFill>
                <a:latin typeface="Meiryo"/>
                <a:ea typeface="Meiryo"/>
                <a:cs typeface="Meiryo"/>
                <a:sym typeface="Meiryo"/>
              </a:rPr>
              <a:t>クリエイターネットワーク研修</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693" name="Shape 693"/>
        <p:cNvGrpSpPr/>
        <p:nvPr/>
      </p:nvGrpSpPr>
      <p:grpSpPr>
        <a:xfrm>
          <a:off x="0" y="0"/>
          <a:ext cx="0" cy="0"/>
          <a:chOff x="0" y="0"/>
          <a:chExt cx="0" cy="0"/>
        </a:xfrm>
      </p:grpSpPr>
      <p:sp>
        <p:nvSpPr>
          <p:cNvPr id="694" name="Google Shape;694;p33"/>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5" name="Google Shape;695;p33"/>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この動画で学ぶこと</a:t>
            </a:r>
            <a:endParaRPr b="0" i="0" sz="2100" u="none" cap="none" strike="noStrike">
              <a:solidFill>
                <a:schemeClr val="dk1"/>
              </a:solidFill>
              <a:latin typeface="Calibri"/>
              <a:ea typeface="Calibri"/>
              <a:cs typeface="Calibri"/>
              <a:sym typeface="Calibri"/>
            </a:endParaRPr>
          </a:p>
        </p:txBody>
      </p:sp>
      <p:sp>
        <p:nvSpPr>
          <p:cNvPr id="696" name="Google Shape;696;p33"/>
          <p:cNvSpPr/>
          <p:nvPr/>
        </p:nvSpPr>
        <p:spPr>
          <a:xfrm>
            <a:off x="310896"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7" name="Google Shape;697;p33"/>
          <p:cNvSpPr/>
          <p:nvPr/>
        </p:nvSpPr>
        <p:spPr>
          <a:xfrm>
            <a:off x="310896"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698" name="Google Shape;698;p33"/>
          <p:cNvSpPr/>
          <p:nvPr/>
        </p:nvSpPr>
        <p:spPr>
          <a:xfrm>
            <a:off x="566928"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699" name="Google Shape;699;p33"/>
          <p:cNvSpPr/>
          <p:nvPr/>
        </p:nvSpPr>
        <p:spPr>
          <a:xfrm>
            <a:off x="512064"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コアタイムとは</a:t>
            </a:r>
            <a:endParaRPr b="0" i="0" sz="1550" u="none" cap="none" strike="noStrike">
              <a:solidFill>
                <a:schemeClr val="dk1"/>
              </a:solidFill>
              <a:latin typeface="Calibri"/>
              <a:ea typeface="Calibri"/>
              <a:cs typeface="Calibri"/>
              <a:sym typeface="Calibri"/>
            </a:endParaRPr>
          </a:p>
        </p:txBody>
      </p:sp>
      <p:sp>
        <p:nvSpPr>
          <p:cNvPr id="700" name="Google Shape;700;p33"/>
          <p:cNvSpPr/>
          <p:nvPr/>
        </p:nvSpPr>
        <p:spPr>
          <a:xfrm>
            <a:off x="512064"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連絡が取れる</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状態にしておく</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中心的な時間帯</a:t>
            </a:r>
            <a:endParaRPr b="0" i="0" sz="1300" u="none" cap="none" strike="noStrike">
              <a:solidFill>
                <a:schemeClr val="dk1"/>
              </a:solidFill>
              <a:latin typeface="Calibri"/>
              <a:ea typeface="Calibri"/>
              <a:cs typeface="Calibri"/>
              <a:sym typeface="Calibri"/>
            </a:endParaRPr>
          </a:p>
        </p:txBody>
      </p:sp>
      <p:sp>
        <p:nvSpPr>
          <p:cNvPr id="701" name="Google Shape;701;p33"/>
          <p:cNvSpPr/>
          <p:nvPr/>
        </p:nvSpPr>
        <p:spPr>
          <a:xfrm>
            <a:off x="3081528"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2" name="Google Shape;702;p33"/>
          <p:cNvSpPr/>
          <p:nvPr/>
        </p:nvSpPr>
        <p:spPr>
          <a:xfrm>
            <a:off x="3081528"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3" name="Google Shape;703;p33"/>
          <p:cNvSpPr/>
          <p:nvPr/>
        </p:nvSpPr>
        <p:spPr>
          <a:xfrm>
            <a:off x="3337560"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704" name="Google Shape;704;p33"/>
          <p:cNvSpPr/>
          <p:nvPr/>
        </p:nvSpPr>
        <p:spPr>
          <a:xfrm>
            <a:off x="3282696"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「18時の壁」と</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締め切り時間</a:t>
            </a:r>
            <a:endParaRPr b="0" i="0" sz="1550" u="none" cap="none" strike="noStrike">
              <a:solidFill>
                <a:schemeClr val="dk1"/>
              </a:solidFill>
              <a:latin typeface="Calibri"/>
              <a:ea typeface="Calibri"/>
              <a:cs typeface="Calibri"/>
              <a:sym typeface="Calibri"/>
            </a:endParaRPr>
          </a:p>
        </p:txBody>
      </p:sp>
      <p:sp>
        <p:nvSpPr>
          <p:cNvPr id="705" name="Google Shape;705;p33"/>
          <p:cNvSpPr/>
          <p:nvPr/>
        </p:nvSpPr>
        <p:spPr>
          <a:xfrm>
            <a:off x="3282696"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知らないと損する</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時間管理の鉄則</a:t>
            </a:r>
            <a:endParaRPr b="0" i="0" sz="1300" u="none" cap="none" strike="noStrike">
              <a:solidFill>
                <a:schemeClr val="dk1"/>
              </a:solidFill>
              <a:latin typeface="Calibri"/>
              <a:ea typeface="Calibri"/>
              <a:cs typeface="Calibri"/>
              <a:sym typeface="Calibri"/>
            </a:endParaRPr>
          </a:p>
        </p:txBody>
      </p:sp>
      <p:sp>
        <p:nvSpPr>
          <p:cNvPr id="706" name="Google Shape;706;p33"/>
          <p:cNvSpPr/>
          <p:nvPr/>
        </p:nvSpPr>
        <p:spPr>
          <a:xfrm>
            <a:off x="5852160" y="822960"/>
            <a:ext cx="2688336" cy="3913632"/>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7" name="Google Shape;707;p33"/>
          <p:cNvSpPr/>
          <p:nvPr/>
        </p:nvSpPr>
        <p:spPr>
          <a:xfrm>
            <a:off x="5852160" y="822960"/>
            <a:ext cx="2688336" cy="59436"/>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08" name="Google Shape;708;p33"/>
          <p:cNvSpPr/>
          <p:nvPr/>
        </p:nvSpPr>
        <p:spPr>
          <a:xfrm>
            <a:off x="6108192" y="1005840"/>
            <a:ext cx="548640" cy="54864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000000"/>
              </a:buClr>
              <a:buSzPts val="2600"/>
              <a:buFont typeface="Calibri"/>
              <a:buNone/>
            </a:pPr>
            <a:r>
              <a:rPr b="0" i="0" lang="en-US" sz="2600" u="none" cap="none" strike="noStrike">
                <a:solidFill>
                  <a:srgbClr val="000000"/>
                </a:solidFill>
                <a:latin typeface="Calibri"/>
                <a:ea typeface="Calibri"/>
                <a:cs typeface="Calibri"/>
                <a:sym typeface="Calibri"/>
              </a:rPr>
              <a:t>🤝</a:t>
            </a:r>
            <a:endParaRPr b="0" i="0" sz="2600" u="none" cap="none" strike="noStrike">
              <a:solidFill>
                <a:schemeClr val="dk1"/>
              </a:solidFill>
              <a:latin typeface="Calibri"/>
              <a:ea typeface="Calibri"/>
              <a:cs typeface="Calibri"/>
              <a:sym typeface="Calibri"/>
            </a:endParaRPr>
          </a:p>
        </p:txBody>
      </p:sp>
      <p:sp>
        <p:nvSpPr>
          <p:cNvPr id="709" name="Google Shape;709;p33"/>
          <p:cNvSpPr/>
          <p:nvPr/>
        </p:nvSpPr>
        <p:spPr>
          <a:xfrm>
            <a:off x="6053328" y="1783080"/>
            <a:ext cx="2286000" cy="713232"/>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通知設定と</a:t>
            </a:r>
            <a:endParaRPr b="0" i="0" sz="1550" u="none" cap="none" strike="noStrike">
              <a:solidFill>
                <a:schemeClr val="dk1"/>
              </a:solidFill>
              <a:latin typeface="Calibri"/>
              <a:ea typeface="Calibri"/>
              <a:cs typeface="Calibri"/>
              <a:sym typeface="Calibri"/>
            </a:endParaRPr>
          </a:p>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即相談の重要性</a:t>
            </a:r>
            <a:endParaRPr b="0" i="0" sz="1550" u="none" cap="none" strike="noStrike">
              <a:solidFill>
                <a:schemeClr val="dk1"/>
              </a:solidFill>
              <a:latin typeface="Calibri"/>
              <a:ea typeface="Calibri"/>
              <a:cs typeface="Calibri"/>
              <a:sym typeface="Calibri"/>
            </a:endParaRPr>
          </a:p>
        </p:txBody>
      </p:sp>
      <p:sp>
        <p:nvSpPr>
          <p:cNvPr id="710" name="Google Shape;710;p33"/>
          <p:cNvSpPr/>
          <p:nvPr/>
        </p:nvSpPr>
        <p:spPr>
          <a:xfrm>
            <a:off x="6053328" y="2578608"/>
            <a:ext cx="2286000" cy="1865376"/>
          </a:xfrm>
          <a:prstGeom prst="rect">
            <a:avLst/>
          </a:prstGeom>
          <a:noFill/>
          <a:ln>
            <a:noFill/>
          </a:ln>
        </p:spPr>
        <p:txBody>
          <a:bodyPr anchorCtr="0" anchor="t" bIns="45700" lIns="91425" spcFirstLastPara="1" rIns="91425" wrap="square" tIns="45700">
            <a:noAutofit/>
          </a:bodyPr>
          <a:lstStyle/>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信頼は</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レスポンスの速さ</a:t>
            </a:r>
            <a:endParaRPr b="0" i="0" sz="1300" u="none" cap="none" strike="noStrike">
              <a:solidFill>
                <a:schemeClr val="dk1"/>
              </a:solidFill>
              <a:latin typeface="Calibri"/>
              <a:ea typeface="Calibri"/>
              <a:cs typeface="Calibri"/>
              <a:sym typeface="Calibri"/>
            </a:endParaRPr>
          </a:p>
          <a:p>
            <a:pPr indent="0" lvl="0" marL="0" marR="0" rtl="0" algn="l">
              <a:lnSpc>
                <a:spcPct val="145000"/>
              </a:lnSpc>
              <a:spcBef>
                <a:spcPts val="0"/>
              </a:spcBef>
              <a:spcAft>
                <a:spcPts val="0"/>
              </a:spcAft>
              <a:buClr>
                <a:srgbClr val="6B7280"/>
              </a:buClr>
              <a:buSzPts val="1300"/>
              <a:buFont typeface="Meiryo"/>
              <a:buNone/>
            </a:pPr>
            <a:r>
              <a:rPr b="0" i="0" lang="en-US" sz="1300" u="none" cap="none" strike="noStrike">
                <a:solidFill>
                  <a:srgbClr val="6B7280"/>
                </a:solidFill>
                <a:latin typeface="Meiryo"/>
                <a:ea typeface="Meiryo"/>
                <a:cs typeface="Meiryo"/>
                <a:sym typeface="Meiryo"/>
              </a:rPr>
              <a:t>から始まる</a:t>
            </a:r>
            <a:endParaRPr b="0" i="0" sz="1300" u="none" cap="none" strike="noStrike">
              <a:solidFill>
                <a:schemeClr val="dk1"/>
              </a:solidFill>
              <a:latin typeface="Calibri"/>
              <a:ea typeface="Calibri"/>
              <a:cs typeface="Calibri"/>
              <a:sym typeface="Calibri"/>
            </a:endParaRPr>
          </a:p>
        </p:txBody>
      </p:sp>
      <p:sp>
        <p:nvSpPr>
          <p:cNvPr id="711" name="Google Shape;711;p33"/>
          <p:cNvSpPr/>
          <p:nvPr/>
        </p:nvSpPr>
        <p:spPr>
          <a:xfrm>
            <a:off x="2309037" y="1074825"/>
            <a:ext cx="657900" cy="4206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D1D5DB"/>
              </a:buClr>
              <a:buSzPts val="2400"/>
              <a:buFont typeface="Meiryo"/>
              <a:buNone/>
            </a:pPr>
            <a:r>
              <a:rPr b="1" lang="en-US" sz="2400">
                <a:solidFill>
                  <a:srgbClr val="D1D5DB"/>
                </a:solidFill>
                <a:latin typeface="Meiryo"/>
                <a:ea typeface="Meiryo"/>
                <a:cs typeface="Meiryo"/>
                <a:sym typeface="Meiryo"/>
              </a:rPr>
              <a:t>0</a:t>
            </a:r>
            <a:r>
              <a:rPr b="1" i="0" lang="en-US" sz="2400" u="none" cap="none" strike="noStrike">
                <a:solidFill>
                  <a:srgbClr val="D1D5DB"/>
                </a:solidFill>
                <a:latin typeface="Meiryo"/>
                <a:ea typeface="Meiryo"/>
                <a:cs typeface="Meiryo"/>
                <a:sym typeface="Meiryo"/>
              </a:rPr>
              <a:t>1</a:t>
            </a:r>
            <a:endParaRPr b="0" i="0" sz="2400" u="none" cap="none" strike="noStrike">
              <a:solidFill>
                <a:schemeClr val="dk1"/>
              </a:solidFill>
              <a:latin typeface="Calibri"/>
              <a:ea typeface="Calibri"/>
              <a:cs typeface="Calibri"/>
              <a:sym typeface="Calibri"/>
            </a:endParaRPr>
          </a:p>
        </p:txBody>
      </p:sp>
      <p:sp>
        <p:nvSpPr>
          <p:cNvPr id="712" name="Google Shape;712;p33"/>
          <p:cNvSpPr/>
          <p:nvPr/>
        </p:nvSpPr>
        <p:spPr>
          <a:xfrm>
            <a:off x="5074926" y="1088344"/>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02</a:t>
            </a:r>
            <a:endParaRPr b="0" i="0" sz="2400" u="none" cap="none" strike="noStrike">
              <a:solidFill>
                <a:schemeClr val="dk1"/>
              </a:solidFill>
              <a:latin typeface="Calibri"/>
              <a:ea typeface="Calibri"/>
              <a:cs typeface="Calibri"/>
              <a:sym typeface="Calibri"/>
            </a:endParaRPr>
          </a:p>
        </p:txBody>
      </p:sp>
      <p:sp>
        <p:nvSpPr>
          <p:cNvPr id="713" name="Google Shape;713;p33"/>
          <p:cNvSpPr/>
          <p:nvPr/>
        </p:nvSpPr>
        <p:spPr>
          <a:xfrm>
            <a:off x="7845550" y="1101862"/>
            <a:ext cx="695100" cy="420600"/>
          </a:xfrm>
          <a:prstGeom prst="rect">
            <a:avLst/>
          </a:prstGeom>
          <a:noFill/>
          <a:ln>
            <a:noFill/>
          </a:ln>
        </p:spPr>
        <p:txBody>
          <a:bodyPr anchorCtr="0" anchor="ctr" bIns="45700" lIns="91425" spcFirstLastPara="1" rIns="91425" wrap="square" tIns="45700">
            <a:noAutofit/>
          </a:bodyPr>
          <a:lstStyle/>
          <a:p>
            <a:pPr indent="0" lvl="0" marL="0" marR="0" rtl="0" algn="r">
              <a:spcBef>
                <a:spcPts val="0"/>
              </a:spcBef>
              <a:spcAft>
                <a:spcPts val="0"/>
              </a:spcAft>
              <a:buClr>
                <a:srgbClr val="D1D5DB"/>
              </a:buClr>
              <a:buSzPts val="2400"/>
              <a:buFont typeface="Meiryo"/>
              <a:buNone/>
            </a:pPr>
            <a:r>
              <a:rPr b="1" i="0" lang="en-US" sz="2400" u="none" cap="none" strike="noStrike">
                <a:solidFill>
                  <a:srgbClr val="D1D5DB"/>
                </a:solidFill>
                <a:latin typeface="Meiryo"/>
                <a:ea typeface="Meiryo"/>
                <a:cs typeface="Meiryo"/>
                <a:sym typeface="Meiryo"/>
              </a:rPr>
              <a:t>03</a:t>
            </a:r>
            <a:endParaRPr b="0" i="0" sz="2400" u="none" cap="none" strike="noStrike">
              <a:solidFill>
                <a:schemeClr val="dk1"/>
              </a:solidFill>
              <a:latin typeface="Calibri"/>
              <a:ea typeface="Calibri"/>
              <a:cs typeface="Calibri"/>
              <a:sym typeface="Calibri"/>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718" name="Shape 718"/>
        <p:cNvGrpSpPr/>
        <p:nvPr/>
      </p:nvGrpSpPr>
      <p:grpSpPr>
        <a:xfrm>
          <a:off x="0" y="0"/>
          <a:ext cx="0" cy="0"/>
          <a:chOff x="0" y="0"/>
          <a:chExt cx="0" cy="0"/>
        </a:xfrm>
      </p:grpSpPr>
      <p:sp>
        <p:nvSpPr>
          <p:cNvPr id="719" name="Google Shape;719;p34"/>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0" name="Google Shape;720;p34"/>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コアタイム  10:00 〜 19:00</a:t>
            </a:r>
            <a:endParaRPr b="0" i="0" sz="2100" u="none" cap="none" strike="noStrike">
              <a:solidFill>
                <a:schemeClr val="dk1"/>
              </a:solidFill>
              <a:latin typeface="Calibri"/>
              <a:ea typeface="Calibri"/>
              <a:cs typeface="Calibri"/>
              <a:sym typeface="Calibri"/>
            </a:endParaRPr>
          </a:p>
        </p:txBody>
      </p:sp>
      <p:sp>
        <p:nvSpPr>
          <p:cNvPr id="721" name="Google Shape;721;p34"/>
          <p:cNvSpPr/>
          <p:nvPr/>
        </p:nvSpPr>
        <p:spPr>
          <a:xfrm>
            <a:off x="310896" y="804672"/>
            <a:ext cx="8522208" cy="749808"/>
          </a:xfrm>
          <a:prstGeom prst="rect">
            <a:avLst/>
          </a:prstGeom>
          <a:solidFill>
            <a:srgbClr val="E8EAF6"/>
          </a:solidFill>
          <a:ln cap="flat" cmpd="sng" w="9525">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2" name="Google Shape;722;p34"/>
          <p:cNvSpPr/>
          <p:nvPr/>
        </p:nvSpPr>
        <p:spPr>
          <a:xfrm>
            <a:off x="310896" y="804672"/>
            <a:ext cx="59436" cy="74980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34"/>
          <p:cNvSpPr/>
          <p:nvPr/>
        </p:nvSpPr>
        <p:spPr>
          <a:xfrm>
            <a:off x="493776" y="804672"/>
            <a:ext cx="8229600" cy="74980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550"/>
              <a:buFont typeface="Meiryo"/>
              <a:buNone/>
            </a:pPr>
            <a:r>
              <a:rPr b="1" i="0" lang="en-US" sz="1550" u="none" cap="none" strike="noStrike">
                <a:solidFill>
                  <a:srgbClr val="1E3068"/>
                </a:solidFill>
                <a:latin typeface="Meiryo"/>
                <a:ea typeface="Meiryo"/>
                <a:cs typeface="Meiryo"/>
                <a:sym typeface="Meiryo"/>
              </a:rPr>
              <a:t>⚡  コアタイム内は連絡が取れる状態にしておく（＝毎日確認が必須）</a:t>
            </a:r>
            <a:endParaRPr b="0" i="0" sz="1550" u="none" cap="none" strike="noStrike">
              <a:solidFill>
                <a:schemeClr val="dk1"/>
              </a:solidFill>
              <a:latin typeface="Calibri"/>
              <a:ea typeface="Calibri"/>
              <a:cs typeface="Calibri"/>
              <a:sym typeface="Calibri"/>
            </a:endParaRPr>
          </a:p>
        </p:txBody>
      </p:sp>
      <p:sp>
        <p:nvSpPr>
          <p:cNvPr id="724" name="Google Shape;724;p34"/>
          <p:cNvSpPr/>
          <p:nvPr/>
        </p:nvSpPr>
        <p:spPr>
          <a:xfrm>
            <a:off x="310896" y="166420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34"/>
          <p:cNvSpPr/>
          <p:nvPr/>
        </p:nvSpPr>
        <p:spPr>
          <a:xfrm>
            <a:off x="310896" y="166420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6" name="Google Shape;726;p34"/>
          <p:cNvSpPr/>
          <p:nvPr/>
        </p:nvSpPr>
        <p:spPr>
          <a:xfrm>
            <a:off x="493776" y="166420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10:00〜19:00の間は基本的にメッセージを確認できる状態に</a:t>
            </a:r>
            <a:endParaRPr b="0" i="0" sz="1450" u="none" cap="none" strike="noStrike">
              <a:solidFill>
                <a:schemeClr val="dk1"/>
              </a:solidFill>
              <a:latin typeface="Calibri"/>
              <a:ea typeface="Calibri"/>
              <a:cs typeface="Calibri"/>
              <a:sym typeface="Calibri"/>
            </a:endParaRPr>
          </a:p>
        </p:txBody>
      </p:sp>
      <p:sp>
        <p:nvSpPr>
          <p:cNvPr id="727" name="Google Shape;727;p34"/>
          <p:cNvSpPr/>
          <p:nvPr/>
        </p:nvSpPr>
        <p:spPr>
          <a:xfrm>
            <a:off x="310896" y="239572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8" name="Google Shape;728;p34"/>
          <p:cNvSpPr/>
          <p:nvPr/>
        </p:nvSpPr>
        <p:spPr>
          <a:xfrm>
            <a:off x="310896" y="239572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9" name="Google Shape;729;p34"/>
          <p:cNvSpPr/>
          <p:nvPr/>
        </p:nvSpPr>
        <p:spPr>
          <a:xfrm>
            <a:off x="493776" y="239572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夜間・早朝の連絡への回答は翌朝10時以降でOK（緊急は除く）</a:t>
            </a:r>
            <a:endParaRPr b="0" i="0" sz="1450" u="none" cap="none" strike="noStrike">
              <a:solidFill>
                <a:schemeClr val="dk1"/>
              </a:solidFill>
              <a:latin typeface="Calibri"/>
              <a:ea typeface="Calibri"/>
              <a:cs typeface="Calibri"/>
              <a:sym typeface="Calibri"/>
            </a:endParaRPr>
          </a:p>
        </p:txBody>
      </p:sp>
      <p:sp>
        <p:nvSpPr>
          <p:cNvPr id="730" name="Google Shape;730;p34"/>
          <p:cNvSpPr/>
          <p:nvPr/>
        </p:nvSpPr>
        <p:spPr>
          <a:xfrm>
            <a:off x="310896" y="3127248"/>
            <a:ext cx="8522208" cy="64008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1" name="Google Shape;731;p34"/>
          <p:cNvSpPr/>
          <p:nvPr/>
        </p:nvSpPr>
        <p:spPr>
          <a:xfrm>
            <a:off x="310896" y="3127248"/>
            <a:ext cx="59436" cy="64008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2" name="Google Shape;732;p34"/>
          <p:cNvSpPr/>
          <p:nvPr/>
        </p:nvSpPr>
        <p:spPr>
          <a:xfrm>
            <a:off x="493776" y="3127248"/>
            <a:ext cx="8211312" cy="64008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  案件進行中は特に、コアタイム内の反応速度が信頼に直結する</a:t>
            </a:r>
            <a:endParaRPr b="0" i="0" sz="1450" u="none" cap="none" strike="noStrike">
              <a:solidFill>
                <a:schemeClr val="dk1"/>
              </a:solidFill>
              <a:latin typeface="Calibri"/>
              <a:ea typeface="Calibri"/>
              <a:cs typeface="Calibri"/>
              <a:sym typeface="Calibri"/>
            </a:endParaRPr>
          </a:p>
        </p:txBody>
      </p:sp>
      <p:sp>
        <p:nvSpPr>
          <p:cNvPr id="733" name="Google Shape;733;p34"/>
          <p:cNvSpPr/>
          <p:nvPr/>
        </p:nvSpPr>
        <p:spPr>
          <a:xfrm>
            <a:off x="310896" y="3950208"/>
            <a:ext cx="8522208" cy="47548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34" name="Google Shape;734;p34"/>
          <p:cNvSpPr/>
          <p:nvPr/>
        </p:nvSpPr>
        <p:spPr>
          <a:xfrm>
            <a:off x="457200" y="3950208"/>
            <a:ext cx="8321040" cy="47548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B45309"/>
              </a:buClr>
              <a:buSzPts val="1250"/>
              <a:buFont typeface="Meiryo"/>
              <a:buNone/>
            </a:pPr>
            <a:r>
              <a:rPr b="0" i="0" lang="en-US" sz="1250" u="none" cap="none" strike="noStrike">
                <a:solidFill>
                  <a:srgbClr val="B45309"/>
                </a:solidFill>
                <a:latin typeface="Meiryo"/>
                <a:ea typeface="Meiryo"/>
                <a:cs typeface="Meiryo"/>
                <a:sym typeface="Meiryo"/>
              </a:rPr>
              <a:t>💡  コアタイムは「絶対に仕事しなければいけない時間」ではなく「連絡が取れる時間帯」です</a:t>
            </a:r>
            <a:endParaRPr b="0" i="0" sz="1250" u="none" cap="none" strike="noStrike">
              <a:solidFill>
                <a:schemeClr val="dk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739" name="Shape 739"/>
        <p:cNvGrpSpPr/>
        <p:nvPr/>
      </p:nvGrpSpPr>
      <p:grpSpPr>
        <a:xfrm>
          <a:off x="0" y="0"/>
          <a:ext cx="0" cy="0"/>
          <a:chOff x="0" y="0"/>
          <a:chExt cx="0" cy="0"/>
        </a:xfrm>
      </p:grpSpPr>
      <p:sp>
        <p:nvSpPr>
          <p:cNvPr id="740" name="Google Shape;740;p35"/>
          <p:cNvSpPr/>
          <p:nvPr/>
        </p:nvSpPr>
        <p:spPr>
          <a:xfrm>
            <a:off x="310896" y="164592"/>
            <a:ext cx="8522208" cy="530352"/>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500"/>
              <a:buFont typeface="Meiryo"/>
              <a:buNone/>
            </a:pPr>
            <a:r>
              <a:rPr b="1" i="0" lang="en-US" sz="2500" u="none" cap="none" strike="noStrike">
                <a:solidFill>
                  <a:srgbClr val="1E3068"/>
                </a:solidFill>
                <a:latin typeface="Meiryo"/>
                <a:ea typeface="Meiryo"/>
                <a:cs typeface="Meiryo"/>
                <a:sym typeface="Meiryo"/>
              </a:rPr>
              <a:t>「18時の壁」を知っておこう</a:t>
            </a:r>
            <a:endParaRPr b="0" i="0" sz="2500" u="none" cap="none" strike="noStrike">
              <a:solidFill>
                <a:schemeClr val="dk1"/>
              </a:solidFill>
              <a:latin typeface="Calibri"/>
              <a:ea typeface="Calibri"/>
              <a:cs typeface="Calibri"/>
              <a:sym typeface="Calibri"/>
            </a:endParaRPr>
          </a:p>
        </p:txBody>
      </p:sp>
      <p:sp>
        <p:nvSpPr>
          <p:cNvPr id="741" name="Google Shape;741;p35"/>
          <p:cNvSpPr/>
          <p:nvPr/>
        </p:nvSpPr>
        <p:spPr>
          <a:xfrm>
            <a:off x="310896" y="694944"/>
            <a:ext cx="8522208" cy="59436"/>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2" name="Google Shape;742;p35"/>
          <p:cNvSpPr/>
          <p:nvPr/>
        </p:nvSpPr>
        <p:spPr>
          <a:xfrm>
            <a:off x="310896" y="877824"/>
            <a:ext cx="3895344" cy="3877056"/>
          </a:xfrm>
          <a:prstGeom prst="rect">
            <a:avLst/>
          </a:prstGeom>
          <a:solidFill>
            <a:srgbClr val="FEF2F2"/>
          </a:solidFill>
          <a:ln cap="flat" cmpd="sng" w="12700">
            <a:solidFill>
              <a:srgbClr val="FECACA"/>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3" name="Google Shape;743;p35"/>
          <p:cNvSpPr/>
          <p:nvPr/>
        </p:nvSpPr>
        <p:spPr>
          <a:xfrm>
            <a:off x="457200" y="1024128"/>
            <a:ext cx="3602736"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DC2626"/>
              </a:buClr>
              <a:buSzPts val="1700"/>
              <a:buFont typeface="Meiryo"/>
              <a:buNone/>
            </a:pPr>
            <a:r>
              <a:rPr b="1" i="0" lang="en-US" sz="1700" u="none" cap="none" strike="noStrike">
                <a:solidFill>
                  <a:srgbClr val="DC2626"/>
                </a:solidFill>
                <a:latin typeface="Meiryo"/>
                <a:ea typeface="Meiryo"/>
                <a:cs typeface="Meiryo"/>
                <a:sym typeface="Meiryo"/>
              </a:rPr>
              <a:t>❌  危険なパターン</a:t>
            </a:r>
            <a:endParaRPr b="0" i="0" sz="1700" u="none" cap="none" strike="noStrike">
              <a:solidFill>
                <a:schemeClr val="dk1"/>
              </a:solidFill>
              <a:latin typeface="Calibri"/>
              <a:ea typeface="Calibri"/>
              <a:cs typeface="Calibri"/>
              <a:sym typeface="Calibri"/>
            </a:endParaRPr>
          </a:p>
        </p:txBody>
      </p:sp>
      <p:sp>
        <p:nvSpPr>
          <p:cNvPr id="744" name="Google Shape;744;p35"/>
          <p:cNvSpPr/>
          <p:nvPr/>
        </p:nvSpPr>
        <p:spPr>
          <a:xfrm>
            <a:off x="457200" y="1627632"/>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18時ちょうどに確認メッセージを送る</a:t>
            </a:r>
            <a:endParaRPr b="0" i="0" sz="1400" u="none" cap="none" strike="noStrike">
              <a:solidFill>
                <a:schemeClr val="dk1"/>
              </a:solidFill>
              <a:latin typeface="Calibri"/>
              <a:ea typeface="Calibri"/>
              <a:cs typeface="Calibri"/>
              <a:sym typeface="Calibri"/>
            </a:endParaRPr>
          </a:p>
        </p:txBody>
      </p:sp>
      <p:sp>
        <p:nvSpPr>
          <p:cNvPr id="745" name="Google Shape;745;p35"/>
          <p:cNvSpPr/>
          <p:nvPr/>
        </p:nvSpPr>
        <p:spPr>
          <a:xfrm>
            <a:off x="457200" y="2432304"/>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夜になってから「今日中」の作業を始める</a:t>
            </a:r>
            <a:endParaRPr b="0" i="0" sz="1400" u="none" cap="none" strike="noStrike">
              <a:solidFill>
                <a:schemeClr val="dk1"/>
              </a:solidFill>
              <a:latin typeface="Calibri"/>
              <a:ea typeface="Calibri"/>
              <a:cs typeface="Calibri"/>
              <a:sym typeface="Calibri"/>
            </a:endParaRPr>
          </a:p>
        </p:txBody>
      </p:sp>
      <p:sp>
        <p:nvSpPr>
          <p:cNvPr id="746" name="Google Shape;746;p35"/>
          <p:cNvSpPr/>
          <p:nvPr/>
        </p:nvSpPr>
        <p:spPr>
          <a:xfrm>
            <a:off x="457200" y="3236976"/>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締め切りの日付だけ確認して時間を見ない</a:t>
            </a:r>
            <a:endParaRPr b="0" i="0" sz="1400" u="none" cap="none" strike="noStrike">
              <a:solidFill>
                <a:schemeClr val="dk1"/>
              </a:solidFill>
              <a:latin typeface="Calibri"/>
              <a:ea typeface="Calibri"/>
              <a:cs typeface="Calibri"/>
              <a:sym typeface="Calibri"/>
            </a:endParaRPr>
          </a:p>
        </p:txBody>
      </p:sp>
      <p:sp>
        <p:nvSpPr>
          <p:cNvPr id="747" name="Google Shape;747;p35"/>
          <p:cNvSpPr/>
          <p:nvPr/>
        </p:nvSpPr>
        <p:spPr>
          <a:xfrm>
            <a:off x="4233672" y="2377440"/>
            <a:ext cx="640080" cy="640080"/>
          </a:xfrm>
          <a:prstGeom prst="ellipse">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48" name="Google Shape;748;p35"/>
          <p:cNvSpPr/>
          <p:nvPr/>
        </p:nvSpPr>
        <p:spPr>
          <a:xfrm>
            <a:off x="4233672" y="2377440"/>
            <a:ext cx="640080" cy="640080"/>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300"/>
              <a:buFont typeface="Meiryo"/>
              <a:buNone/>
            </a:pPr>
            <a:r>
              <a:rPr b="1" i="0" lang="en-US" sz="1300" u="none" cap="none" strike="noStrike">
                <a:solidFill>
                  <a:srgbClr val="FFFFFF"/>
                </a:solidFill>
                <a:latin typeface="Meiryo"/>
                <a:ea typeface="Meiryo"/>
                <a:cs typeface="Meiryo"/>
                <a:sym typeface="Meiryo"/>
              </a:rPr>
              <a:t>VS</a:t>
            </a:r>
            <a:endParaRPr b="0" i="0" sz="1300" u="none" cap="none" strike="noStrike">
              <a:solidFill>
                <a:schemeClr val="dk1"/>
              </a:solidFill>
              <a:latin typeface="Calibri"/>
              <a:ea typeface="Calibri"/>
              <a:cs typeface="Calibri"/>
              <a:sym typeface="Calibri"/>
            </a:endParaRPr>
          </a:p>
        </p:txBody>
      </p:sp>
      <p:sp>
        <p:nvSpPr>
          <p:cNvPr id="749" name="Google Shape;749;p35"/>
          <p:cNvSpPr/>
          <p:nvPr/>
        </p:nvSpPr>
        <p:spPr>
          <a:xfrm>
            <a:off x="4864608" y="877824"/>
            <a:ext cx="3895344" cy="3877056"/>
          </a:xfrm>
          <a:prstGeom prst="rect">
            <a:avLst/>
          </a:prstGeom>
          <a:solidFill>
            <a:srgbClr val="F0FDF4"/>
          </a:solidFill>
          <a:ln cap="flat" cmpd="sng" w="12700">
            <a:solidFill>
              <a:srgbClr val="86EFAC"/>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50" name="Google Shape;750;p35"/>
          <p:cNvSpPr/>
          <p:nvPr/>
        </p:nvSpPr>
        <p:spPr>
          <a:xfrm>
            <a:off x="5010912" y="1024128"/>
            <a:ext cx="3602736" cy="457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Clr>
                <a:srgbClr val="16A34A"/>
              </a:buClr>
              <a:buSzPts val="1700"/>
              <a:buFont typeface="Meiryo"/>
              <a:buNone/>
            </a:pPr>
            <a:r>
              <a:rPr b="1" i="0" lang="en-US" sz="1700" u="none" cap="none" strike="noStrike">
                <a:solidFill>
                  <a:srgbClr val="16A34A"/>
                </a:solidFill>
                <a:latin typeface="Meiryo"/>
                <a:ea typeface="Meiryo"/>
                <a:cs typeface="Meiryo"/>
                <a:sym typeface="Meiryo"/>
              </a:rPr>
              <a:t>✅  安全なパターン</a:t>
            </a:r>
            <a:endParaRPr b="0" i="0" sz="1700" u="none" cap="none" strike="noStrike">
              <a:solidFill>
                <a:schemeClr val="dk1"/>
              </a:solidFill>
              <a:latin typeface="Calibri"/>
              <a:ea typeface="Calibri"/>
              <a:cs typeface="Calibri"/>
              <a:sym typeface="Calibri"/>
            </a:endParaRPr>
          </a:p>
        </p:txBody>
      </p:sp>
      <p:sp>
        <p:nvSpPr>
          <p:cNvPr id="751" name="Google Shape;751;p35"/>
          <p:cNvSpPr/>
          <p:nvPr/>
        </p:nvSpPr>
        <p:spPr>
          <a:xfrm>
            <a:off x="5010912" y="1627632"/>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17時までに確認事項をすべて送る</a:t>
            </a:r>
            <a:endParaRPr b="0" i="0" sz="1400" u="none" cap="none" strike="noStrike">
              <a:solidFill>
                <a:schemeClr val="dk1"/>
              </a:solidFill>
              <a:latin typeface="Calibri"/>
              <a:ea typeface="Calibri"/>
              <a:cs typeface="Calibri"/>
              <a:sym typeface="Calibri"/>
            </a:endParaRPr>
          </a:p>
        </p:txBody>
      </p:sp>
      <p:sp>
        <p:nvSpPr>
          <p:cNvPr id="752" name="Google Shape;752;p35"/>
          <p:cNvSpPr/>
          <p:nvPr/>
        </p:nvSpPr>
        <p:spPr>
          <a:xfrm>
            <a:off x="5010912" y="2432304"/>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締め切りは「日付＋時間」で確認する</a:t>
            </a:r>
            <a:endParaRPr b="0" i="0" sz="1400" u="none" cap="none" strike="noStrike">
              <a:solidFill>
                <a:schemeClr val="dk1"/>
              </a:solidFill>
              <a:latin typeface="Calibri"/>
              <a:ea typeface="Calibri"/>
              <a:cs typeface="Calibri"/>
              <a:sym typeface="Calibri"/>
            </a:endParaRPr>
          </a:p>
        </p:txBody>
      </p:sp>
      <p:sp>
        <p:nvSpPr>
          <p:cNvPr id="753" name="Google Shape;753;p35"/>
          <p:cNvSpPr/>
          <p:nvPr/>
        </p:nvSpPr>
        <p:spPr>
          <a:xfrm>
            <a:off x="5010912" y="3236976"/>
            <a:ext cx="3602736" cy="768096"/>
          </a:xfrm>
          <a:prstGeom prst="rect">
            <a:avLst/>
          </a:prstGeom>
          <a:noFill/>
          <a:ln>
            <a:noFill/>
          </a:ln>
        </p:spPr>
        <p:txBody>
          <a:bodyPr anchorCtr="0" anchor="ctr" bIns="45700" lIns="91425" spcFirstLastPara="1" rIns="91425" wrap="square" tIns="45700">
            <a:noAutofit/>
          </a:bodyPr>
          <a:lstStyle/>
          <a:p>
            <a:pPr indent="0" lvl="0" marL="0" marR="0" rtl="0" algn="l">
              <a:lnSpc>
                <a:spcPct val="120000"/>
              </a:lnSpc>
              <a:spcBef>
                <a:spcPts val="0"/>
              </a:spcBef>
              <a:spcAft>
                <a:spcPts val="0"/>
              </a:spcAft>
              <a:buClr>
                <a:srgbClr val="1E3068"/>
              </a:buClr>
              <a:buSzPts val="1400"/>
              <a:buFont typeface="Meiryo"/>
              <a:buNone/>
            </a:pPr>
            <a:r>
              <a:rPr b="0" i="0" lang="en-US" sz="1400" u="none" cap="none" strike="noStrike">
                <a:solidFill>
                  <a:srgbClr val="1E3068"/>
                </a:solidFill>
                <a:latin typeface="Meiryo"/>
                <a:ea typeface="Meiryo"/>
                <a:cs typeface="Meiryo"/>
                <a:sym typeface="Meiryo"/>
              </a:rPr>
              <a:t>✓  前日までに疑問点をつぶしておく</a:t>
            </a:r>
            <a:endParaRPr b="0" i="0" sz="1400" u="none" cap="none" strike="noStrike">
              <a:solidFill>
                <a:schemeClr val="dk1"/>
              </a:solidFill>
              <a:latin typeface="Calibri"/>
              <a:ea typeface="Calibri"/>
              <a:cs typeface="Calibri"/>
              <a:sym typeface="Calibri"/>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758" name="Shape 758"/>
        <p:cNvGrpSpPr/>
        <p:nvPr/>
      </p:nvGrpSpPr>
      <p:grpSpPr>
        <a:xfrm>
          <a:off x="0" y="0"/>
          <a:ext cx="0" cy="0"/>
          <a:chOff x="0" y="0"/>
          <a:chExt cx="0" cy="0"/>
        </a:xfrm>
      </p:grpSpPr>
      <p:sp>
        <p:nvSpPr>
          <p:cNvPr id="759" name="Google Shape;759;p36"/>
          <p:cNvSpPr/>
          <p:nvPr/>
        </p:nvSpPr>
        <p:spPr>
          <a:xfrm>
            <a:off x="0" y="0"/>
            <a:ext cx="9144000" cy="65836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0" name="Google Shape;760;p36"/>
          <p:cNvSpPr/>
          <p:nvPr/>
        </p:nvSpPr>
        <p:spPr>
          <a:xfrm>
            <a:off x="347472" y="0"/>
            <a:ext cx="8412480" cy="65836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FFFFFF"/>
              </a:buClr>
              <a:buSzPts val="2100"/>
              <a:buFont typeface="Meiryo"/>
              <a:buNone/>
            </a:pPr>
            <a:r>
              <a:rPr b="1" i="0" lang="en-US" sz="2100" u="none" cap="none" strike="noStrike">
                <a:solidFill>
                  <a:srgbClr val="FFFFFF"/>
                </a:solidFill>
                <a:latin typeface="Meiryo"/>
                <a:ea typeface="Meiryo"/>
                <a:cs typeface="Meiryo"/>
                <a:sym typeface="Meiryo"/>
              </a:rPr>
              <a:t>通知はON・迷ったら即相談</a:t>
            </a:r>
            <a:endParaRPr b="0" i="0" sz="2100" u="none" cap="none" strike="noStrike">
              <a:solidFill>
                <a:schemeClr val="dk1"/>
              </a:solidFill>
              <a:latin typeface="Calibri"/>
              <a:ea typeface="Calibri"/>
              <a:cs typeface="Calibri"/>
              <a:sym typeface="Calibri"/>
            </a:endParaRPr>
          </a:p>
        </p:txBody>
      </p:sp>
      <p:sp>
        <p:nvSpPr>
          <p:cNvPr id="761" name="Google Shape;761;p36"/>
          <p:cNvSpPr/>
          <p:nvPr/>
        </p:nvSpPr>
        <p:spPr>
          <a:xfrm>
            <a:off x="310896" y="786384"/>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2" name="Google Shape;762;p36"/>
          <p:cNvSpPr/>
          <p:nvPr/>
        </p:nvSpPr>
        <p:spPr>
          <a:xfrm>
            <a:off x="310896" y="786384"/>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3" name="Google Shape;763;p36"/>
          <p:cNvSpPr/>
          <p:nvPr/>
        </p:nvSpPr>
        <p:spPr>
          <a:xfrm>
            <a:off x="493776" y="886968"/>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4" name="Google Shape;764;p36"/>
          <p:cNvSpPr/>
          <p:nvPr/>
        </p:nvSpPr>
        <p:spPr>
          <a:xfrm>
            <a:off x="493776" y="886968"/>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765" name="Google Shape;765;p36"/>
          <p:cNvSpPr/>
          <p:nvPr/>
        </p:nvSpPr>
        <p:spPr>
          <a:xfrm>
            <a:off x="950976" y="786384"/>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案件進行中は連絡ツール（LINE・</a:t>
            </a:r>
            <a:r>
              <a:rPr lang="en-US" sz="1450">
                <a:solidFill>
                  <a:srgbClr val="1E3068"/>
                </a:solidFill>
                <a:latin typeface="Meiryo"/>
                <a:ea typeface="Meiryo"/>
                <a:cs typeface="Meiryo"/>
                <a:sym typeface="Meiryo"/>
              </a:rPr>
              <a:t>メール</a:t>
            </a:r>
            <a:r>
              <a:rPr b="0" i="0" lang="en-US" sz="1450" u="none" cap="none" strike="noStrike">
                <a:solidFill>
                  <a:srgbClr val="1E3068"/>
                </a:solidFill>
                <a:latin typeface="Meiryo"/>
                <a:ea typeface="Meiryo"/>
                <a:cs typeface="Meiryo"/>
                <a:sym typeface="Meiryo"/>
              </a:rPr>
              <a:t>等）の通知をOFFにしない</a:t>
            </a:r>
            <a:endParaRPr b="0" i="0" sz="1450" u="none" cap="none" strike="noStrike">
              <a:solidFill>
                <a:schemeClr val="dk1"/>
              </a:solidFill>
              <a:latin typeface="Calibri"/>
              <a:ea typeface="Calibri"/>
              <a:cs typeface="Calibri"/>
              <a:sym typeface="Calibri"/>
            </a:endParaRPr>
          </a:p>
        </p:txBody>
      </p:sp>
      <p:sp>
        <p:nvSpPr>
          <p:cNvPr id="766" name="Google Shape;766;p36"/>
          <p:cNvSpPr/>
          <p:nvPr/>
        </p:nvSpPr>
        <p:spPr>
          <a:xfrm>
            <a:off x="310896" y="1417320"/>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7" name="Google Shape;767;p36"/>
          <p:cNvSpPr/>
          <p:nvPr/>
        </p:nvSpPr>
        <p:spPr>
          <a:xfrm>
            <a:off x="310896" y="1417320"/>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8" name="Google Shape;768;p36"/>
          <p:cNvSpPr/>
          <p:nvPr/>
        </p:nvSpPr>
        <p:spPr>
          <a:xfrm>
            <a:off x="493776" y="1517904"/>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69" name="Google Shape;769;p36"/>
          <p:cNvSpPr/>
          <p:nvPr/>
        </p:nvSpPr>
        <p:spPr>
          <a:xfrm>
            <a:off x="493776" y="1517904"/>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770" name="Google Shape;770;p36"/>
          <p:cNvSpPr/>
          <p:nvPr/>
        </p:nvSpPr>
        <p:spPr>
          <a:xfrm>
            <a:off x="950976" y="1417320"/>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わからない・迷ったら、勝手に進めずまず担当者に相談する</a:t>
            </a:r>
            <a:endParaRPr b="0" i="0" sz="1450" u="none" cap="none" strike="noStrike">
              <a:solidFill>
                <a:schemeClr val="dk1"/>
              </a:solidFill>
              <a:latin typeface="Calibri"/>
              <a:ea typeface="Calibri"/>
              <a:cs typeface="Calibri"/>
              <a:sym typeface="Calibri"/>
            </a:endParaRPr>
          </a:p>
        </p:txBody>
      </p:sp>
      <p:sp>
        <p:nvSpPr>
          <p:cNvPr id="771" name="Google Shape;771;p36"/>
          <p:cNvSpPr/>
          <p:nvPr/>
        </p:nvSpPr>
        <p:spPr>
          <a:xfrm>
            <a:off x="310896" y="2048256"/>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2" name="Google Shape;772;p36"/>
          <p:cNvSpPr/>
          <p:nvPr/>
        </p:nvSpPr>
        <p:spPr>
          <a:xfrm>
            <a:off x="310896" y="2048256"/>
            <a:ext cx="59436" cy="548640"/>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3" name="Google Shape;773;p36"/>
          <p:cNvSpPr/>
          <p:nvPr/>
        </p:nvSpPr>
        <p:spPr>
          <a:xfrm>
            <a:off x="493776" y="2148840"/>
            <a:ext cx="347472" cy="347472"/>
          </a:xfrm>
          <a:prstGeom prst="ellipse">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4" name="Google Shape;774;p36"/>
          <p:cNvSpPr/>
          <p:nvPr/>
        </p:nvSpPr>
        <p:spPr>
          <a:xfrm>
            <a:off x="493776" y="2148840"/>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775" name="Google Shape;775;p36"/>
          <p:cNvSpPr/>
          <p:nvPr/>
        </p:nvSpPr>
        <p:spPr>
          <a:xfrm>
            <a:off x="950976" y="2048256"/>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急な依頼や変更が発生することがある→気づかないと全員が止まる</a:t>
            </a:r>
            <a:endParaRPr b="0" i="0" sz="1450" u="none" cap="none" strike="noStrike">
              <a:solidFill>
                <a:schemeClr val="dk1"/>
              </a:solidFill>
              <a:latin typeface="Calibri"/>
              <a:ea typeface="Calibri"/>
              <a:cs typeface="Calibri"/>
              <a:sym typeface="Calibri"/>
            </a:endParaRPr>
          </a:p>
        </p:txBody>
      </p:sp>
      <p:sp>
        <p:nvSpPr>
          <p:cNvPr id="776" name="Google Shape;776;p36"/>
          <p:cNvSpPr/>
          <p:nvPr/>
        </p:nvSpPr>
        <p:spPr>
          <a:xfrm>
            <a:off x="310896" y="2679192"/>
            <a:ext cx="8522208" cy="548640"/>
          </a:xfrm>
          <a:prstGeom prst="rect">
            <a:avLst/>
          </a:prstGeom>
          <a:solidFill>
            <a:srgbClr val="FFFFFF"/>
          </a:solidFill>
          <a:ln cap="flat" cmpd="sng" w="9525">
            <a:solidFill>
              <a:srgbClr val="D1D5DB"/>
            </a:solidFill>
            <a:prstDash val="solid"/>
            <a:round/>
            <a:headEnd len="sm" w="sm" type="none"/>
            <a:tailEnd len="sm" w="sm" type="none"/>
          </a:ln>
          <a:effectLst>
            <a:outerShdw blurRad="63500" rotWithShape="0" algn="bl" dir="8100000" dist="25400">
              <a:srgbClr val="000000">
                <a:alpha val="10196"/>
              </a:srgbClr>
            </a:outerShdw>
          </a:effectLst>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7" name="Google Shape;777;p36"/>
          <p:cNvSpPr/>
          <p:nvPr/>
        </p:nvSpPr>
        <p:spPr>
          <a:xfrm>
            <a:off x="310896" y="2679192"/>
            <a:ext cx="59436" cy="54864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8" name="Google Shape;778;p36"/>
          <p:cNvSpPr/>
          <p:nvPr/>
        </p:nvSpPr>
        <p:spPr>
          <a:xfrm>
            <a:off x="493776" y="2779776"/>
            <a:ext cx="347472" cy="347472"/>
          </a:xfrm>
          <a:prstGeom prst="ellipse">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79" name="Google Shape;779;p36"/>
          <p:cNvSpPr/>
          <p:nvPr/>
        </p:nvSpPr>
        <p:spPr>
          <a:xfrm>
            <a:off x="493776" y="2779776"/>
            <a:ext cx="347472" cy="347472"/>
          </a:xfrm>
          <a:prstGeom prst="rect">
            <a:avLst/>
          </a:prstGeom>
          <a:noFill/>
          <a:ln>
            <a:noFill/>
          </a:ln>
        </p:spPr>
        <p:txBody>
          <a:bodyPr anchorCtr="0" anchor="ctr" bIns="0" lIns="0" spcFirstLastPara="1" rIns="0" wrap="square" tIns="0">
            <a:noAutofit/>
          </a:bodyPr>
          <a:lstStyle/>
          <a:p>
            <a:pPr indent="0" lvl="0" marL="0" marR="0" rtl="0" algn="ctr">
              <a:spcBef>
                <a:spcPts val="0"/>
              </a:spcBef>
              <a:spcAft>
                <a:spcPts val="0"/>
              </a:spcAft>
              <a:buClr>
                <a:srgbClr val="FFFFFF"/>
              </a:buClr>
              <a:buSzPts val="1100"/>
              <a:buFont typeface="Meiryo"/>
              <a:buNone/>
            </a:pPr>
            <a:r>
              <a:rPr b="1" i="0" lang="en-US" sz="1100" u="none" cap="none" strike="noStrike">
                <a:solidFill>
                  <a:srgbClr val="FFFFFF"/>
                </a:solidFill>
                <a:latin typeface="Meiryo"/>
                <a:ea typeface="Meiryo"/>
                <a:cs typeface="Meiryo"/>
                <a:sym typeface="Meiryo"/>
              </a:rPr>
              <a:t>✓</a:t>
            </a:r>
            <a:endParaRPr b="0" i="0" sz="1100" u="none" cap="none" strike="noStrike">
              <a:solidFill>
                <a:schemeClr val="dk1"/>
              </a:solidFill>
              <a:latin typeface="Calibri"/>
              <a:ea typeface="Calibri"/>
              <a:cs typeface="Calibri"/>
              <a:sym typeface="Calibri"/>
            </a:endParaRPr>
          </a:p>
        </p:txBody>
      </p:sp>
      <p:sp>
        <p:nvSpPr>
          <p:cNvPr id="780" name="Google Shape;780;p36"/>
          <p:cNvSpPr/>
          <p:nvPr/>
        </p:nvSpPr>
        <p:spPr>
          <a:xfrm>
            <a:off x="950976" y="2679192"/>
            <a:ext cx="7772400" cy="548640"/>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1E3068"/>
              </a:buClr>
              <a:buSzPts val="1450"/>
              <a:buFont typeface="Meiryo"/>
              <a:buNone/>
            </a:pPr>
            <a:r>
              <a:rPr b="0" i="0" lang="en-US" sz="1450" u="none" cap="none" strike="noStrike">
                <a:solidFill>
                  <a:srgbClr val="1E3068"/>
                </a:solidFill>
                <a:latin typeface="Meiryo"/>
                <a:ea typeface="Meiryo"/>
                <a:cs typeface="Meiryo"/>
                <a:sym typeface="Meiryo"/>
              </a:rPr>
              <a:t>ミスしたら隠さずすぐ報告（早期報告がダメージを最小化する）</a:t>
            </a:r>
            <a:endParaRPr b="0" i="0" sz="1450" u="none" cap="none" strike="noStrike">
              <a:solidFill>
                <a:schemeClr val="dk1"/>
              </a:solidFill>
              <a:latin typeface="Calibri"/>
              <a:ea typeface="Calibri"/>
              <a:cs typeface="Calibri"/>
              <a:sym typeface="Calibri"/>
            </a:endParaRPr>
          </a:p>
        </p:txBody>
      </p:sp>
      <p:sp>
        <p:nvSpPr>
          <p:cNvPr id="781" name="Google Shape;781;p36"/>
          <p:cNvSpPr/>
          <p:nvPr/>
        </p:nvSpPr>
        <p:spPr>
          <a:xfrm>
            <a:off x="310896" y="3401568"/>
            <a:ext cx="8522208" cy="493776"/>
          </a:xfrm>
          <a:prstGeom prst="rect">
            <a:avLst/>
          </a:prstGeom>
          <a:solidFill>
            <a:srgbClr val="FEF3C7"/>
          </a:solidFill>
          <a:ln cap="flat" cmpd="sng" w="9525">
            <a:solidFill>
              <a:srgbClr val="F59E0B"/>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82" name="Google Shape;782;p36"/>
          <p:cNvSpPr/>
          <p:nvPr/>
        </p:nvSpPr>
        <p:spPr>
          <a:xfrm>
            <a:off x="457200" y="3401568"/>
            <a:ext cx="8321040" cy="493776"/>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92400E"/>
              </a:buClr>
              <a:buSzPts val="1300"/>
              <a:buFont typeface="Meiryo"/>
              <a:buNone/>
            </a:pPr>
            <a:r>
              <a:rPr b="1" i="0" lang="en-US" sz="1300" u="none" cap="none" strike="noStrike">
                <a:solidFill>
                  <a:srgbClr val="92400E"/>
                </a:solidFill>
                <a:latin typeface="Meiryo"/>
                <a:ea typeface="Meiryo"/>
                <a:cs typeface="Meiryo"/>
                <a:sym typeface="Meiryo"/>
              </a:rPr>
              <a:t>⚠️  「迷ったら即相談」がトラブルを最小限にするコミュニケーション術</a:t>
            </a:r>
            <a:endParaRPr b="0" i="0" sz="1300" u="none" cap="none" strike="noStrike">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4F6FA"/>
        </a:solidFill>
      </p:bgPr>
    </p:bg>
    <p:spTree>
      <p:nvGrpSpPr>
        <p:cNvPr id="539" name="Shape 539"/>
        <p:cNvGrpSpPr/>
        <p:nvPr/>
      </p:nvGrpSpPr>
      <p:grpSpPr>
        <a:xfrm>
          <a:off x="0" y="0"/>
          <a:ext cx="0" cy="0"/>
          <a:chOff x="0" y="0"/>
          <a:chExt cx="0" cy="0"/>
        </a:xfrm>
      </p:grpSpPr>
      <p:sp>
        <p:nvSpPr>
          <p:cNvPr id="540" name="Google Shape;540;p25"/>
          <p:cNvSpPr/>
          <p:nvPr/>
        </p:nvSpPr>
        <p:spPr>
          <a:xfrm>
            <a:off x="0" y="0"/>
            <a:ext cx="2743200" cy="5143500"/>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1" name="Google Shape;541;p25"/>
          <p:cNvSpPr/>
          <p:nvPr/>
        </p:nvSpPr>
        <p:spPr>
          <a:xfrm>
            <a:off x="237744" y="1005840"/>
            <a:ext cx="2286000" cy="2103120"/>
          </a:xfrm>
          <a:prstGeom prst="rect">
            <a:avLst/>
          </a:prstGeom>
          <a:noFill/>
          <a:ln>
            <a:noFill/>
          </a:ln>
        </p:spPr>
        <p:txBody>
          <a:bodyPr anchorCtr="0" anchor="ctr" bIns="45700" lIns="91425" spcFirstLastPara="1" rIns="91425" wrap="square" tIns="45700">
            <a:noAutofit/>
          </a:bodyPr>
          <a:lstStyle/>
          <a:p>
            <a:pPr indent="0" lvl="0" marL="0" marR="0" rtl="0" algn="l">
              <a:lnSpc>
                <a:spcPct val="125000"/>
              </a:lnSpc>
              <a:spcBef>
                <a:spcPts val="0"/>
              </a:spcBef>
              <a:spcAft>
                <a:spcPts val="0"/>
              </a:spcAft>
              <a:buClr>
                <a:srgbClr val="FFFFFF"/>
              </a:buClr>
              <a:buSzPts val="2600"/>
              <a:buFont typeface="Meiryo"/>
              <a:buNone/>
            </a:pPr>
            <a:r>
              <a:rPr b="1" i="0" lang="en-US" sz="2600" u="none" cap="none" strike="noStrike">
                <a:solidFill>
                  <a:srgbClr val="FFFFFF"/>
                </a:solidFill>
                <a:latin typeface="Meiryo"/>
                <a:ea typeface="Meiryo"/>
                <a:cs typeface="Meiryo"/>
                <a:sym typeface="Meiryo"/>
              </a:rPr>
              <a:t>まとめ</a:t>
            </a:r>
            <a:endParaRPr b="0" i="0" sz="2600" u="none" cap="none" strike="noStrike">
              <a:solidFill>
                <a:schemeClr val="dk1"/>
              </a:solidFill>
              <a:latin typeface="Calibri"/>
              <a:ea typeface="Calibri"/>
              <a:cs typeface="Calibri"/>
              <a:sym typeface="Calibri"/>
            </a:endParaRPr>
          </a:p>
        </p:txBody>
      </p:sp>
      <p:sp>
        <p:nvSpPr>
          <p:cNvPr id="542" name="Google Shape;542;p25"/>
          <p:cNvSpPr/>
          <p:nvPr/>
        </p:nvSpPr>
        <p:spPr>
          <a:xfrm>
            <a:off x="237744" y="4114800"/>
            <a:ext cx="2286000" cy="47548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A0B8D8"/>
              </a:buClr>
              <a:buSzPts val="1100"/>
              <a:buFont typeface="Meiryo"/>
              <a:buNone/>
            </a:pPr>
            <a:r>
              <a:rPr b="0" i="0" lang="en-US" sz="1100" u="none" cap="none" strike="noStrike">
                <a:solidFill>
                  <a:srgbClr val="A0B8D8"/>
                </a:solidFill>
                <a:latin typeface="Meiryo"/>
                <a:ea typeface="Meiryo"/>
                <a:cs typeface="Meiryo"/>
                <a:sym typeface="Meiryo"/>
              </a:rPr>
              <a:t>動画まとめ</a:t>
            </a:r>
            <a:endParaRPr b="0" i="0" sz="1100" u="none" cap="none" strike="noStrike">
              <a:solidFill>
                <a:schemeClr val="dk1"/>
              </a:solidFill>
              <a:latin typeface="Calibri"/>
              <a:ea typeface="Calibri"/>
              <a:cs typeface="Calibri"/>
              <a:sym typeface="Calibri"/>
            </a:endParaRPr>
          </a:p>
        </p:txBody>
      </p:sp>
      <p:sp>
        <p:nvSpPr>
          <p:cNvPr id="543" name="Google Shape;543;p25"/>
          <p:cNvSpPr/>
          <p:nvPr/>
        </p:nvSpPr>
        <p:spPr>
          <a:xfrm>
            <a:off x="2944368" y="329184"/>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4" name="Google Shape;544;p25"/>
          <p:cNvSpPr/>
          <p:nvPr/>
        </p:nvSpPr>
        <p:spPr>
          <a:xfrm>
            <a:off x="3072384" y="329184"/>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01</a:t>
            </a:r>
            <a:endParaRPr b="0" i="0" sz="2000" u="none" cap="none" strike="noStrike">
              <a:solidFill>
                <a:schemeClr val="dk1"/>
              </a:solidFill>
              <a:latin typeface="Calibri"/>
              <a:ea typeface="Calibri"/>
              <a:cs typeface="Calibri"/>
              <a:sym typeface="Calibri"/>
            </a:endParaRPr>
          </a:p>
        </p:txBody>
      </p:sp>
      <p:sp>
        <p:nvSpPr>
          <p:cNvPr id="545" name="Google Shape;545;p25"/>
          <p:cNvSpPr/>
          <p:nvPr/>
        </p:nvSpPr>
        <p:spPr>
          <a:xfrm>
            <a:off x="3749040" y="329184"/>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投稿前は5項目のセルフチェック（特にステマ表記とGoサイン確認）</a:t>
            </a:r>
            <a:endParaRPr b="0" i="0" sz="1550" u="none" cap="none" strike="noStrike">
              <a:solidFill>
                <a:schemeClr val="dk1"/>
              </a:solidFill>
              <a:latin typeface="Calibri"/>
              <a:ea typeface="Calibri"/>
              <a:cs typeface="Calibri"/>
              <a:sym typeface="Calibri"/>
            </a:endParaRPr>
          </a:p>
        </p:txBody>
      </p:sp>
      <p:cxnSp>
        <p:nvCxnSpPr>
          <p:cNvPr id="546" name="Google Shape;546;p25"/>
          <p:cNvCxnSpPr/>
          <p:nvPr/>
        </p:nvCxnSpPr>
        <p:spPr>
          <a:xfrm>
            <a:off x="2944368" y="1216152"/>
            <a:ext cx="5925312" cy="0"/>
          </a:xfrm>
          <a:prstGeom prst="straightConnector1">
            <a:avLst/>
          </a:prstGeom>
          <a:noFill/>
          <a:ln cap="flat" cmpd="sng" w="9525">
            <a:solidFill>
              <a:srgbClr val="D1D5DB"/>
            </a:solidFill>
            <a:prstDash val="solid"/>
            <a:round/>
            <a:headEnd len="sm" w="sm" type="none"/>
            <a:tailEnd len="sm" w="sm" type="none"/>
          </a:ln>
        </p:spPr>
      </p:cxnSp>
      <p:sp>
        <p:nvSpPr>
          <p:cNvPr id="547" name="Google Shape;547;p25"/>
          <p:cNvSpPr/>
          <p:nvPr/>
        </p:nvSpPr>
        <p:spPr>
          <a:xfrm>
            <a:off x="2944368" y="1261872"/>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48" name="Google Shape;548;p25"/>
          <p:cNvSpPr/>
          <p:nvPr/>
        </p:nvSpPr>
        <p:spPr>
          <a:xfrm>
            <a:off x="3072384" y="1261872"/>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02</a:t>
            </a:r>
            <a:endParaRPr b="0" i="0" sz="2000" u="none" cap="none" strike="noStrike">
              <a:solidFill>
                <a:schemeClr val="dk1"/>
              </a:solidFill>
              <a:latin typeface="Calibri"/>
              <a:ea typeface="Calibri"/>
              <a:cs typeface="Calibri"/>
              <a:sym typeface="Calibri"/>
            </a:endParaRPr>
          </a:p>
        </p:txBody>
      </p:sp>
      <p:sp>
        <p:nvSpPr>
          <p:cNvPr id="549" name="Google Shape;549;p25"/>
          <p:cNvSpPr/>
          <p:nvPr/>
        </p:nvSpPr>
        <p:spPr>
          <a:xfrm>
            <a:off x="3749040" y="1261872"/>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投稿後はすぐにURLを共有する（投稿後も仕事は続く）</a:t>
            </a:r>
            <a:endParaRPr b="0" i="0" sz="1550" u="none" cap="none" strike="noStrike">
              <a:solidFill>
                <a:schemeClr val="dk1"/>
              </a:solidFill>
              <a:latin typeface="Calibri"/>
              <a:ea typeface="Calibri"/>
              <a:cs typeface="Calibri"/>
              <a:sym typeface="Calibri"/>
            </a:endParaRPr>
          </a:p>
        </p:txBody>
      </p:sp>
      <p:cxnSp>
        <p:nvCxnSpPr>
          <p:cNvPr id="550" name="Google Shape;550;p25"/>
          <p:cNvCxnSpPr/>
          <p:nvPr/>
        </p:nvCxnSpPr>
        <p:spPr>
          <a:xfrm>
            <a:off x="2944368" y="2148840"/>
            <a:ext cx="5925312" cy="0"/>
          </a:xfrm>
          <a:prstGeom prst="straightConnector1">
            <a:avLst/>
          </a:prstGeom>
          <a:noFill/>
          <a:ln cap="flat" cmpd="sng" w="9525">
            <a:solidFill>
              <a:srgbClr val="D1D5DB"/>
            </a:solidFill>
            <a:prstDash val="solid"/>
            <a:round/>
            <a:headEnd len="sm" w="sm" type="none"/>
            <a:tailEnd len="sm" w="sm" type="none"/>
          </a:ln>
        </p:spPr>
      </p:cxnSp>
      <p:sp>
        <p:nvSpPr>
          <p:cNvPr id="551" name="Google Shape;551;p25"/>
          <p:cNvSpPr/>
          <p:nvPr/>
        </p:nvSpPr>
        <p:spPr>
          <a:xfrm>
            <a:off x="2944368" y="2194560"/>
            <a:ext cx="65837" cy="841248"/>
          </a:xfrm>
          <a:prstGeom prst="rect">
            <a:avLst/>
          </a:prstGeom>
          <a:solidFill>
            <a:srgbClr val="1E3068"/>
          </a:solidFill>
          <a:ln cap="flat" cmpd="sng" w="12700">
            <a:solidFill>
              <a:srgbClr val="1E3068"/>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2" name="Google Shape;552;p25"/>
          <p:cNvSpPr/>
          <p:nvPr/>
        </p:nvSpPr>
        <p:spPr>
          <a:xfrm>
            <a:off x="3072384" y="2194560"/>
            <a:ext cx="585216"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2000"/>
              <a:buFont typeface="Meiryo"/>
              <a:buNone/>
            </a:pPr>
            <a:r>
              <a:rPr b="1" i="0" lang="en-US" sz="2000" u="none" cap="none" strike="noStrike">
                <a:solidFill>
                  <a:srgbClr val="1E3068"/>
                </a:solidFill>
                <a:latin typeface="Meiryo"/>
                <a:ea typeface="Meiryo"/>
                <a:cs typeface="Meiryo"/>
                <a:sym typeface="Meiryo"/>
              </a:rPr>
              <a:t>03</a:t>
            </a:r>
            <a:endParaRPr b="0" i="0" sz="2000" u="none" cap="none" strike="noStrike">
              <a:solidFill>
                <a:schemeClr val="dk1"/>
              </a:solidFill>
              <a:latin typeface="Calibri"/>
              <a:ea typeface="Calibri"/>
              <a:cs typeface="Calibri"/>
              <a:sym typeface="Calibri"/>
            </a:endParaRPr>
          </a:p>
        </p:txBody>
      </p:sp>
      <p:sp>
        <p:nvSpPr>
          <p:cNvPr id="553" name="Google Shape;553;p25"/>
          <p:cNvSpPr/>
          <p:nvPr/>
        </p:nvSpPr>
        <p:spPr>
          <a:xfrm>
            <a:off x="3749040" y="2194560"/>
            <a:ext cx="5120640" cy="841248"/>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1E3068"/>
              </a:buClr>
              <a:buSzPts val="1550"/>
              <a:buFont typeface="Meiryo"/>
              <a:buNone/>
            </a:pPr>
            <a:r>
              <a:rPr b="0" i="0" lang="en-US" sz="1550" u="none" cap="none" strike="noStrike">
                <a:solidFill>
                  <a:srgbClr val="1E3068"/>
                </a:solidFill>
                <a:latin typeface="Meiryo"/>
                <a:ea typeface="Meiryo"/>
                <a:cs typeface="Meiryo"/>
                <a:sym typeface="Meiryo"/>
              </a:rPr>
              <a:t>二次利用がある場合は広告コードと完パケ動画の対応も忘れずに</a:t>
            </a:r>
            <a:endParaRPr b="0" i="0" sz="1550" u="none" cap="none" strike="noStrike">
              <a:solidFill>
                <a:schemeClr val="dk1"/>
              </a:solidFill>
              <a:latin typeface="Calibri"/>
              <a:ea typeface="Calibri"/>
              <a:cs typeface="Calibri"/>
              <a:sym typeface="Calibri"/>
            </a:endParaRPr>
          </a:p>
        </p:txBody>
      </p:sp>
      <p:sp>
        <p:nvSpPr>
          <p:cNvPr id="554" name="Google Shape;554;p25"/>
          <p:cNvSpPr/>
          <p:nvPr/>
        </p:nvSpPr>
        <p:spPr>
          <a:xfrm>
            <a:off x="2944368" y="3273552"/>
            <a:ext cx="5925312" cy="658368"/>
          </a:xfrm>
          <a:prstGeom prst="rect">
            <a:avLst/>
          </a:prstGeom>
          <a:solidFill>
            <a:srgbClr val="FFF7ED"/>
          </a:solidFill>
          <a:ln cap="flat" cmpd="sng" w="9525">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5" name="Google Shape;555;p25"/>
          <p:cNvSpPr/>
          <p:nvPr/>
        </p:nvSpPr>
        <p:spPr>
          <a:xfrm>
            <a:off x="2944368" y="3273552"/>
            <a:ext cx="59436" cy="658368"/>
          </a:xfrm>
          <a:prstGeom prst="rect">
            <a:avLst/>
          </a:prstGeom>
          <a:solidFill>
            <a:srgbClr val="E87030"/>
          </a:solidFill>
          <a:ln cap="flat" cmpd="sng" w="12700">
            <a:solidFill>
              <a:srgbClr val="E87030"/>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556" name="Google Shape;556;p25"/>
          <p:cNvSpPr/>
          <p:nvPr/>
        </p:nvSpPr>
        <p:spPr>
          <a:xfrm>
            <a:off x="3108960" y="3273552"/>
            <a:ext cx="5687568" cy="658368"/>
          </a:xfrm>
          <a:prstGeom prst="rect">
            <a:avLst/>
          </a:prstGeom>
          <a:noFill/>
          <a:ln>
            <a:noFill/>
          </a:ln>
        </p:spPr>
        <p:txBody>
          <a:bodyPr anchorCtr="0" anchor="ctr" bIns="0" lIns="0" spcFirstLastPara="1" rIns="0" wrap="square" tIns="0">
            <a:noAutofit/>
          </a:bodyPr>
          <a:lstStyle/>
          <a:p>
            <a:pPr indent="0" lvl="0" marL="0" marR="0" rtl="0" algn="l">
              <a:spcBef>
                <a:spcPts val="0"/>
              </a:spcBef>
              <a:spcAft>
                <a:spcPts val="0"/>
              </a:spcAft>
              <a:buClr>
                <a:srgbClr val="E87030"/>
              </a:buClr>
              <a:buSzPts val="1350"/>
              <a:buFont typeface="Meiryo"/>
              <a:buNone/>
            </a:pPr>
            <a:r>
              <a:rPr b="1" i="0" lang="en-US" sz="1350" u="none" cap="none" strike="noStrike">
                <a:solidFill>
                  <a:srgbClr val="E87030"/>
                </a:solidFill>
                <a:latin typeface="Meiryo"/>
                <a:ea typeface="Meiryo"/>
                <a:cs typeface="Meiryo"/>
                <a:sym typeface="Meiryo"/>
              </a:rPr>
              <a:t>▶  Next  |  動画⑤：振り返り「インサイト」</a:t>
            </a:r>
            <a:endParaRPr b="0" i="0" sz="1350" u="none" cap="none" strike="noStrike">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TORIHADA クリエイターネットワーク研修 第1週</dc:title>
  <dc:subject>PptxGenJS Presentation</dc:subject>
  <dc:creator>PptxGenJS</dc:creator>
  <cp:lastModifiedBy>PptxGenJS</cp:lastModifiedBy>
  <cp:revision>1</cp:revision>
  <dcterms:created xsi:type="dcterms:W3CDTF">2026-05-25T14:57:11Z</dcterms:created>
  <dcterms:modified xsi:type="dcterms:W3CDTF">2026-05-25T14:57:11Z</dcterms:modified>
</cp:coreProperties>
</file>